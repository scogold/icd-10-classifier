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Lst>
  <p:sldSz cy="5143500" cx="9144000"/>
  <p:notesSz cx="6858000" cy="9144000"/>
  <p:embeddedFontLst>
    <p:embeddedFont>
      <p:font typeface="Roboto"/>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boldItalic.fntdata"/><Relationship Id="rId72" Type="http://schemas.openxmlformats.org/officeDocument/2006/relationships/font" Target="fonts/Roboto-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oboto-bold.fntdata"/><Relationship Id="rId70" Type="http://schemas.openxmlformats.org/officeDocument/2006/relationships/font" Target="fonts/Roboto-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scogold/ICD-10-Classifier"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37389990ce2c750e_0_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37389990ce2c750e_0_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u="sng">
                <a:solidFill>
                  <a:schemeClr val="dk1"/>
                </a:solidFill>
                <a:latin typeface="Roboto"/>
                <a:ea typeface="Roboto"/>
                <a:cs typeface="Roboto"/>
                <a:sym typeface="Roboto"/>
                <a:hlinkClick r:id="rId2">
                  <a:extLst>
                    <a:ext uri="{A12FA001-AC4F-418D-AE19-62706E023703}">
                      <ahyp:hlinkClr val="tx"/>
                    </a:ext>
                  </a:extLst>
                </a:hlinkClick>
              </a:rPr>
              <a:t>https://github.com/scogold/ICD-10-Classifier</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37389990ce2c750e_0_1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37389990ce2c750e_0_1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37389990ce2c750e_0_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37389990ce2c750e_0_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h37389990ce2c750e_0_1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h37389990ce2c750e_0_1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h37389990ce2c750e_0_2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h37389990ce2c750e_0_2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37389990ce2c750e_0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h37389990ce2c750e_0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h37389990ce2c750e_0_1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h37389990ce2c750e_0_1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37389990ce2c750e_0_1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h37389990ce2c750e_0_1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h4c0ff5b00e11ce73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h4c0ff5b00e11ce73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h37389990ce2c750e_0_1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h37389990ce2c750e_0_1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h37389990ce2c750e_0_2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h37389990ce2c750e_0_2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37389990ce2c750e_0_2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h37389990ce2c750e_0_2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h37389990ce2c750e_0_2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h37389990ce2c750e_0_2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h37389990ce2c750e_0_2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h37389990ce2c750e_0_2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37389990ce2c750e_0_3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h37389990ce2c750e_0_3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h37389990ce2c750e_0_3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h37389990ce2c750e_0_3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h4c0ff5b00e11ce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h4c0ff5b00e11ce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h37389990ce2c750e_0_30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h37389990ce2c750e_0_30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h37389990ce2c750e_0_30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h37389990ce2c750e_0_30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latin typeface="Roboto"/>
                <a:ea typeface="Roboto"/>
                <a:cs typeface="Roboto"/>
                <a:sym typeface="Roboto"/>
              </a:rPr>
              <a:t>https://github.com/scogold/ICD-10-Classifier/blob/main/src/icd10/data/dataset.py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37389990ce2c750e_0_3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h37389990ce2c750e_0_3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https://github.com/scogold/ICD-10-Classifier/blob/main/src/icd10/data/dataset.py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h4c0ff5b00e11ce7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h4c0ff5b00e11ce7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h37389990ce2c750e_0_30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h37389990ce2c750e_0_3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h4c0ff5b00e11ce7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h4c0ff5b00e11ce7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4c0ff5b00e11ce7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h4c0ff5b00e11ce7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h4c0ff5b00e11ce73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h4c0ff5b00e11ce73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h4c0ff5b00e11ce73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h4c0ff5b00e11ce73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h4c0ff5b00e11ce7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h4c0ff5b00e11ce7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h4c0ff5b00e11ce73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h4c0ff5b00e11ce73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h4c0ff5b00e11ce7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h4c0ff5b00e11ce7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h4c0ff5b00e11ce73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h4c0ff5b00e11ce73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h4c0ff5b00e11ce73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h4c0ff5b00e11ce73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h4c0ff5b00e11ce73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h4c0ff5b00e11ce73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h4c0ff5b00e11ce73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h4c0ff5b00e11ce73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h4c0ff5b00e11ce73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h4c0ff5b00e11ce73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h4c0ff5b00e11ce73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h4c0ff5b00e11ce73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h4c0ff5b00e11ce73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h4c0ff5b00e11ce73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h4c0ff5b00e11ce73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h4c0ff5b00e11ce73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h4c0ff5b00e11ce73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h4c0ff5b00e11ce73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h4c0ff5b00e11ce73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h4c0ff5b00e11ce73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h4c0ff5b00e11ce73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h4c0ff5b00e11ce73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h4c0ff5b00e11ce73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h4c0ff5b00e11ce73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h4c0ff5b00e11ce73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h4c0ff5b00e11ce73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h4c0ff5b00e11ce73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h4c0ff5b00e11ce73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h4c0ff5b00e11ce73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h4c0ff5b00e11ce73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h4c0ff5b00e11ce73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h4c0ff5b00e11ce73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h4c0ff5b00e11ce73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h4c0ff5b00e11ce73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h4c0ff5b00e11ce73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h4c0ff5b00e11ce73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h4c0ff5b00e11ce73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h4c0ff5b00e11ce73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h4c0ff5b00e11ce73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h4c0ff5b00e11ce73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h4c0ff5b00e11ce73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h4c0ff5b00e11ce73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h4c0ff5b00e11ce73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h4c0ff5b00e11ce73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h4c0ff5b00e11ce73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h4c0ff5b00e11ce73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h4c0ff5b00e11ce73_0_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h4c0ff5b00e11ce73_0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h37389990ce2c750e_0_2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h37389990ce2c750e_0_2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'0.7134', 'grad_norm': '0.1179', 'learning_rate': '1.591e-05', 'epoch': '0.01634'}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'0.4403', 'grad_norm': '0.1332', 'learning_rate': '3.214e-05', 'epoch': '0.03267'}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'0.1361', 'grad_norm': '0.0903', 'learning_rate': '4.838e-05', 'epoch': '0.04901'}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'0.09651', 'grad_norm': '0.07441', 'learning_rate': '4.837e-05', 'epoch': '0.06535'}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'0.08861', 'grad_norm': '0.07518', 'learning_rate': '4.655e-05', 'epoch': '0.08169'}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'0.08782', 'grad_norm': '0.07483', 'learning_rate': '4.473e-05', 'epoch': '0.09802'}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'0.08556', 'grad_norm': '0.07121', 'learning_rate': '4.292e-05', 'epoch': '0.1144'}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'0.0866', 'grad_norm': '0.07798', 'learning_rate': '4.11e-05', 'epoch': '0.1307'}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'0.08521', 'grad_norm': '0.07146', 'learning_rate': '3.929e-05', 'epoch': '0.147'}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'0.08377', 'grad_norm': '0.07425', 'learning_rate': '3.747e-05', 'epoch': '0.1634'}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'0.08493', 'grad_norm': '0.08567', 'learning_rate': '3.566e-05', 'epoch': '0.1797'}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'0.08443', 'grad_norm': '0.07281', 'learning_rate': '3.384e-05', 'epoch': '0.196'}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'0.08402', 'grad_norm': '0.06889', 'learning_rate': '3.203e-05', 'epoch': '0.2124'}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'0.08425', 'grad_norm': '0.07657', 'learning_rate': '3.021e-05', 'epoch': '0.2287'}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'0.08297', 'grad_norm': '0.07807', 'learning_rate': '2.84e-05', 'epoch': '0.2451'}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'0.08319', 'grad_norm': '0.08184', 'learning_rate': '2.658e-05', 'epoch': '0.2614'}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'0.08341', 'grad_norm': '0.07439', 'learning_rate': '2.476e-05', 'epoch': '0.2777'}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'0.08246', 'grad_norm': '0.07518', 'learning_rate': '2.295e-05', 'epoch': '0.2941'}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'0.08148', 'grad_norm': '0.06941', 'learning_rate': '2.113e-05', 'epoch': '0.3104'}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'0.0818', 'grad_norm': '0.08993', 'learning_rate': '1.932e-05', 'epoch': '0.3267'}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'0.08166', 'grad_norm': '0.07395', 'learning_rate': '1.75e-05', 'epoch': '0.3431'}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'0.07955', 'grad_norm': '0.08335', 'learning_rate': '1.569e-05', 'epoch': '0.3594'}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'0.07981', 'grad_norm': '0.09304', 'learning_rate': '1.387e-05', 'epoch': '0.3758'}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'0.07938', 'grad_norm': '0.08481', 'learning_rate': '1.206e-05', 'epoch': '0.3921'}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'0.0776', 'grad_norm': '0.07201', 'learning_rate': '1.024e-05', 'epoch': '0.4084'}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'0.07957', 'grad_norm': '0.08195', 'learning_rate': '8.424e-06', 'epoch': '0.4248'}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'0.07894', 'grad_norm': '0.07747', 'learning_rate': '6.609e-06', 'epoch': '0.4411'}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'0.07857', 'grad_norm': '0.0752', 'learning_rate': '4.793e-06', 'epoch': '0.4574'}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'0.07606', 'grad_norm': '0.08452', 'learning_rate': '2.977e-06', 'epoch': '0.4738'}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800">
                <a:solidFill>
                  <a:srgbClr val="737373"/>
                </a:solidFill>
                <a:latin typeface="Roboto"/>
                <a:ea typeface="Roboto"/>
                <a:cs typeface="Roboto"/>
                <a:sym typeface="Roboto"/>
              </a:rPr>
              <a:t>{'loss': '0.07756', 'grad_norm': '0.09275', 'learning_rate': '1.162e-06', 'epoch': '0.4901'} </a:t>
            </a:r>
            <a:endParaRPr sz="800">
              <a:solidFill>
                <a:srgbClr val="73737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800">
              <a:solidFill>
                <a:srgbClr val="737373"/>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h63ec799bb89d60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h63ec799bb89d60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h63ec799bb89d600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h63ec799bb89d600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h4c0ff5b00e11ce73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h4c0ff5b00e11ce73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h4c0ff5b00e11ce73_0_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h4c0ff5b00e11ce73_0_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h63ec799bb89d600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h63ec799bb89d600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h4c0ff5b00e11ce73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h4c0ff5b00e11ce73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h4c0ff5b00e11ce73_0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h4c0ff5b00e11ce73_0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h4c0ff5b00e11ce73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h4c0ff5b00e11ce73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h4c0ff5b00e11ce73_0_8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h4c0ff5b00e11ce73_0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h4c0ff5b00e11ce73_0_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h4c0ff5b00e11ce73_0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37389990ce2c750e_12_0)">
  <p:cSld name="Generated (h37389990ce2c750e_12_0)">
    <p:spTree>
      <p:nvGrpSpPr>
        <p:cNvPr id="63" name="Shape 63"/>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h37389990ce2c750e_19_0)">
  <p:cSld name="Title and body (h37389990ce2c750e_19_0)">
    <p:spTree>
      <p:nvGrpSpPr>
        <p:cNvPr id="64" name="Shape 64"/>
        <p:cNvGrpSpPr/>
        <p:nvPr/>
      </p:nvGrpSpPr>
      <p:grpSpPr>
        <a:xfrm>
          <a:off x="0" y="0"/>
          <a:ext cx="0" cy="0"/>
          <a:chOff x="0" y="0"/>
          <a:chExt cx="0" cy="0"/>
        </a:xfrm>
      </p:grpSpPr>
      <p:sp>
        <p:nvSpPr>
          <p:cNvPr id="65" name="Google Shape;65;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66" name="Google Shape;66;p1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7" name="Google Shape;67;p1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h37389990ce2c750e_27_0)">
  <p:cSld name="Title and body (h37389990ce2c750e_27_0)">
    <p:spTree>
      <p:nvGrpSpPr>
        <p:cNvPr id="68" name="Shape 68"/>
        <p:cNvGrpSpPr/>
        <p:nvPr/>
      </p:nvGrpSpPr>
      <p:grpSpPr>
        <a:xfrm>
          <a:off x="0" y="0"/>
          <a:ext cx="0" cy="0"/>
          <a:chOff x="0" y="0"/>
          <a:chExt cx="0" cy="0"/>
        </a:xfrm>
      </p:grpSpPr>
      <p:sp>
        <p:nvSpPr>
          <p:cNvPr id="69" name="Google Shape;69;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70" name="Google Shape;70;p1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1" name="Google Shape;71;p1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h2b4239186e6c0c2f_8_0)">
  <p:cSld name="Title and body (h2b4239186e6c0c2f_8_0)">
    <p:spTree>
      <p:nvGrpSpPr>
        <p:cNvPr id="72" name="Shape 72"/>
        <p:cNvGrpSpPr/>
        <p:nvPr/>
      </p:nvGrpSpPr>
      <p:grpSpPr>
        <a:xfrm>
          <a:off x="0" y="0"/>
          <a:ext cx="0" cy="0"/>
          <a:chOff x="0" y="0"/>
          <a:chExt cx="0" cy="0"/>
        </a:xfrm>
      </p:grpSpPr>
      <p:sp>
        <p:nvSpPr>
          <p:cNvPr id="73" name="Google Shape;73;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74" name="Google Shape;74;p1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 name="Google Shape;75;p1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h2b4239186e6c0c2f_17_0)">
  <p:cSld name="Title and body (h2b4239186e6c0c2f_17_0)">
    <p:spTree>
      <p:nvGrpSpPr>
        <p:cNvPr id="76" name="Shape 76"/>
        <p:cNvGrpSpPr/>
        <p:nvPr/>
      </p:nvGrpSpPr>
      <p:grpSpPr>
        <a:xfrm>
          <a:off x="0" y="0"/>
          <a:ext cx="0" cy="0"/>
          <a:chOff x="0" y="0"/>
          <a:chExt cx="0" cy="0"/>
        </a:xfrm>
      </p:grpSpPr>
      <p:sp>
        <p:nvSpPr>
          <p:cNvPr id="77" name="Google Shape;77;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78" name="Google Shape;78;p17"/>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9" name="Google Shape;79;p1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h2b4239186e6c0c2f_27_0)">
  <p:cSld name="Title and body (h2b4239186e6c0c2f_27_0)">
    <p:spTree>
      <p:nvGrpSpPr>
        <p:cNvPr id="80" name="Shape 80"/>
        <p:cNvGrpSpPr/>
        <p:nvPr/>
      </p:nvGrpSpPr>
      <p:grpSpPr>
        <a:xfrm>
          <a:off x="0" y="0"/>
          <a:ext cx="0" cy="0"/>
          <a:chOff x="0" y="0"/>
          <a:chExt cx="0" cy="0"/>
        </a:xfrm>
      </p:grpSpPr>
      <p:sp>
        <p:nvSpPr>
          <p:cNvPr id="81" name="Google Shape;81;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82" name="Google Shape;82;p1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3" name="Google Shape;83;p1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scogold/ICD-10-Classifie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dataset.py" TargetMode="Externa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dataset.py" TargetMode="Externa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hyperlink" Target="http://dataset.py" TargetMode="Externa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hyperlink" Target="http://dataset.py" TargetMode="Externa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hyperlink" Target="https://github.com/scogold/ICD-10-Classifier/blob/main/src/icd10/data/labels.py" TargetMode="Externa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hyperlink" Target="https://github.com/scogold/ICD-10-Classifier/blob/main/src/icd10/data/labels.py" TargetMode="External"/><Relationship Id="rId4" Type="http://schemas.openxmlformats.org/officeDocument/2006/relationships/image" Target="../media/image4.png"/><Relationship Id="rId5" Type="http://schemas.openxmlformats.org/officeDocument/2006/relationships/image" Target="../media/image20.png"/><Relationship Id="rId6"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hyperlink" Target="https://github.com/scogold/ICD-10-Classifier/blob/main/src/icd10/data/splits.py" TargetMode="Externa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hyperlink" Target="https://github.com/scogold/ICD-10-Classifier/blob/main/src/icd10/data/splits.py" TargetMode="Externa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hyperlink" Target="https://github.com/scogold/ICD-10-Classifier/blob/main/src/icd10/data/prepare.py" TargetMode="Externa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hyperlink" Target="https://github.com/scogold/ICD-10-Classifier/blob/main/src/icd10/data/prepare.py" TargetMode="Externa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hyperlink" Target="https://github.com/scogold/ICD-10-Classifier/blob/main/src/icd10/data/prepare.py" TargetMode="Externa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hyperlink" Target="https://github.com/scogold/ICD-10-Classifier/blob/main/src/icd10/data/prepare.py" TargetMode="Externa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hyperlink" Target="https://github.com/scogold/ICD-10-Classifier/blob/main/src/icd10/config.py" TargetMode="Externa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hyperlink" Target="https://github.com/scogold/ICD-10-Classifier/blob/main/src/icd10/config.py" TargetMode="External"/><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hyperlink" Target="https://github.com/scogold/ICD-10-Classifier/blob/main/src/icd10/config.py" TargetMode="Externa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hyperlink" Target="https://github.com/scogold/ICD-10-Classifier/blob/main/src/icd10/config.py" TargetMode="Externa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hyperlink" Target="https://github.com/scogold/ICD-10-Classifier/blob/main/src/icd10/config.py" TargetMode="Externa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hyperlink" Target="https://github.com/scogold/ICD-10-Classifier/blob/main/src/icd10/config.py" TargetMode="External"/><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hyperlink" Target="https://github.com/scogold/ICD-10-Classifier/blob/main/src/icd10/config.py" TargetMode="Externa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hyperlink" Target="https://github.com/scogold/ICD-10-Classifier/blob/main/src/icd10/config.py" TargetMode="Externa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hyperlink" Target="https://github.com/scogold/ICD-10-Classifier/blob/main/src/icd10/train.py" TargetMode="External"/><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hyperlink" Target="https://github.com/scogold/ICD-10-Classifier/blob/main/src/icd10/train.py" TargetMode="Externa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hyperlink" Target="https://github.com/scogold/ICD-10-Classifier/blob/main/src/icd10/train.py" TargetMode="External"/><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hyperlink" Target="https://github.com/scogold/ICD-10-Classifier/blob/main/src/icd10/metrics.py" TargetMode="External"/><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hyperlink" Target="https://github.com/scogold/ICD-10-Classifier/blob/main/src/icd10/metrics.py" TargetMode="External"/><Relationship Id="rId4"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hyperlink" Target="https://github.com/scogold/ICD-10-Classifier/blob/main/src/icd10/metrics.py" TargetMode="External"/><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hyperlink" Target="https://github.com/scogold/ICD-10-Classifier/blob/main/src/icd10/metrics.py" TargetMode="External"/><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hyperlink" Target="https://github.com/scogold/ICD-10-Classifier/blob/main/src/icd10/metrics.py" TargetMode="External"/><Relationship Id="rId4" Type="http://schemas.openxmlformats.org/officeDocument/2006/relationships/image" Target="../media/image2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hyperlink" Target="https://github.com/scogold/ICD-10-Classifier/blob/main/src/icd10/metrics.py" TargetMode="External"/><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hyperlink" Target="https://github.com/scogold/ICD-10-Classifier/blob/main/src/icd10/metrics.py" TargetMode="External"/><Relationship Id="rId4"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ctrTitle"/>
          </p:nvPr>
        </p:nvSpPr>
        <p:spPr>
          <a:xfrm>
            <a:off x="390525" y="1819275"/>
            <a:ext cx="8222100" cy="93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Fine-Tuning Pretrained</a:t>
            </a:r>
            <a:r>
              <a:rPr lang="en"/>
              <a:t xml:space="preserve"> Models for ICD-10 Coding</a:t>
            </a:r>
            <a:endParaRPr/>
          </a:p>
        </p:txBody>
      </p:sp>
      <p:sp>
        <p:nvSpPr>
          <p:cNvPr id="89" name="Google Shape;89;p19"/>
          <p:cNvSpPr txBox="1"/>
          <p:nvPr>
            <p:ph idx="1" type="subTitle"/>
          </p:nvPr>
        </p:nvSpPr>
        <p:spPr>
          <a:xfrm>
            <a:off x="390525" y="2752881"/>
            <a:ext cx="8222100" cy="193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Self-Learning Tutorial</a:t>
            </a:r>
            <a:br>
              <a:rPr lang="en"/>
            </a:br>
            <a:r>
              <a:rPr lang="en"/>
              <a:t>AI in Health Course</a:t>
            </a:r>
            <a:endParaRPr/>
          </a:p>
          <a:p>
            <a:pPr indent="0" lvl="0" marL="0" rtl="0" algn="l">
              <a:spcBef>
                <a:spcPts val="0"/>
              </a:spcBef>
              <a:spcAft>
                <a:spcPts val="0"/>
              </a:spcAft>
              <a:buNone/>
            </a:pPr>
            <a:r>
              <a:rPr lang="en"/>
              <a:t>Scott Goldin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GitHub Repository: </a:t>
            </a:r>
            <a:r>
              <a:rPr lang="en" u="sng">
                <a:hlinkClick r:id="rId3"/>
              </a:rPr>
              <a:t>https://github.com/scogold/ICD-10-Classifier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0"/>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The Goal: Fine-tune a model to automatically assign ICD-10 labels to free-text notes in the MIMIC-IV dataset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0" name="Google Shape;100;p21"/>
          <p:cNvPicPr preferRelativeResize="0"/>
          <p:nvPr/>
        </p:nvPicPr>
        <p:blipFill rotWithShape="1">
          <a:blip r:embed="rId3">
            <a:alphaModFix/>
          </a:blip>
          <a:srcRect b="0" l="0" r="0" t="0"/>
          <a:stretch/>
        </p:blipFill>
        <p:spPr>
          <a:xfrm>
            <a:off x="0" y="0"/>
            <a:ext cx="9144000" cy="1619100"/>
          </a:xfrm>
          <a:prstGeom prst="rect">
            <a:avLst/>
          </a:prstGeom>
          <a:noFill/>
          <a:ln>
            <a:noFill/>
          </a:ln>
        </p:spPr>
      </p:pic>
      <p:sp>
        <p:nvSpPr>
          <p:cNvPr id="101" name="Google Shape;101;p21"/>
          <p:cNvSpPr txBox="1"/>
          <p:nvPr/>
        </p:nvSpPr>
        <p:spPr>
          <a:xfrm>
            <a:off x="476250" y="238125"/>
            <a:ext cx="81915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FFFFFF"/>
                </a:solidFill>
                <a:latin typeface="Roboto"/>
                <a:ea typeface="Roboto"/>
                <a:cs typeface="Roboto"/>
                <a:sym typeface="Roboto"/>
              </a:rPr>
              <a:t>Understanding ICD-10 Coding</a:t>
            </a:r>
            <a:endParaRPr b="1" sz="2800">
              <a:solidFill>
                <a:srgbClr val="FFFFFF"/>
              </a:solidFill>
              <a:latin typeface="Roboto"/>
              <a:ea typeface="Roboto"/>
              <a:cs typeface="Roboto"/>
              <a:sym typeface="Roboto"/>
            </a:endParaRPr>
          </a:p>
          <a:p>
            <a:pPr indent="0" lvl="0" marL="0" rtl="0" algn="l">
              <a:spcBef>
                <a:spcPts val="450"/>
              </a:spcBef>
              <a:spcAft>
                <a:spcPts val="0"/>
              </a:spcAft>
              <a:buNone/>
            </a:pPr>
            <a:r>
              <a:t/>
            </a:r>
            <a:endParaRPr sz="1200">
              <a:solidFill>
                <a:srgbClr val="E8F0FE"/>
              </a:solidFill>
              <a:latin typeface="Roboto"/>
              <a:ea typeface="Roboto"/>
              <a:cs typeface="Roboto"/>
              <a:sym typeface="Roboto"/>
            </a:endParaRPr>
          </a:p>
        </p:txBody>
      </p:sp>
      <p:grpSp>
        <p:nvGrpSpPr>
          <p:cNvPr id="102" name="Google Shape;102;p21"/>
          <p:cNvGrpSpPr/>
          <p:nvPr/>
        </p:nvGrpSpPr>
        <p:grpSpPr>
          <a:xfrm>
            <a:off x="476250" y="1619250"/>
            <a:ext cx="2533800" cy="3048000"/>
            <a:chOff x="0" y="0"/>
            <a:chExt cx="2533800" cy="3048000"/>
          </a:xfrm>
        </p:grpSpPr>
        <p:pic>
          <p:nvPicPr>
            <p:cNvPr id="103" name="Google Shape;103;p21"/>
            <p:cNvPicPr preferRelativeResize="0"/>
            <p:nvPr/>
          </p:nvPicPr>
          <p:blipFill rotWithShape="1">
            <a:blip r:embed="rId4">
              <a:alphaModFix/>
            </a:blip>
            <a:srcRect b="0" l="0" r="0" t="0"/>
            <a:stretch/>
          </p:blipFill>
          <p:spPr>
            <a:xfrm>
              <a:off x="0" y="0"/>
              <a:ext cx="2533800" cy="3048000"/>
            </a:xfrm>
            <a:prstGeom prst="rect">
              <a:avLst/>
            </a:prstGeom>
            <a:noFill/>
            <a:ln>
              <a:noFill/>
            </a:ln>
          </p:spPr>
        </p:pic>
        <p:sp>
          <p:nvSpPr>
            <p:cNvPr id="104" name="Google Shape;104;p21"/>
            <p:cNvSpPr/>
            <p:nvPr/>
          </p:nvSpPr>
          <p:spPr>
            <a:xfrm>
              <a:off x="190500" y="228600"/>
              <a:ext cx="762000" cy="304800"/>
            </a:xfrm>
            <a:prstGeom prst="roundRect">
              <a:avLst>
                <a:gd fmla="val 187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21"/>
            <p:cNvSpPr txBox="1"/>
            <p:nvPr/>
          </p:nvSpPr>
          <p:spPr>
            <a:xfrm>
              <a:off x="190500" y="228600"/>
              <a:ext cx="7620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174EA6"/>
                  </a:solidFill>
                  <a:latin typeface="Roboto"/>
                  <a:ea typeface="Roboto"/>
                  <a:cs typeface="Roboto"/>
                  <a:sym typeface="Roboto"/>
                </a:rPr>
                <a:t>A00-B99</a:t>
              </a:r>
              <a:endParaRPr b="1" sz="1200">
                <a:solidFill>
                  <a:srgbClr val="174EA6"/>
                </a:solidFill>
                <a:latin typeface="Roboto"/>
                <a:ea typeface="Roboto"/>
                <a:cs typeface="Roboto"/>
                <a:sym typeface="Roboto"/>
              </a:endParaRPr>
            </a:p>
          </p:txBody>
        </p:sp>
        <p:sp>
          <p:nvSpPr>
            <p:cNvPr id="106" name="Google Shape;106;p21"/>
            <p:cNvSpPr txBox="1"/>
            <p:nvPr/>
          </p:nvSpPr>
          <p:spPr>
            <a:xfrm>
              <a:off x="190500" y="685800"/>
              <a:ext cx="2152800" cy="213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Standardized Diagnosis</a:t>
              </a:r>
              <a:endParaRPr b="1" sz="1400">
                <a:solidFill>
                  <a:srgbClr val="1A73E8"/>
                </a:solidFill>
                <a:latin typeface="Roboto"/>
                <a:ea typeface="Roboto"/>
                <a:cs typeface="Roboto"/>
                <a:sym typeface="Roboto"/>
              </a:endParaRPr>
            </a:p>
            <a:p>
              <a:pPr indent="0" lvl="0" marL="0" rtl="0" algn="l">
                <a:spcBef>
                  <a:spcPts val="750"/>
                </a:spcBef>
                <a:spcAft>
                  <a:spcPts val="0"/>
                </a:spcAft>
                <a:buNone/>
              </a:pPr>
              <a:r>
                <a:rPr lang="en" sz="1050">
                  <a:solidFill>
                    <a:srgbClr val="3C4043"/>
                  </a:solidFill>
                  <a:latin typeface="Roboto"/>
                  <a:ea typeface="Roboto"/>
                  <a:cs typeface="Roboto"/>
                  <a:sym typeface="Roboto"/>
                </a:rPr>
                <a:t>Provides a universal system for classifying injuries, diseases, and causes of death across healthcare providers worldwide.</a:t>
              </a:r>
              <a:endParaRPr sz="1050">
                <a:solidFill>
                  <a:srgbClr val="3C4043"/>
                </a:solidFill>
                <a:latin typeface="Roboto"/>
                <a:ea typeface="Roboto"/>
                <a:cs typeface="Roboto"/>
                <a:sym typeface="Roboto"/>
              </a:endParaRPr>
            </a:p>
            <a:p>
              <a:pPr indent="0" lvl="0" marL="0" rtl="0" algn="l">
                <a:spcBef>
                  <a:spcPts val="900"/>
                </a:spcBef>
                <a:spcAft>
                  <a:spcPts val="0"/>
                </a:spcAft>
                <a:buNone/>
              </a:pPr>
              <a:r>
                <a:rPr lang="en" sz="1050">
                  <a:solidFill>
                    <a:srgbClr val="3C4043"/>
                  </a:solidFill>
                  <a:latin typeface="Roboto"/>
                  <a:ea typeface="Roboto"/>
                  <a:cs typeface="Roboto"/>
                  <a:sym typeface="Roboto"/>
                </a:rPr>
                <a:t>Enables consistent tracking of epidemiological trends and public health metrics.</a:t>
              </a:r>
              <a:endParaRPr sz="1050">
                <a:solidFill>
                  <a:srgbClr val="3C4043"/>
                </a:solidFill>
                <a:latin typeface="Roboto"/>
                <a:ea typeface="Roboto"/>
                <a:cs typeface="Roboto"/>
                <a:sym typeface="Roboto"/>
              </a:endParaRPr>
            </a:p>
          </p:txBody>
        </p:sp>
      </p:grpSp>
      <p:grpSp>
        <p:nvGrpSpPr>
          <p:cNvPr id="107" name="Google Shape;107;p21"/>
          <p:cNvGrpSpPr/>
          <p:nvPr/>
        </p:nvGrpSpPr>
        <p:grpSpPr>
          <a:xfrm>
            <a:off x="3305175" y="1619250"/>
            <a:ext cx="2533800" cy="3048000"/>
            <a:chOff x="0" y="0"/>
            <a:chExt cx="2533800" cy="3048000"/>
          </a:xfrm>
        </p:grpSpPr>
        <p:pic>
          <p:nvPicPr>
            <p:cNvPr id="108" name="Google Shape;108;p21"/>
            <p:cNvPicPr preferRelativeResize="0"/>
            <p:nvPr/>
          </p:nvPicPr>
          <p:blipFill rotWithShape="1">
            <a:blip r:embed="rId4">
              <a:alphaModFix/>
            </a:blip>
            <a:srcRect b="0" l="0" r="0" t="0"/>
            <a:stretch/>
          </p:blipFill>
          <p:spPr>
            <a:xfrm>
              <a:off x="0" y="0"/>
              <a:ext cx="2533800" cy="3048000"/>
            </a:xfrm>
            <a:prstGeom prst="rect">
              <a:avLst/>
            </a:prstGeom>
            <a:noFill/>
            <a:ln>
              <a:noFill/>
            </a:ln>
          </p:spPr>
        </p:pic>
        <p:sp>
          <p:nvSpPr>
            <p:cNvPr id="109" name="Google Shape;109;p21"/>
            <p:cNvSpPr/>
            <p:nvPr/>
          </p:nvSpPr>
          <p:spPr>
            <a:xfrm>
              <a:off x="190500" y="228600"/>
              <a:ext cx="762000" cy="304800"/>
            </a:xfrm>
            <a:prstGeom prst="roundRect">
              <a:avLst>
                <a:gd fmla="val 187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21"/>
            <p:cNvSpPr txBox="1"/>
            <p:nvPr/>
          </p:nvSpPr>
          <p:spPr>
            <a:xfrm>
              <a:off x="190500" y="228600"/>
              <a:ext cx="7620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174EA6"/>
                  </a:solidFill>
                  <a:latin typeface="Roboto"/>
                  <a:ea typeface="Roboto"/>
                  <a:cs typeface="Roboto"/>
                  <a:sym typeface="Roboto"/>
                </a:rPr>
                <a:t>Z00-Z99</a:t>
              </a:r>
              <a:endParaRPr b="1" sz="1200">
                <a:solidFill>
                  <a:srgbClr val="174EA6"/>
                </a:solidFill>
                <a:latin typeface="Roboto"/>
                <a:ea typeface="Roboto"/>
                <a:cs typeface="Roboto"/>
                <a:sym typeface="Roboto"/>
              </a:endParaRPr>
            </a:p>
          </p:txBody>
        </p:sp>
        <p:sp>
          <p:nvSpPr>
            <p:cNvPr id="111" name="Google Shape;111;p21"/>
            <p:cNvSpPr txBox="1"/>
            <p:nvPr/>
          </p:nvSpPr>
          <p:spPr>
            <a:xfrm>
              <a:off x="190500" y="685800"/>
              <a:ext cx="2152800" cy="213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High Granularity</a:t>
              </a:r>
              <a:endParaRPr b="1" sz="1400">
                <a:solidFill>
                  <a:srgbClr val="1A73E8"/>
                </a:solidFill>
                <a:latin typeface="Roboto"/>
                <a:ea typeface="Roboto"/>
                <a:cs typeface="Roboto"/>
                <a:sym typeface="Roboto"/>
              </a:endParaRPr>
            </a:p>
            <a:p>
              <a:pPr indent="0" lvl="0" marL="0" rtl="0" algn="l">
                <a:spcBef>
                  <a:spcPts val="750"/>
                </a:spcBef>
                <a:spcAft>
                  <a:spcPts val="0"/>
                </a:spcAft>
                <a:buNone/>
              </a:pPr>
              <a:r>
                <a:rPr lang="en" sz="1050">
                  <a:solidFill>
                    <a:srgbClr val="3C4043"/>
                  </a:solidFill>
                  <a:latin typeface="Roboto"/>
                  <a:ea typeface="Roboto"/>
                  <a:cs typeface="Roboto"/>
                  <a:sym typeface="Roboto"/>
                </a:rPr>
                <a:t>Consists of over 70,000 diagnostic codes, allowing extreme specificity in patient encounters.</a:t>
              </a:r>
              <a:endParaRPr sz="1050">
                <a:solidFill>
                  <a:srgbClr val="3C4043"/>
                </a:solidFill>
                <a:latin typeface="Roboto"/>
                <a:ea typeface="Roboto"/>
                <a:cs typeface="Roboto"/>
                <a:sym typeface="Roboto"/>
              </a:endParaRPr>
            </a:p>
            <a:p>
              <a:pPr indent="0" lvl="0" marL="0" rtl="0" algn="l">
                <a:spcBef>
                  <a:spcPts val="900"/>
                </a:spcBef>
                <a:spcAft>
                  <a:spcPts val="0"/>
                </a:spcAft>
                <a:buNone/>
              </a:pPr>
              <a:r>
                <a:rPr lang="en" sz="1050">
                  <a:solidFill>
                    <a:srgbClr val="3C4043"/>
                  </a:solidFill>
                  <a:latin typeface="Roboto"/>
                  <a:ea typeface="Roboto"/>
                  <a:cs typeface="Roboto"/>
                  <a:sym typeface="Roboto"/>
                </a:rPr>
                <a:t>Captures laterality, severity, etiology, and anatomical location to improve clinical documentation quality.</a:t>
              </a:r>
              <a:endParaRPr sz="1050">
                <a:solidFill>
                  <a:srgbClr val="3C4043"/>
                </a:solidFill>
                <a:latin typeface="Roboto"/>
                <a:ea typeface="Roboto"/>
                <a:cs typeface="Roboto"/>
                <a:sym typeface="Roboto"/>
              </a:endParaRPr>
            </a:p>
          </p:txBody>
        </p:sp>
      </p:grpSp>
      <p:grpSp>
        <p:nvGrpSpPr>
          <p:cNvPr id="112" name="Google Shape;112;p21"/>
          <p:cNvGrpSpPr/>
          <p:nvPr/>
        </p:nvGrpSpPr>
        <p:grpSpPr>
          <a:xfrm>
            <a:off x="6134100" y="1619250"/>
            <a:ext cx="2533800" cy="3048000"/>
            <a:chOff x="0" y="0"/>
            <a:chExt cx="2533800" cy="3048000"/>
          </a:xfrm>
        </p:grpSpPr>
        <p:pic>
          <p:nvPicPr>
            <p:cNvPr id="113" name="Google Shape;113;p21"/>
            <p:cNvPicPr preferRelativeResize="0"/>
            <p:nvPr/>
          </p:nvPicPr>
          <p:blipFill rotWithShape="1">
            <a:blip r:embed="rId4">
              <a:alphaModFix/>
            </a:blip>
            <a:srcRect b="0" l="0" r="0" t="0"/>
            <a:stretch/>
          </p:blipFill>
          <p:spPr>
            <a:xfrm>
              <a:off x="0" y="0"/>
              <a:ext cx="2533800" cy="3048000"/>
            </a:xfrm>
            <a:prstGeom prst="rect">
              <a:avLst/>
            </a:prstGeom>
            <a:noFill/>
            <a:ln>
              <a:noFill/>
            </a:ln>
          </p:spPr>
        </p:pic>
        <p:sp>
          <p:nvSpPr>
            <p:cNvPr id="114" name="Google Shape;114;p21"/>
            <p:cNvSpPr/>
            <p:nvPr/>
          </p:nvSpPr>
          <p:spPr>
            <a:xfrm>
              <a:off x="190500" y="228600"/>
              <a:ext cx="762000" cy="304800"/>
            </a:xfrm>
            <a:prstGeom prst="roundRect">
              <a:avLst>
                <a:gd fmla="val 187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21"/>
            <p:cNvSpPr txBox="1"/>
            <p:nvPr/>
          </p:nvSpPr>
          <p:spPr>
            <a:xfrm>
              <a:off x="190500" y="228600"/>
              <a:ext cx="7620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174EA6"/>
                  </a:solidFill>
                  <a:latin typeface="Roboto"/>
                  <a:ea typeface="Roboto"/>
                  <a:cs typeface="Roboto"/>
                  <a:sym typeface="Roboto"/>
                </a:rPr>
                <a:t>PCS</a:t>
              </a:r>
              <a:endParaRPr b="1" sz="1200">
                <a:solidFill>
                  <a:srgbClr val="174EA6"/>
                </a:solidFill>
                <a:latin typeface="Roboto"/>
                <a:ea typeface="Roboto"/>
                <a:cs typeface="Roboto"/>
                <a:sym typeface="Roboto"/>
              </a:endParaRPr>
            </a:p>
          </p:txBody>
        </p:sp>
        <p:sp>
          <p:nvSpPr>
            <p:cNvPr id="116" name="Google Shape;116;p21"/>
            <p:cNvSpPr txBox="1"/>
            <p:nvPr/>
          </p:nvSpPr>
          <p:spPr>
            <a:xfrm>
              <a:off x="190500" y="685800"/>
              <a:ext cx="2152800" cy="213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Billing &amp; Automation</a:t>
              </a:r>
              <a:endParaRPr b="1" sz="1400">
                <a:solidFill>
                  <a:srgbClr val="1A73E8"/>
                </a:solidFill>
                <a:latin typeface="Roboto"/>
                <a:ea typeface="Roboto"/>
                <a:cs typeface="Roboto"/>
                <a:sym typeface="Roboto"/>
              </a:endParaRPr>
            </a:p>
            <a:p>
              <a:pPr indent="0" lvl="0" marL="0" rtl="0" algn="l">
                <a:spcBef>
                  <a:spcPts val="750"/>
                </a:spcBef>
                <a:spcAft>
                  <a:spcPts val="0"/>
                </a:spcAft>
                <a:buNone/>
              </a:pPr>
              <a:r>
                <a:rPr lang="en" sz="1050">
                  <a:solidFill>
                    <a:srgbClr val="3C4043"/>
                  </a:solidFill>
                  <a:latin typeface="Roboto"/>
                  <a:ea typeface="Roboto"/>
                  <a:cs typeface="Roboto"/>
                  <a:sym typeface="Roboto"/>
                </a:rPr>
                <a:t>Forms the core structure for medical billing, health insurance processing, and reimbursement operations.</a:t>
              </a:r>
              <a:endParaRPr sz="1050">
                <a:solidFill>
                  <a:srgbClr val="3C4043"/>
                </a:solidFill>
                <a:latin typeface="Roboto"/>
                <a:ea typeface="Roboto"/>
                <a:cs typeface="Roboto"/>
                <a:sym typeface="Roboto"/>
              </a:endParaRPr>
            </a:p>
            <a:p>
              <a:pPr indent="0" lvl="0" marL="0" rtl="0" algn="l">
                <a:spcBef>
                  <a:spcPts val="900"/>
                </a:spcBef>
                <a:spcAft>
                  <a:spcPts val="0"/>
                </a:spcAft>
                <a:buNone/>
              </a:pPr>
              <a:r>
                <a:rPr lang="en" sz="1050">
                  <a:solidFill>
                    <a:srgbClr val="3C4043"/>
                  </a:solidFill>
                  <a:latin typeface="Roboto"/>
                  <a:ea typeface="Roboto"/>
                  <a:cs typeface="Roboto"/>
                  <a:sym typeface="Roboto"/>
                </a:rPr>
                <a:t>Highly suitable target for automated NLP and fine-tuned AI modeling to reduce administrative burden.</a:t>
              </a:r>
              <a:endParaRPr sz="1050">
                <a:solidFill>
                  <a:srgbClr val="3C4043"/>
                </a:solidFill>
                <a:latin typeface="Roboto"/>
                <a:ea typeface="Roboto"/>
                <a:cs typeface="Roboto"/>
                <a:sym typeface="Robo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2"/>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2"/>
          <p:cNvSpPr txBox="1"/>
          <p:nvPr>
            <p:ph type="title"/>
          </p:nvPr>
        </p:nvSpPr>
        <p:spPr>
          <a:xfrm>
            <a:off x="471900" y="738725"/>
            <a:ext cx="8222100" cy="767700"/>
          </a:xfrm>
          <a:prstGeom prst="rect">
            <a:avLst/>
          </a:prstGeom>
          <a:solidFill>
            <a:srgbClr val="000000">
              <a:alpha val="0"/>
            </a:srgbClr>
          </a:solidFill>
          <a:ln>
            <a:noFill/>
          </a:ln>
        </p:spPr>
        <p:txBody>
          <a:bodyPr anchorCtr="0" anchor="b" bIns="91400" lIns="91400" spcFirstLastPara="1" rIns="91400" wrap="square" tIns="91400">
            <a:normAutofit/>
          </a:bodyPr>
          <a:lstStyle/>
          <a:p>
            <a:pPr indent="0" lvl="0" marL="0" rtl="0" algn="l">
              <a:spcBef>
                <a:spcPts val="0"/>
              </a:spcBef>
              <a:spcAft>
                <a:spcPts val="0"/>
              </a:spcAft>
              <a:buNone/>
            </a:pPr>
            <a:r>
              <a:rPr b="1" i="0" lang="en" sz="3200">
                <a:solidFill>
                  <a:srgbClr val="FFFFFF"/>
                </a:solidFill>
                <a:latin typeface="Roboto"/>
                <a:ea typeface="Roboto"/>
                <a:cs typeface="Roboto"/>
                <a:sym typeface="Roboto"/>
              </a:rPr>
              <a:t>Costs of Manual ICD-10 Billing</a:t>
            </a:r>
            <a:endParaRPr b="1" i="0" sz="3200">
              <a:solidFill>
                <a:srgbClr val="FFFFFF"/>
              </a:solidFill>
              <a:latin typeface="Roboto"/>
              <a:ea typeface="Roboto"/>
              <a:cs typeface="Roboto"/>
              <a:sym typeface="Roboto"/>
            </a:endParaRPr>
          </a:p>
        </p:txBody>
      </p:sp>
      <p:grpSp>
        <p:nvGrpSpPr>
          <p:cNvPr id="124" name="Google Shape;124;p22"/>
          <p:cNvGrpSpPr/>
          <p:nvPr/>
        </p:nvGrpSpPr>
        <p:grpSpPr>
          <a:xfrm>
            <a:off x="476250" y="1905000"/>
            <a:ext cx="2533800" cy="2857500"/>
            <a:chOff x="0" y="0"/>
            <a:chExt cx="2533800" cy="2857500"/>
          </a:xfrm>
        </p:grpSpPr>
        <p:sp>
          <p:nvSpPr>
            <p:cNvPr id="125" name="Google Shape;125;p22"/>
            <p:cNvSpPr/>
            <p:nvPr/>
          </p:nvSpPr>
          <p:spPr>
            <a:xfrm>
              <a:off x="0" y="0"/>
              <a:ext cx="2533800" cy="2857500"/>
            </a:xfrm>
            <a:prstGeom prst="roundRect">
              <a:avLst>
                <a:gd fmla="val 45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22"/>
            <p:cNvSpPr/>
            <p:nvPr/>
          </p:nvSpPr>
          <p:spPr>
            <a:xfrm>
              <a:off x="190500" y="228600"/>
              <a:ext cx="857400" cy="285900"/>
            </a:xfrm>
            <a:prstGeom prst="roundRect">
              <a:avLst>
                <a:gd fmla="val 20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22"/>
            <p:cNvSpPr txBox="1"/>
            <p:nvPr/>
          </p:nvSpPr>
          <p:spPr>
            <a:xfrm>
              <a:off x="190500" y="228600"/>
              <a:ext cx="857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174EA6"/>
                  </a:solidFill>
                  <a:latin typeface="Roboto"/>
                  <a:ea typeface="Roboto"/>
                  <a:cs typeface="Roboto"/>
                  <a:sym typeface="Roboto"/>
                </a:rPr>
                <a:t>OVERHEAD</a:t>
              </a:r>
              <a:endParaRPr b="1" sz="1100">
                <a:solidFill>
                  <a:srgbClr val="174EA6"/>
                </a:solidFill>
                <a:latin typeface="Roboto"/>
                <a:ea typeface="Roboto"/>
                <a:cs typeface="Roboto"/>
                <a:sym typeface="Roboto"/>
              </a:endParaRPr>
            </a:p>
          </p:txBody>
        </p:sp>
        <p:sp>
          <p:nvSpPr>
            <p:cNvPr id="128" name="Google Shape;128;p22"/>
            <p:cNvSpPr txBox="1"/>
            <p:nvPr/>
          </p:nvSpPr>
          <p:spPr>
            <a:xfrm>
              <a:off x="190500" y="647700"/>
              <a:ext cx="2152800" cy="200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High Labor Expenses</a:t>
              </a:r>
              <a:endParaRPr b="1" sz="1400">
                <a:solidFill>
                  <a:srgbClr val="1A73E8"/>
                </a:solidFill>
                <a:latin typeface="Roboto"/>
                <a:ea typeface="Roboto"/>
                <a:cs typeface="Roboto"/>
                <a:sym typeface="Roboto"/>
              </a:endParaRPr>
            </a:p>
            <a:p>
              <a:pPr indent="0" lvl="0" marL="0" rtl="0" algn="l">
                <a:spcBef>
                  <a:spcPts val="800"/>
                </a:spcBef>
                <a:spcAft>
                  <a:spcPts val="0"/>
                </a:spcAft>
                <a:buNone/>
              </a:pPr>
              <a:r>
                <a:rPr b="0" lang="en" sz="1050">
                  <a:solidFill>
                    <a:srgbClr val="3C4043"/>
                  </a:solidFill>
                  <a:latin typeface="Roboto"/>
                  <a:ea typeface="Roboto"/>
                  <a:cs typeface="Roboto"/>
                  <a:sym typeface="Roboto"/>
                </a:rPr>
                <a:t>Requires dedicated teams of certified medical coders, driving up operational overhead significantly as patient chart volume grows.</a:t>
              </a:r>
              <a:endParaRPr b="0" sz="1050">
                <a:solidFill>
                  <a:srgbClr val="3C4043"/>
                </a:solidFill>
                <a:latin typeface="Roboto"/>
                <a:ea typeface="Roboto"/>
                <a:cs typeface="Roboto"/>
                <a:sym typeface="Roboto"/>
              </a:endParaRPr>
            </a:p>
          </p:txBody>
        </p:sp>
      </p:grpSp>
      <p:grpSp>
        <p:nvGrpSpPr>
          <p:cNvPr id="129" name="Google Shape;129;p22"/>
          <p:cNvGrpSpPr/>
          <p:nvPr/>
        </p:nvGrpSpPr>
        <p:grpSpPr>
          <a:xfrm>
            <a:off x="3305175" y="1905000"/>
            <a:ext cx="2533800" cy="2857500"/>
            <a:chOff x="0" y="0"/>
            <a:chExt cx="2533800" cy="2857500"/>
          </a:xfrm>
        </p:grpSpPr>
        <p:sp>
          <p:nvSpPr>
            <p:cNvPr id="130" name="Google Shape;130;p22"/>
            <p:cNvSpPr/>
            <p:nvPr/>
          </p:nvSpPr>
          <p:spPr>
            <a:xfrm>
              <a:off x="0" y="0"/>
              <a:ext cx="2533800" cy="2857500"/>
            </a:xfrm>
            <a:prstGeom prst="roundRect">
              <a:avLst>
                <a:gd fmla="val 45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22"/>
            <p:cNvSpPr/>
            <p:nvPr/>
          </p:nvSpPr>
          <p:spPr>
            <a:xfrm>
              <a:off x="190500" y="228600"/>
              <a:ext cx="857400" cy="285900"/>
            </a:xfrm>
            <a:prstGeom prst="roundRect">
              <a:avLst>
                <a:gd fmla="val 20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22"/>
            <p:cNvSpPr txBox="1"/>
            <p:nvPr/>
          </p:nvSpPr>
          <p:spPr>
            <a:xfrm>
              <a:off x="190500" y="228600"/>
              <a:ext cx="857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174EA6"/>
                  </a:solidFill>
                  <a:latin typeface="Roboto"/>
                  <a:ea typeface="Roboto"/>
                  <a:cs typeface="Roboto"/>
                  <a:sym typeface="Roboto"/>
                </a:rPr>
                <a:t>ACCURACY</a:t>
              </a:r>
              <a:endParaRPr b="1" sz="1100">
                <a:solidFill>
                  <a:srgbClr val="174EA6"/>
                </a:solidFill>
                <a:latin typeface="Roboto"/>
                <a:ea typeface="Roboto"/>
                <a:cs typeface="Roboto"/>
                <a:sym typeface="Roboto"/>
              </a:endParaRPr>
            </a:p>
          </p:txBody>
        </p:sp>
        <p:sp>
          <p:nvSpPr>
            <p:cNvPr id="133" name="Google Shape;133;p22"/>
            <p:cNvSpPr txBox="1"/>
            <p:nvPr/>
          </p:nvSpPr>
          <p:spPr>
            <a:xfrm>
              <a:off x="190500" y="647700"/>
              <a:ext cx="2152800" cy="200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Claim Denials &amp; Errors</a:t>
              </a:r>
              <a:endParaRPr b="1" sz="1400">
                <a:solidFill>
                  <a:srgbClr val="1A73E8"/>
                </a:solidFill>
                <a:latin typeface="Roboto"/>
                <a:ea typeface="Roboto"/>
                <a:cs typeface="Roboto"/>
                <a:sym typeface="Roboto"/>
              </a:endParaRPr>
            </a:p>
            <a:p>
              <a:pPr indent="0" lvl="0" marL="0" rtl="0" algn="l">
                <a:spcBef>
                  <a:spcPts val="800"/>
                </a:spcBef>
                <a:spcAft>
                  <a:spcPts val="0"/>
                </a:spcAft>
                <a:buNone/>
              </a:pPr>
              <a:r>
                <a:rPr b="0" lang="en" sz="1050">
                  <a:solidFill>
                    <a:srgbClr val="3C4043"/>
                  </a:solidFill>
                  <a:latin typeface="Roboto"/>
                  <a:ea typeface="Roboto"/>
                  <a:cs typeface="Roboto"/>
                  <a:sym typeface="Roboto"/>
                </a:rPr>
                <a:t>Human fatigue and code complexity lead to frequent claim rejections, delayed cash flows, and resource-intensive re-appeals.</a:t>
              </a:r>
              <a:endParaRPr b="0" sz="1050">
                <a:solidFill>
                  <a:srgbClr val="3C4043"/>
                </a:solidFill>
                <a:latin typeface="Roboto"/>
                <a:ea typeface="Roboto"/>
                <a:cs typeface="Roboto"/>
                <a:sym typeface="Roboto"/>
              </a:endParaRPr>
            </a:p>
          </p:txBody>
        </p:sp>
      </p:grpSp>
      <p:grpSp>
        <p:nvGrpSpPr>
          <p:cNvPr id="134" name="Google Shape;134;p22"/>
          <p:cNvGrpSpPr/>
          <p:nvPr/>
        </p:nvGrpSpPr>
        <p:grpSpPr>
          <a:xfrm>
            <a:off x="6134100" y="1905000"/>
            <a:ext cx="2533800" cy="2857500"/>
            <a:chOff x="0" y="0"/>
            <a:chExt cx="2533800" cy="2857500"/>
          </a:xfrm>
        </p:grpSpPr>
        <p:sp>
          <p:nvSpPr>
            <p:cNvPr id="135" name="Google Shape;135;p22"/>
            <p:cNvSpPr/>
            <p:nvPr/>
          </p:nvSpPr>
          <p:spPr>
            <a:xfrm>
              <a:off x="0" y="0"/>
              <a:ext cx="2533800" cy="2857500"/>
            </a:xfrm>
            <a:prstGeom prst="roundRect">
              <a:avLst>
                <a:gd fmla="val 45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22"/>
            <p:cNvSpPr/>
            <p:nvPr/>
          </p:nvSpPr>
          <p:spPr>
            <a:xfrm>
              <a:off x="190500" y="228600"/>
              <a:ext cx="857400" cy="285900"/>
            </a:xfrm>
            <a:prstGeom prst="roundRect">
              <a:avLst>
                <a:gd fmla="val 20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22"/>
            <p:cNvSpPr txBox="1"/>
            <p:nvPr/>
          </p:nvSpPr>
          <p:spPr>
            <a:xfrm>
              <a:off x="190500" y="228600"/>
              <a:ext cx="857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174EA6"/>
                  </a:solidFill>
                  <a:latin typeface="Roboto"/>
                  <a:ea typeface="Roboto"/>
                  <a:cs typeface="Roboto"/>
                  <a:sym typeface="Roboto"/>
                </a:rPr>
                <a:t>EFFICIENCY</a:t>
              </a:r>
              <a:endParaRPr b="1" sz="1100">
                <a:solidFill>
                  <a:srgbClr val="174EA6"/>
                </a:solidFill>
                <a:latin typeface="Roboto"/>
                <a:ea typeface="Roboto"/>
                <a:cs typeface="Roboto"/>
                <a:sym typeface="Roboto"/>
              </a:endParaRPr>
            </a:p>
          </p:txBody>
        </p:sp>
        <p:sp>
          <p:nvSpPr>
            <p:cNvPr id="138" name="Google Shape;138;p22"/>
            <p:cNvSpPr txBox="1"/>
            <p:nvPr/>
          </p:nvSpPr>
          <p:spPr>
            <a:xfrm>
              <a:off x="190500" y="647700"/>
              <a:ext cx="2152800" cy="200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Scaling Bottlenecks</a:t>
              </a:r>
              <a:endParaRPr b="1" sz="1400">
                <a:solidFill>
                  <a:srgbClr val="1A73E8"/>
                </a:solidFill>
                <a:latin typeface="Roboto"/>
                <a:ea typeface="Roboto"/>
                <a:cs typeface="Roboto"/>
                <a:sym typeface="Roboto"/>
              </a:endParaRPr>
            </a:p>
            <a:p>
              <a:pPr indent="0" lvl="0" marL="0" rtl="0" algn="l">
                <a:spcBef>
                  <a:spcPts val="800"/>
                </a:spcBef>
                <a:spcAft>
                  <a:spcPts val="0"/>
                </a:spcAft>
                <a:buNone/>
              </a:pPr>
              <a:r>
                <a:rPr b="0" lang="en" sz="1050">
                  <a:solidFill>
                    <a:srgbClr val="3C4043"/>
                  </a:solidFill>
                  <a:latin typeface="Roboto"/>
                  <a:ea typeface="Roboto"/>
                  <a:cs typeface="Roboto"/>
                  <a:sym typeface="Roboto"/>
                </a:rPr>
                <a:t>Manual coding creates severe documentation backlogs during peak patient encounters, limiting health system throughput and agility.</a:t>
              </a:r>
              <a:endParaRPr b="0" sz="1050">
                <a:solidFill>
                  <a:srgbClr val="3C4043"/>
                </a:solidFill>
                <a:latin typeface="Roboto"/>
                <a:ea typeface="Roboto"/>
                <a:cs typeface="Roboto"/>
                <a:sym typeface="Robo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3"/>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3"/>
          <p:cNvSpPr txBox="1"/>
          <p:nvPr>
            <p:ph type="title"/>
          </p:nvPr>
        </p:nvSpPr>
        <p:spPr>
          <a:xfrm>
            <a:off x="471900" y="238125"/>
            <a:ext cx="8222100" cy="7677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i="0" lang="en" sz="2800">
                <a:solidFill>
                  <a:srgbClr val="FFFFFF"/>
                </a:solidFill>
                <a:latin typeface="Roboto"/>
                <a:ea typeface="Roboto"/>
                <a:cs typeface="Roboto"/>
                <a:sym typeface="Roboto"/>
              </a:rPr>
              <a:t>Challenges of ICD-10 Coding</a:t>
            </a:r>
            <a:endParaRPr b="1" i="0" sz="2800">
              <a:solidFill>
                <a:srgbClr val="FFFFFF"/>
              </a:solidFill>
              <a:latin typeface="Roboto"/>
              <a:ea typeface="Roboto"/>
              <a:cs typeface="Roboto"/>
              <a:sym typeface="Roboto"/>
            </a:endParaRPr>
          </a:p>
        </p:txBody>
      </p:sp>
      <p:grpSp>
        <p:nvGrpSpPr>
          <p:cNvPr id="146" name="Google Shape;146;p23"/>
          <p:cNvGrpSpPr/>
          <p:nvPr/>
        </p:nvGrpSpPr>
        <p:grpSpPr>
          <a:xfrm>
            <a:off x="476250" y="1905000"/>
            <a:ext cx="2533800" cy="2857500"/>
            <a:chOff x="0" y="0"/>
            <a:chExt cx="2533800" cy="2857500"/>
          </a:xfrm>
        </p:grpSpPr>
        <p:sp>
          <p:nvSpPr>
            <p:cNvPr id="147" name="Google Shape;147;p23"/>
            <p:cNvSpPr/>
            <p:nvPr/>
          </p:nvSpPr>
          <p:spPr>
            <a:xfrm>
              <a:off x="0" y="0"/>
              <a:ext cx="2533800" cy="2857500"/>
            </a:xfrm>
            <a:prstGeom prst="roundRect">
              <a:avLst>
                <a:gd fmla="val 45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23"/>
            <p:cNvSpPr/>
            <p:nvPr/>
          </p:nvSpPr>
          <p:spPr>
            <a:xfrm>
              <a:off x="190500" y="228600"/>
              <a:ext cx="857400" cy="285900"/>
            </a:xfrm>
            <a:prstGeom prst="roundRect">
              <a:avLst>
                <a:gd fmla="val 20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23"/>
            <p:cNvSpPr txBox="1"/>
            <p:nvPr/>
          </p:nvSpPr>
          <p:spPr>
            <a:xfrm>
              <a:off x="190500" y="228600"/>
              <a:ext cx="857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174EA6"/>
                  </a:solidFill>
                  <a:latin typeface="Roboto"/>
                  <a:ea typeface="Roboto"/>
                  <a:cs typeface="Roboto"/>
                  <a:sym typeface="Roboto"/>
                </a:rPr>
                <a:t>VOLUME</a:t>
              </a:r>
              <a:endParaRPr b="1" sz="1100">
                <a:solidFill>
                  <a:srgbClr val="174EA6"/>
                </a:solidFill>
                <a:latin typeface="Roboto"/>
                <a:ea typeface="Roboto"/>
                <a:cs typeface="Roboto"/>
                <a:sym typeface="Roboto"/>
              </a:endParaRPr>
            </a:p>
          </p:txBody>
        </p:sp>
        <p:sp>
          <p:nvSpPr>
            <p:cNvPr id="150" name="Google Shape;150;p23"/>
            <p:cNvSpPr txBox="1"/>
            <p:nvPr/>
          </p:nvSpPr>
          <p:spPr>
            <a:xfrm>
              <a:off x="190500" y="647700"/>
              <a:ext cx="21528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70,000+ Codes</a:t>
              </a:r>
              <a:endParaRPr b="1" sz="1400">
                <a:solidFill>
                  <a:srgbClr val="1A73E8"/>
                </a:solidFill>
                <a:latin typeface="Roboto"/>
                <a:ea typeface="Roboto"/>
                <a:cs typeface="Roboto"/>
                <a:sym typeface="Roboto"/>
              </a:endParaRPr>
            </a:p>
            <a:p>
              <a:pPr indent="0" lvl="0" marL="0" rtl="0" algn="l">
                <a:spcBef>
                  <a:spcPts val="800"/>
                </a:spcBef>
                <a:spcAft>
                  <a:spcPts val="0"/>
                </a:spcAft>
                <a:buNone/>
              </a:pPr>
              <a:r>
                <a:rPr b="0" lang="en" sz="1050">
                  <a:solidFill>
                    <a:srgbClr val="3C4043"/>
                  </a:solidFill>
                  <a:latin typeface="Roboto"/>
                  <a:ea typeface="Roboto"/>
                  <a:cs typeface="Roboto"/>
                  <a:sym typeface="Roboto"/>
                </a:rPr>
                <a:t>An immense classification space requiring coders to navigate tens of thousands of highly specific diagnosis codes.</a:t>
              </a:r>
              <a:endParaRPr b="0" sz="1050">
                <a:solidFill>
                  <a:srgbClr val="3C4043"/>
                </a:solidFill>
                <a:latin typeface="Roboto"/>
                <a:ea typeface="Roboto"/>
                <a:cs typeface="Roboto"/>
                <a:sym typeface="Roboto"/>
              </a:endParaRPr>
            </a:p>
          </p:txBody>
        </p:sp>
      </p:grpSp>
      <p:grpSp>
        <p:nvGrpSpPr>
          <p:cNvPr id="151" name="Google Shape;151;p23"/>
          <p:cNvGrpSpPr/>
          <p:nvPr/>
        </p:nvGrpSpPr>
        <p:grpSpPr>
          <a:xfrm>
            <a:off x="3305175" y="1905000"/>
            <a:ext cx="2533800" cy="2857500"/>
            <a:chOff x="0" y="0"/>
            <a:chExt cx="2533800" cy="2857500"/>
          </a:xfrm>
        </p:grpSpPr>
        <p:sp>
          <p:nvSpPr>
            <p:cNvPr id="152" name="Google Shape;152;p23"/>
            <p:cNvSpPr/>
            <p:nvPr/>
          </p:nvSpPr>
          <p:spPr>
            <a:xfrm>
              <a:off x="0" y="0"/>
              <a:ext cx="2533800" cy="2857500"/>
            </a:xfrm>
            <a:prstGeom prst="roundRect">
              <a:avLst>
                <a:gd fmla="val 45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23"/>
            <p:cNvSpPr/>
            <p:nvPr/>
          </p:nvSpPr>
          <p:spPr>
            <a:xfrm>
              <a:off x="190500" y="228600"/>
              <a:ext cx="857400" cy="285900"/>
            </a:xfrm>
            <a:prstGeom prst="roundRect">
              <a:avLst>
                <a:gd fmla="val 20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23"/>
            <p:cNvSpPr txBox="1"/>
            <p:nvPr/>
          </p:nvSpPr>
          <p:spPr>
            <a:xfrm>
              <a:off x="190500" y="228600"/>
              <a:ext cx="857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174EA6"/>
                  </a:solidFill>
                  <a:latin typeface="Roboto"/>
                  <a:ea typeface="Roboto"/>
                  <a:cs typeface="Roboto"/>
                  <a:sym typeface="Roboto"/>
                </a:rPr>
                <a:t>VARIETY</a:t>
              </a:r>
              <a:endParaRPr b="1" sz="1100">
                <a:solidFill>
                  <a:srgbClr val="174EA6"/>
                </a:solidFill>
                <a:latin typeface="Roboto"/>
                <a:ea typeface="Roboto"/>
                <a:cs typeface="Roboto"/>
                <a:sym typeface="Roboto"/>
              </a:endParaRPr>
            </a:p>
          </p:txBody>
        </p:sp>
        <p:sp>
          <p:nvSpPr>
            <p:cNvPr id="155" name="Google Shape;155;p23"/>
            <p:cNvSpPr txBox="1"/>
            <p:nvPr/>
          </p:nvSpPr>
          <p:spPr>
            <a:xfrm>
              <a:off x="190500" y="647700"/>
              <a:ext cx="21528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High Granularity</a:t>
              </a:r>
              <a:endParaRPr b="1" sz="1400">
                <a:solidFill>
                  <a:srgbClr val="1A73E8"/>
                </a:solidFill>
                <a:latin typeface="Roboto"/>
                <a:ea typeface="Roboto"/>
                <a:cs typeface="Roboto"/>
                <a:sym typeface="Roboto"/>
              </a:endParaRPr>
            </a:p>
            <a:p>
              <a:pPr indent="0" lvl="0" marL="0" rtl="0" algn="l">
                <a:spcBef>
                  <a:spcPts val="800"/>
                </a:spcBef>
                <a:spcAft>
                  <a:spcPts val="0"/>
                </a:spcAft>
                <a:buNone/>
              </a:pPr>
              <a:r>
                <a:rPr b="0" lang="en" sz="1050">
                  <a:solidFill>
                    <a:srgbClr val="3C4043"/>
                  </a:solidFill>
                  <a:latin typeface="Roboto"/>
                  <a:ea typeface="Roboto"/>
                  <a:cs typeface="Roboto"/>
                  <a:sym typeface="Roboto"/>
                </a:rPr>
                <a:t>Extremely subtle distinctions in clinical documentation result in a vast array of potential code combinations.</a:t>
              </a:r>
              <a:endParaRPr b="0" sz="1050">
                <a:solidFill>
                  <a:srgbClr val="3C4043"/>
                </a:solidFill>
                <a:latin typeface="Roboto"/>
                <a:ea typeface="Roboto"/>
                <a:cs typeface="Roboto"/>
                <a:sym typeface="Roboto"/>
              </a:endParaRPr>
            </a:p>
          </p:txBody>
        </p:sp>
      </p:grpSp>
      <p:grpSp>
        <p:nvGrpSpPr>
          <p:cNvPr id="156" name="Google Shape;156;p23"/>
          <p:cNvGrpSpPr/>
          <p:nvPr/>
        </p:nvGrpSpPr>
        <p:grpSpPr>
          <a:xfrm>
            <a:off x="6134100" y="1905000"/>
            <a:ext cx="2533800" cy="2857500"/>
            <a:chOff x="0" y="0"/>
            <a:chExt cx="2533800" cy="2857500"/>
          </a:xfrm>
        </p:grpSpPr>
        <p:sp>
          <p:nvSpPr>
            <p:cNvPr id="157" name="Google Shape;157;p23"/>
            <p:cNvSpPr/>
            <p:nvPr/>
          </p:nvSpPr>
          <p:spPr>
            <a:xfrm>
              <a:off x="0" y="0"/>
              <a:ext cx="2533800" cy="2857500"/>
            </a:xfrm>
            <a:prstGeom prst="roundRect">
              <a:avLst>
                <a:gd fmla="val 45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23"/>
            <p:cNvSpPr/>
            <p:nvPr/>
          </p:nvSpPr>
          <p:spPr>
            <a:xfrm>
              <a:off x="190500" y="228600"/>
              <a:ext cx="857400" cy="285900"/>
            </a:xfrm>
            <a:prstGeom prst="roundRect">
              <a:avLst>
                <a:gd fmla="val 20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23"/>
            <p:cNvSpPr txBox="1"/>
            <p:nvPr/>
          </p:nvSpPr>
          <p:spPr>
            <a:xfrm>
              <a:off x="190500" y="228600"/>
              <a:ext cx="857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174EA6"/>
                  </a:solidFill>
                  <a:latin typeface="Roboto"/>
                  <a:ea typeface="Roboto"/>
                  <a:cs typeface="Roboto"/>
                  <a:sym typeface="Roboto"/>
                </a:rPr>
                <a:t>ACCURACY</a:t>
              </a:r>
              <a:endParaRPr b="1" sz="1100">
                <a:solidFill>
                  <a:srgbClr val="174EA6"/>
                </a:solidFill>
                <a:latin typeface="Roboto"/>
                <a:ea typeface="Roboto"/>
                <a:cs typeface="Roboto"/>
                <a:sym typeface="Roboto"/>
              </a:endParaRPr>
            </a:p>
          </p:txBody>
        </p:sp>
        <p:sp>
          <p:nvSpPr>
            <p:cNvPr id="160" name="Google Shape;160;p23"/>
            <p:cNvSpPr txBox="1"/>
            <p:nvPr/>
          </p:nvSpPr>
          <p:spPr>
            <a:xfrm>
              <a:off x="190500" y="647700"/>
              <a:ext cx="21528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Precision Demands</a:t>
              </a:r>
              <a:endParaRPr b="1" sz="1400">
                <a:solidFill>
                  <a:srgbClr val="1A73E8"/>
                </a:solidFill>
                <a:latin typeface="Roboto"/>
                <a:ea typeface="Roboto"/>
                <a:cs typeface="Roboto"/>
                <a:sym typeface="Roboto"/>
              </a:endParaRPr>
            </a:p>
            <a:p>
              <a:pPr indent="0" lvl="0" marL="0" rtl="0" algn="l">
                <a:spcBef>
                  <a:spcPts val="800"/>
                </a:spcBef>
                <a:spcAft>
                  <a:spcPts val="0"/>
                </a:spcAft>
                <a:buNone/>
              </a:pPr>
              <a:r>
                <a:rPr b="0" lang="en" sz="1050">
                  <a:solidFill>
                    <a:srgbClr val="3C4043"/>
                  </a:solidFill>
                  <a:latin typeface="Roboto"/>
                  <a:ea typeface="Roboto"/>
                  <a:cs typeface="Roboto"/>
                  <a:sym typeface="Roboto"/>
                </a:rPr>
                <a:t>Maintaining high accuracy consistently is difficult due to human error, leading to claim rejections and delays.</a:t>
              </a:r>
              <a:endParaRPr b="0" sz="1050">
                <a:solidFill>
                  <a:srgbClr val="3C4043"/>
                </a:solidFill>
                <a:latin typeface="Roboto"/>
                <a:ea typeface="Roboto"/>
                <a:cs typeface="Roboto"/>
                <a:sym typeface="Roboto"/>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4"/>
          <p:cNvSpPr/>
          <p:nvPr/>
        </p:nvSpPr>
        <p:spPr>
          <a:xfrm>
            <a:off x="0" y="1143000"/>
            <a:ext cx="9144000" cy="4000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24"/>
          <p:cNvSpPr txBox="1"/>
          <p:nvPr>
            <p:ph type="title"/>
          </p:nvPr>
        </p:nvSpPr>
        <p:spPr>
          <a:xfrm>
            <a:off x="476250" y="238125"/>
            <a:ext cx="81915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 sz="2800">
                <a:solidFill>
                  <a:srgbClr val="FFFFFF"/>
                </a:solidFill>
                <a:latin typeface="Roboto"/>
                <a:ea typeface="Roboto"/>
                <a:cs typeface="Roboto"/>
                <a:sym typeface="Roboto"/>
              </a:rPr>
              <a:t>What Is Fine-Tuning?</a:t>
            </a:r>
            <a:endParaRPr b="1" sz="2800">
              <a:solidFill>
                <a:srgbClr val="FFFFFF"/>
              </a:solidFill>
              <a:latin typeface="Roboto"/>
              <a:ea typeface="Roboto"/>
              <a:cs typeface="Roboto"/>
              <a:sym typeface="Roboto"/>
            </a:endParaRPr>
          </a:p>
        </p:txBody>
      </p:sp>
      <p:grpSp>
        <p:nvGrpSpPr>
          <p:cNvPr id="167" name="Google Shape;167;p24"/>
          <p:cNvGrpSpPr/>
          <p:nvPr/>
        </p:nvGrpSpPr>
        <p:grpSpPr>
          <a:xfrm>
            <a:off x="476250" y="1524000"/>
            <a:ext cx="3905400" cy="3048000"/>
            <a:chOff x="0" y="0"/>
            <a:chExt cx="3905400" cy="3048000"/>
          </a:xfrm>
        </p:grpSpPr>
        <p:sp>
          <p:nvSpPr>
            <p:cNvPr id="168" name="Google Shape;168;p24"/>
            <p:cNvSpPr/>
            <p:nvPr/>
          </p:nvSpPr>
          <p:spPr>
            <a:xfrm>
              <a:off x="0" y="0"/>
              <a:ext cx="3905400" cy="3048000"/>
            </a:xfrm>
            <a:prstGeom prst="roundRect">
              <a:avLst>
                <a:gd fmla="val 37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24"/>
            <p:cNvSpPr/>
            <p:nvPr/>
          </p:nvSpPr>
          <p:spPr>
            <a:xfrm>
              <a:off x="285750" y="285750"/>
              <a:ext cx="1047900" cy="304800"/>
            </a:xfrm>
            <a:prstGeom prst="roundRect">
              <a:avLst>
                <a:gd fmla="val 187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24"/>
            <p:cNvSpPr txBox="1"/>
            <p:nvPr/>
          </p:nvSpPr>
          <p:spPr>
            <a:xfrm>
              <a:off x="285750" y="285750"/>
              <a:ext cx="10479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174EA6"/>
                  </a:solidFill>
                  <a:latin typeface="Roboto"/>
                  <a:ea typeface="Roboto"/>
                  <a:cs typeface="Roboto"/>
                  <a:sym typeface="Roboto"/>
                </a:rPr>
                <a:t>PROCESS</a:t>
              </a:r>
              <a:endParaRPr b="1" sz="1100">
                <a:solidFill>
                  <a:srgbClr val="174EA6"/>
                </a:solidFill>
                <a:latin typeface="Roboto"/>
                <a:ea typeface="Roboto"/>
                <a:cs typeface="Roboto"/>
                <a:sym typeface="Roboto"/>
              </a:endParaRPr>
            </a:p>
          </p:txBody>
        </p:sp>
        <p:sp>
          <p:nvSpPr>
            <p:cNvPr id="171" name="Google Shape;171;p24"/>
            <p:cNvSpPr txBox="1"/>
            <p:nvPr/>
          </p:nvSpPr>
          <p:spPr>
            <a:xfrm>
              <a:off x="285750" y="762000"/>
              <a:ext cx="33339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1A73E8"/>
                  </a:solidFill>
                  <a:latin typeface="Roboto"/>
                  <a:ea typeface="Roboto"/>
                  <a:cs typeface="Roboto"/>
                  <a:sym typeface="Roboto"/>
                </a:rPr>
                <a:t>Downstream Adaptation</a:t>
              </a:r>
              <a:endParaRPr b="1" sz="1500">
                <a:solidFill>
                  <a:srgbClr val="1A73E8"/>
                </a:solidFill>
                <a:latin typeface="Roboto"/>
                <a:ea typeface="Roboto"/>
                <a:cs typeface="Roboto"/>
                <a:sym typeface="Roboto"/>
              </a:endParaRPr>
            </a:p>
            <a:p>
              <a:pPr indent="0" lvl="0" marL="0" rtl="0" algn="l">
                <a:spcBef>
                  <a:spcPts val="900"/>
                </a:spcBef>
                <a:spcAft>
                  <a:spcPts val="0"/>
                </a:spcAft>
                <a:buNone/>
              </a:pPr>
              <a:r>
                <a:rPr b="0" lang="en" sz="1200">
                  <a:solidFill>
                    <a:srgbClr val="3C4043"/>
                  </a:solidFill>
                  <a:latin typeface="Roboto"/>
                  <a:ea typeface="Roboto"/>
                  <a:cs typeface="Roboto"/>
                  <a:sym typeface="Roboto"/>
                </a:rPr>
                <a:t>Fine-tuning is the process of taking a pretrained model and completing further rounds of training to adapt it to a downstream task.</a:t>
              </a:r>
              <a:endParaRPr b="0" sz="1200">
                <a:solidFill>
                  <a:srgbClr val="3C4043"/>
                </a:solidFill>
                <a:latin typeface="Roboto"/>
                <a:ea typeface="Roboto"/>
                <a:cs typeface="Roboto"/>
                <a:sym typeface="Roboto"/>
              </a:endParaRPr>
            </a:p>
          </p:txBody>
        </p:sp>
      </p:grpSp>
      <p:grpSp>
        <p:nvGrpSpPr>
          <p:cNvPr id="172" name="Google Shape;172;p24"/>
          <p:cNvGrpSpPr/>
          <p:nvPr/>
        </p:nvGrpSpPr>
        <p:grpSpPr>
          <a:xfrm>
            <a:off x="4762500" y="1524000"/>
            <a:ext cx="3905400" cy="3048000"/>
            <a:chOff x="0" y="0"/>
            <a:chExt cx="3905400" cy="3048000"/>
          </a:xfrm>
        </p:grpSpPr>
        <p:sp>
          <p:nvSpPr>
            <p:cNvPr id="173" name="Google Shape;173;p24"/>
            <p:cNvSpPr/>
            <p:nvPr/>
          </p:nvSpPr>
          <p:spPr>
            <a:xfrm>
              <a:off x="0" y="0"/>
              <a:ext cx="3905400" cy="3048000"/>
            </a:xfrm>
            <a:prstGeom prst="roundRect">
              <a:avLst>
                <a:gd fmla="val 37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24"/>
            <p:cNvSpPr/>
            <p:nvPr/>
          </p:nvSpPr>
          <p:spPr>
            <a:xfrm>
              <a:off x="285750" y="285750"/>
              <a:ext cx="1047900" cy="304800"/>
            </a:xfrm>
            <a:prstGeom prst="roundRect">
              <a:avLst>
                <a:gd fmla="val 187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24"/>
            <p:cNvSpPr txBox="1"/>
            <p:nvPr/>
          </p:nvSpPr>
          <p:spPr>
            <a:xfrm>
              <a:off x="285750" y="285750"/>
              <a:ext cx="10479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174EA6"/>
                  </a:solidFill>
                  <a:latin typeface="Roboto"/>
                  <a:ea typeface="Roboto"/>
                  <a:cs typeface="Roboto"/>
                  <a:sym typeface="Roboto"/>
                </a:rPr>
                <a:t>ADVANTAGE</a:t>
              </a:r>
              <a:endParaRPr b="1" sz="1100">
                <a:solidFill>
                  <a:srgbClr val="174EA6"/>
                </a:solidFill>
                <a:latin typeface="Roboto"/>
                <a:ea typeface="Roboto"/>
                <a:cs typeface="Roboto"/>
                <a:sym typeface="Roboto"/>
              </a:endParaRPr>
            </a:p>
          </p:txBody>
        </p:sp>
        <p:sp>
          <p:nvSpPr>
            <p:cNvPr id="176" name="Google Shape;176;p24"/>
            <p:cNvSpPr txBox="1"/>
            <p:nvPr/>
          </p:nvSpPr>
          <p:spPr>
            <a:xfrm>
              <a:off x="285750" y="762000"/>
              <a:ext cx="33339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1A73E8"/>
                  </a:solidFill>
                  <a:latin typeface="Roboto"/>
                  <a:ea typeface="Roboto"/>
                  <a:cs typeface="Roboto"/>
                  <a:sym typeface="Roboto"/>
                </a:rPr>
                <a:t>Resource Efficiency</a:t>
              </a:r>
              <a:endParaRPr b="1" sz="1500">
                <a:solidFill>
                  <a:srgbClr val="1A73E8"/>
                </a:solidFill>
                <a:latin typeface="Roboto"/>
                <a:ea typeface="Roboto"/>
                <a:cs typeface="Roboto"/>
                <a:sym typeface="Roboto"/>
              </a:endParaRPr>
            </a:p>
            <a:p>
              <a:pPr indent="0" lvl="0" marL="0" rtl="0" algn="l">
                <a:spcBef>
                  <a:spcPts val="900"/>
                </a:spcBef>
                <a:spcAft>
                  <a:spcPts val="0"/>
                </a:spcAft>
                <a:buNone/>
              </a:pPr>
              <a:r>
                <a:rPr b="0" lang="en" sz="1200">
                  <a:solidFill>
                    <a:srgbClr val="3C4043"/>
                  </a:solidFill>
                  <a:latin typeface="Roboto"/>
                  <a:ea typeface="Roboto"/>
                  <a:cs typeface="Roboto"/>
                  <a:sym typeface="Roboto"/>
                </a:rPr>
                <a:t>This allows pretrained weights to be repurposed for new tasks without the need to train a new model from scratch, which can be very expensive.</a:t>
              </a:r>
              <a:endParaRPr b="0" sz="1200">
                <a:solidFill>
                  <a:srgbClr val="3C4043"/>
                </a:solidFill>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5F4"/>
        </a:solidFill>
      </p:bgPr>
    </p:bg>
    <p:spTree>
      <p:nvGrpSpPr>
        <p:cNvPr id="180" name="Shape 180"/>
        <p:cNvGrpSpPr/>
        <p:nvPr/>
      </p:nvGrpSpPr>
      <p:grpSpPr>
        <a:xfrm>
          <a:off x="0" y="0"/>
          <a:ext cx="0" cy="0"/>
          <a:chOff x="0" y="0"/>
          <a:chExt cx="0" cy="0"/>
        </a:xfrm>
      </p:grpSpPr>
      <p:sp>
        <p:nvSpPr>
          <p:cNvPr id="181" name="Google Shape;181;p25"/>
          <p:cNvSpPr/>
          <p:nvPr/>
        </p:nvSpPr>
        <p:spPr>
          <a:xfrm>
            <a:off x="0" y="1143000"/>
            <a:ext cx="9144000" cy="4000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25"/>
          <p:cNvSpPr txBox="1"/>
          <p:nvPr/>
        </p:nvSpPr>
        <p:spPr>
          <a:xfrm>
            <a:off x="476250" y="238125"/>
            <a:ext cx="81915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FFFFFF"/>
                </a:solidFill>
                <a:latin typeface="Roboto"/>
                <a:ea typeface="Roboto"/>
                <a:cs typeface="Roboto"/>
                <a:sym typeface="Roboto"/>
              </a:rPr>
              <a:t>Advantages of Pretraining &amp; Fine-Tuning</a:t>
            </a:r>
            <a:endParaRPr b="1" sz="2800">
              <a:solidFill>
                <a:srgbClr val="FFFFFF"/>
              </a:solidFill>
              <a:latin typeface="Roboto"/>
              <a:ea typeface="Roboto"/>
              <a:cs typeface="Roboto"/>
              <a:sym typeface="Roboto"/>
            </a:endParaRPr>
          </a:p>
        </p:txBody>
      </p:sp>
      <p:grpSp>
        <p:nvGrpSpPr>
          <p:cNvPr id="183" name="Google Shape;183;p25"/>
          <p:cNvGrpSpPr/>
          <p:nvPr/>
        </p:nvGrpSpPr>
        <p:grpSpPr>
          <a:xfrm>
            <a:off x="476250" y="1714500"/>
            <a:ext cx="2533800" cy="3048000"/>
            <a:chOff x="0" y="0"/>
            <a:chExt cx="2533800" cy="3048000"/>
          </a:xfrm>
        </p:grpSpPr>
        <p:sp>
          <p:nvSpPr>
            <p:cNvPr id="184" name="Google Shape;184;p25"/>
            <p:cNvSpPr/>
            <p:nvPr/>
          </p:nvSpPr>
          <p:spPr>
            <a:xfrm>
              <a:off x="0" y="0"/>
              <a:ext cx="2533800" cy="3048000"/>
            </a:xfrm>
            <a:prstGeom prst="roundRect">
              <a:avLst>
                <a:gd fmla="val 45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25"/>
            <p:cNvSpPr/>
            <p:nvPr/>
          </p:nvSpPr>
          <p:spPr>
            <a:xfrm>
              <a:off x="190500" y="228600"/>
              <a:ext cx="952500" cy="285900"/>
            </a:xfrm>
            <a:prstGeom prst="roundRect">
              <a:avLst>
                <a:gd fmla="val 20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25"/>
            <p:cNvSpPr txBox="1"/>
            <p:nvPr/>
          </p:nvSpPr>
          <p:spPr>
            <a:xfrm>
              <a:off x="190500" y="228600"/>
              <a:ext cx="952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35">
                  <a:solidFill>
                    <a:srgbClr val="174EA6"/>
                  </a:solidFill>
                  <a:latin typeface="Roboto"/>
                  <a:ea typeface="Roboto"/>
                  <a:cs typeface="Roboto"/>
                  <a:sym typeface="Roboto"/>
                </a:rPr>
                <a:t>COST &amp; LATENCY</a:t>
              </a:r>
              <a:endParaRPr b="1" sz="935">
                <a:solidFill>
                  <a:srgbClr val="174EA6"/>
                </a:solidFill>
                <a:latin typeface="Roboto"/>
                <a:ea typeface="Roboto"/>
                <a:cs typeface="Roboto"/>
                <a:sym typeface="Roboto"/>
              </a:endParaRPr>
            </a:p>
          </p:txBody>
        </p:sp>
        <p:sp>
          <p:nvSpPr>
            <p:cNvPr id="187" name="Google Shape;187;p25"/>
            <p:cNvSpPr txBox="1"/>
            <p:nvPr/>
          </p:nvSpPr>
          <p:spPr>
            <a:xfrm>
              <a:off x="190500" y="685800"/>
              <a:ext cx="2152800" cy="213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Resource Efficiency</a:t>
              </a:r>
              <a:endParaRPr b="1" sz="1400">
                <a:solidFill>
                  <a:srgbClr val="1A73E8"/>
                </a:solidFill>
                <a:latin typeface="Roboto"/>
                <a:ea typeface="Roboto"/>
                <a:cs typeface="Roboto"/>
                <a:sym typeface="Roboto"/>
              </a:endParaRPr>
            </a:p>
            <a:p>
              <a:pPr indent="0" lvl="0" marL="0" rtl="0" algn="l">
                <a:spcBef>
                  <a:spcPts val="800"/>
                </a:spcBef>
                <a:spcAft>
                  <a:spcPts val="0"/>
                </a:spcAft>
                <a:buNone/>
              </a:pPr>
              <a:r>
                <a:rPr b="0" lang="en" sz="1050">
                  <a:solidFill>
                    <a:srgbClr val="3C4043"/>
                  </a:solidFill>
                  <a:latin typeface="Roboto"/>
                  <a:ea typeface="Roboto"/>
                  <a:cs typeface="Roboto"/>
                  <a:sym typeface="Roboto"/>
                </a:rPr>
                <a:t>Fine-tuned smaller models require significantly lower computational power, dramatically reducing inference latency and cloud hosting </a:t>
              </a:r>
              <a:r>
                <a:rPr lang="en" sz="1050">
                  <a:solidFill>
                    <a:srgbClr val="3C4043"/>
                  </a:solidFill>
                  <a:latin typeface="Roboto"/>
                  <a:ea typeface="Roboto"/>
                  <a:cs typeface="Roboto"/>
                  <a:sym typeface="Roboto"/>
                </a:rPr>
                <a:t>costs </a:t>
              </a:r>
              <a:r>
                <a:rPr b="0" lang="en" sz="1050">
                  <a:solidFill>
                    <a:srgbClr val="3C4043"/>
                  </a:solidFill>
                  <a:latin typeface="Roboto"/>
                  <a:ea typeface="Roboto"/>
                  <a:cs typeface="Roboto"/>
                  <a:sym typeface="Roboto"/>
                </a:rPr>
                <a:t>compared to massive LLMs.</a:t>
              </a:r>
              <a:endParaRPr b="0" sz="1050">
                <a:solidFill>
                  <a:srgbClr val="3C4043"/>
                </a:solidFill>
                <a:latin typeface="Roboto"/>
                <a:ea typeface="Roboto"/>
                <a:cs typeface="Roboto"/>
                <a:sym typeface="Roboto"/>
              </a:endParaRPr>
            </a:p>
          </p:txBody>
        </p:sp>
      </p:grpSp>
      <p:grpSp>
        <p:nvGrpSpPr>
          <p:cNvPr id="188" name="Google Shape;188;p25"/>
          <p:cNvGrpSpPr/>
          <p:nvPr/>
        </p:nvGrpSpPr>
        <p:grpSpPr>
          <a:xfrm>
            <a:off x="3305175" y="1714500"/>
            <a:ext cx="2533800" cy="3048000"/>
            <a:chOff x="0" y="0"/>
            <a:chExt cx="2533800" cy="3048000"/>
          </a:xfrm>
        </p:grpSpPr>
        <p:sp>
          <p:nvSpPr>
            <p:cNvPr id="189" name="Google Shape;189;p25"/>
            <p:cNvSpPr/>
            <p:nvPr/>
          </p:nvSpPr>
          <p:spPr>
            <a:xfrm>
              <a:off x="0" y="0"/>
              <a:ext cx="2533800" cy="3048000"/>
            </a:xfrm>
            <a:prstGeom prst="roundRect">
              <a:avLst>
                <a:gd fmla="val 45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25"/>
            <p:cNvSpPr/>
            <p:nvPr/>
          </p:nvSpPr>
          <p:spPr>
            <a:xfrm>
              <a:off x="190500" y="228600"/>
              <a:ext cx="952500" cy="285900"/>
            </a:xfrm>
            <a:prstGeom prst="roundRect">
              <a:avLst>
                <a:gd fmla="val 20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25"/>
            <p:cNvSpPr txBox="1"/>
            <p:nvPr/>
          </p:nvSpPr>
          <p:spPr>
            <a:xfrm>
              <a:off x="190500" y="228600"/>
              <a:ext cx="952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35">
                  <a:solidFill>
                    <a:srgbClr val="174EA6"/>
                  </a:solidFill>
                  <a:latin typeface="Roboto"/>
                  <a:ea typeface="Roboto"/>
                  <a:cs typeface="Roboto"/>
                  <a:sym typeface="Roboto"/>
                </a:rPr>
                <a:t>PRECISION</a:t>
              </a:r>
              <a:endParaRPr b="1" sz="935">
                <a:solidFill>
                  <a:srgbClr val="174EA6"/>
                </a:solidFill>
                <a:latin typeface="Roboto"/>
                <a:ea typeface="Roboto"/>
                <a:cs typeface="Roboto"/>
                <a:sym typeface="Roboto"/>
              </a:endParaRPr>
            </a:p>
          </p:txBody>
        </p:sp>
        <p:sp>
          <p:nvSpPr>
            <p:cNvPr id="192" name="Google Shape;192;p25"/>
            <p:cNvSpPr txBox="1"/>
            <p:nvPr/>
          </p:nvSpPr>
          <p:spPr>
            <a:xfrm>
              <a:off x="190500" y="685800"/>
              <a:ext cx="2152800" cy="213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Domain Specificity</a:t>
              </a:r>
              <a:endParaRPr b="1" sz="1400">
                <a:solidFill>
                  <a:srgbClr val="1A73E8"/>
                </a:solidFill>
                <a:latin typeface="Roboto"/>
                <a:ea typeface="Roboto"/>
                <a:cs typeface="Roboto"/>
                <a:sym typeface="Roboto"/>
              </a:endParaRPr>
            </a:p>
            <a:p>
              <a:pPr indent="0" lvl="0" marL="0" rtl="0" algn="l">
                <a:spcBef>
                  <a:spcPts val="800"/>
                </a:spcBef>
                <a:spcAft>
                  <a:spcPts val="0"/>
                </a:spcAft>
                <a:buNone/>
              </a:pPr>
              <a:r>
                <a:rPr b="0" lang="en" sz="1050">
                  <a:solidFill>
                    <a:srgbClr val="3C4043"/>
                  </a:solidFill>
                  <a:latin typeface="Roboto"/>
                  <a:ea typeface="Roboto"/>
                  <a:cs typeface="Roboto"/>
                  <a:sym typeface="Roboto"/>
                </a:rPr>
                <a:t>By training on specialized datasets (e.g., medical ICD-10 coding), small models achieve higher domain accuracy and fewer hallucinations on focused downstream tasks.</a:t>
              </a:r>
              <a:endParaRPr b="0" sz="1050">
                <a:solidFill>
                  <a:srgbClr val="3C4043"/>
                </a:solidFill>
                <a:latin typeface="Roboto"/>
                <a:ea typeface="Roboto"/>
                <a:cs typeface="Roboto"/>
                <a:sym typeface="Roboto"/>
              </a:endParaRPr>
            </a:p>
          </p:txBody>
        </p:sp>
      </p:grpSp>
      <p:grpSp>
        <p:nvGrpSpPr>
          <p:cNvPr id="193" name="Google Shape;193;p25"/>
          <p:cNvGrpSpPr/>
          <p:nvPr/>
        </p:nvGrpSpPr>
        <p:grpSpPr>
          <a:xfrm>
            <a:off x="6134100" y="1714500"/>
            <a:ext cx="2533800" cy="3048000"/>
            <a:chOff x="0" y="0"/>
            <a:chExt cx="2533800" cy="3048000"/>
          </a:xfrm>
        </p:grpSpPr>
        <p:sp>
          <p:nvSpPr>
            <p:cNvPr id="194" name="Google Shape;194;p25"/>
            <p:cNvSpPr/>
            <p:nvPr/>
          </p:nvSpPr>
          <p:spPr>
            <a:xfrm>
              <a:off x="0" y="0"/>
              <a:ext cx="2533800" cy="3048000"/>
            </a:xfrm>
            <a:prstGeom prst="roundRect">
              <a:avLst>
                <a:gd fmla="val 45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25"/>
            <p:cNvSpPr/>
            <p:nvPr/>
          </p:nvSpPr>
          <p:spPr>
            <a:xfrm>
              <a:off x="190500" y="228600"/>
              <a:ext cx="952500" cy="285900"/>
            </a:xfrm>
            <a:prstGeom prst="roundRect">
              <a:avLst>
                <a:gd fmla="val 20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25"/>
            <p:cNvSpPr txBox="1"/>
            <p:nvPr/>
          </p:nvSpPr>
          <p:spPr>
            <a:xfrm>
              <a:off x="190500" y="228600"/>
              <a:ext cx="952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35">
                  <a:solidFill>
                    <a:srgbClr val="174EA6"/>
                  </a:solidFill>
                  <a:latin typeface="Roboto"/>
                  <a:ea typeface="Roboto"/>
                  <a:cs typeface="Roboto"/>
                  <a:sym typeface="Roboto"/>
                </a:rPr>
                <a:t>CONTROL</a:t>
              </a:r>
              <a:endParaRPr b="1" sz="935">
                <a:solidFill>
                  <a:srgbClr val="174EA6"/>
                </a:solidFill>
                <a:latin typeface="Roboto"/>
                <a:ea typeface="Roboto"/>
                <a:cs typeface="Roboto"/>
                <a:sym typeface="Roboto"/>
              </a:endParaRPr>
            </a:p>
          </p:txBody>
        </p:sp>
        <p:sp>
          <p:nvSpPr>
            <p:cNvPr id="197" name="Google Shape;197;p25"/>
            <p:cNvSpPr txBox="1"/>
            <p:nvPr/>
          </p:nvSpPr>
          <p:spPr>
            <a:xfrm>
              <a:off x="190500" y="685800"/>
              <a:ext cx="2152800" cy="213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Privacy &amp; Deployment</a:t>
              </a:r>
              <a:endParaRPr b="1" sz="1400">
                <a:solidFill>
                  <a:srgbClr val="1A73E8"/>
                </a:solidFill>
                <a:latin typeface="Roboto"/>
                <a:ea typeface="Roboto"/>
                <a:cs typeface="Roboto"/>
                <a:sym typeface="Roboto"/>
              </a:endParaRPr>
            </a:p>
            <a:p>
              <a:pPr indent="0" lvl="0" marL="0" rtl="0" algn="l">
                <a:spcBef>
                  <a:spcPts val="800"/>
                </a:spcBef>
                <a:spcAft>
                  <a:spcPts val="0"/>
                </a:spcAft>
                <a:buNone/>
              </a:pPr>
              <a:r>
                <a:rPr b="0" lang="en" sz="1050">
                  <a:solidFill>
                    <a:srgbClr val="3C4043"/>
                  </a:solidFill>
                  <a:latin typeface="Roboto"/>
                  <a:ea typeface="Roboto"/>
                  <a:cs typeface="Roboto"/>
                  <a:sym typeface="Roboto"/>
                </a:rPr>
                <a:t>Compact models can easily be </a:t>
              </a:r>
              <a:r>
                <a:rPr lang="en" sz="1050">
                  <a:solidFill>
                    <a:srgbClr val="3C4043"/>
                  </a:solidFill>
                  <a:latin typeface="Roboto"/>
                  <a:ea typeface="Roboto"/>
                  <a:cs typeface="Roboto"/>
                  <a:sym typeface="Roboto"/>
                </a:rPr>
                <a:t>deployed on local machines, preserving patient privacy. This is important when considering the restrictions of the MIMIC-IV dataset and of healthcare data as a whole.</a:t>
              </a:r>
              <a:endParaRPr b="0" sz="1050">
                <a:solidFill>
                  <a:srgbClr val="3C4043"/>
                </a:solidFill>
                <a:latin typeface="Roboto"/>
                <a:ea typeface="Roboto"/>
                <a:cs typeface="Roboto"/>
                <a:sym typeface="Robo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5F4"/>
        </a:solidFill>
      </p:bgPr>
    </p:bg>
    <p:spTree>
      <p:nvGrpSpPr>
        <p:cNvPr id="201" name="Shape 201"/>
        <p:cNvGrpSpPr/>
        <p:nvPr/>
      </p:nvGrpSpPr>
      <p:grpSpPr>
        <a:xfrm>
          <a:off x="0" y="0"/>
          <a:ext cx="0" cy="0"/>
          <a:chOff x="0" y="0"/>
          <a:chExt cx="0" cy="0"/>
        </a:xfrm>
      </p:grpSpPr>
      <p:sp>
        <p:nvSpPr>
          <p:cNvPr id="202" name="Google Shape;202;p26"/>
          <p:cNvSpPr/>
          <p:nvPr/>
        </p:nvSpPr>
        <p:spPr>
          <a:xfrm>
            <a:off x="0" y="1143000"/>
            <a:ext cx="9144000" cy="4000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26"/>
          <p:cNvSpPr txBox="1"/>
          <p:nvPr/>
        </p:nvSpPr>
        <p:spPr>
          <a:xfrm>
            <a:off x="476250" y="238125"/>
            <a:ext cx="81915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FFFFFF"/>
                </a:solidFill>
                <a:latin typeface="Roboto"/>
                <a:ea typeface="Roboto"/>
                <a:cs typeface="Roboto"/>
                <a:sym typeface="Roboto"/>
              </a:rPr>
              <a:t>Pretrained Model Selection</a:t>
            </a:r>
            <a:endParaRPr b="1" sz="2800">
              <a:solidFill>
                <a:srgbClr val="FFFFFF"/>
              </a:solidFill>
              <a:latin typeface="Roboto"/>
              <a:ea typeface="Roboto"/>
              <a:cs typeface="Roboto"/>
              <a:sym typeface="Roboto"/>
            </a:endParaRPr>
          </a:p>
        </p:txBody>
      </p:sp>
      <p:grpSp>
        <p:nvGrpSpPr>
          <p:cNvPr id="204" name="Google Shape;204;p26"/>
          <p:cNvGrpSpPr/>
          <p:nvPr/>
        </p:nvGrpSpPr>
        <p:grpSpPr>
          <a:xfrm>
            <a:off x="333375" y="1524000"/>
            <a:ext cx="1952700" cy="3238500"/>
            <a:chOff x="0" y="0"/>
            <a:chExt cx="1952700" cy="3238500"/>
          </a:xfrm>
        </p:grpSpPr>
        <p:sp>
          <p:nvSpPr>
            <p:cNvPr id="205" name="Google Shape;205;p26"/>
            <p:cNvSpPr/>
            <p:nvPr/>
          </p:nvSpPr>
          <p:spPr>
            <a:xfrm>
              <a:off x="0" y="0"/>
              <a:ext cx="1952700" cy="3238500"/>
            </a:xfrm>
            <a:prstGeom prst="roundRect">
              <a:avLst>
                <a:gd fmla="val 58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26"/>
            <p:cNvSpPr txBox="1"/>
            <p:nvPr/>
          </p:nvSpPr>
          <p:spPr>
            <a:xfrm>
              <a:off x="142875" y="571500"/>
              <a:ext cx="16668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A73E8"/>
                  </a:solidFill>
                  <a:latin typeface="Roboto"/>
                  <a:ea typeface="Roboto"/>
                  <a:cs typeface="Roboto"/>
                  <a:sym typeface="Roboto"/>
                </a:rPr>
                <a:t>BERT Base</a:t>
              </a:r>
              <a:endParaRPr b="1" sz="1300">
                <a:solidFill>
                  <a:srgbClr val="1A73E8"/>
                </a:solidFill>
                <a:latin typeface="Roboto"/>
                <a:ea typeface="Roboto"/>
                <a:cs typeface="Roboto"/>
                <a:sym typeface="Roboto"/>
              </a:endParaRPr>
            </a:p>
            <a:p>
              <a:pPr indent="0" lvl="0" marL="0" rtl="0" algn="l">
                <a:spcBef>
                  <a:spcPts val="600"/>
                </a:spcBef>
                <a:spcAft>
                  <a:spcPts val="0"/>
                </a:spcAft>
                <a:buNone/>
              </a:pPr>
              <a:r>
                <a:rPr b="1" lang="en" sz="1000">
                  <a:solidFill>
                    <a:srgbClr val="1A73E8"/>
                  </a:solidFill>
                  <a:latin typeface="Roboto"/>
                  <a:ea typeface="Roboto"/>
                  <a:cs typeface="Roboto"/>
                  <a:sym typeface="Roboto"/>
                </a:rPr>
                <a:t>Domain:</a:t>
              </a:r>
              <a:r>
                <a:rPr b="0" lang="en" sz="1000">
                  <a:solidFill>
                    <a:srgbClr val="3C4043"/>
                  </a:solidFill>
                  <a:latin typeface="Roboto"/>
                  <a:ea typeface="Roboto"/>
                  <a:cs typeface="Roboto"/>
                  <a:sym typeface="Roboto"/>
                </a:rPr>
                <a:t> General English text (Wikipedia, Books)</a:t>
              </a:r>
              <a:endParaRPr b="0" sz="1000">
                <a:solidFill>
                  <a:srgbClr val="3C4043"/>
                </a:solidFill>
                <a:latin typeface="Roboto"/>
                <a:ea typeface="Roboto"/>
                <a:cs typeface="Roboto"/>
                <a:sym typeface="Roboto"/>
              </a:endParaRPr>
            </a:p>
            <a:p>
              <a:pPr indent="0" lvl="0" marL="0" rtl="0" algn="l">
                <a:spcBef>
                  <a:spcPts val="450"/>
                </a:spcBef>
                <a:spcAft>
                  <a:spcPts val="0"/>
                </a:spcAft>
                <a:buNone/>
              </a:pPr>
              <a:r>
                <a:t/>
              </a:r>
              <a:endParaRPr sz="1000">
                <a:solidFill>
                  <a:srgbClr val="3C4043"/>
                </a:solidFill>
                <a:latin typeface="Roboto"/>
                <a:ea typeface="Roboto"/>
                <a:cs typeface="Roboto"/>
                <a:sym typeface="Roboto"/>
              </a:endParaRPr>
            </a:p>
            <a:p>
              <a:pPr indent="0" lvl="0" marL="0" rtl="0" algn="l">
                <a:spcBef>
                  <a:spcPts val="450"/>
                </a:spcBef>
                <a:spcAft>
                  <a:spcPts val="0"/>
                </a:spcAft>
                <a:buNone/>
              </a:pPr>
              <a:r>
                <a:rPr b="1" lang="en" sz="1000">
                  <a:solidFill>
                    <a:srgbClr val="1A73E8"/>
                  </a:solidFill>
                  <a:latin typeface="Roboto"/>
                  <a:ea typeface="Roboto"/>
                  <a:cs typeface="Roboto"/>
                  <a:sym typeface="Roboto"/>
                </a:rPr>
                <a:t>Context:</a:t>
              </a:r>
              <a:r>
                <a:rPr b="0" lang="en" sz="1000">
                  <a:solidFill>
                    <a:srgbClr val="3C4043"/>
                  </a:solidFill>
                  <a:latin typeface="Roboto"/>
                  <a:ea typeface="Roboto"/>
                  <a:cs typeface="Roboto"/>
                  <a:sym typeface="Roboto"/>
                </a:rPr>
                <a:t> 512 tokens max sequence length</a:t>
              </a:r>
              <a:endParaRPr b="0" sz="1000">
                <a:solidFill>
                  <a:srgbClr val="3C4043"/>
                </a:solidFill>
                <a:latin typeface="Roboto"/>
                <a:ea typeface="Roboto"/>
                <a:cs typeface="Roboto"/>
                <a:sym typeface="Roboto"/>
              </a:endParaRPr>
            </a:p>
            <a:p>
              <a:pPr indent="0" lvl="0" marL="0" rtl="0" algn="l">
                <a:spcBef>
                  <a:spcPts val="450"/>
                </a:spcBef>
                <a:spcAft>
                  <a:spcPts val="0"/>
                </a:spcAft>
                <a:buNone/>
              </a:pPr>
              <a:r>
                <a:t/>
              </a:r>
              <a:endParaRPr sz="1000">
                <a:solidFill>
                  <a:srgbClr val="3C4043"/>
                </a:solidFill>
                <a:latin typeface="Roboto"/>
                <a:ea typeface="Roboto"/>
                <a:cs typeface="Roboto"/>
                <a:sym typeface="Roboto"/>
              </a:endParaRPr>
            </a:p>
            <a:p>
              <a:pPr indent="0" lvl="0" marL="0" rtl="0" algn="l">
                <a:spcBef>
                  <a:spcPts val="450"/>
                </a:spcBef>
                <a:spcAft>
                  <a:spcPts val="0"/>
                </a:spcAft>
                <a:buNone/>
              </a:pPr>
              <a:r>
                <a:rPr b="1" lang="en" sz="1000">
                  <a:solidFill>
                    <a:srgbClr val="1A73E8"/>
                  </a:solidFill>
                  <a:latin typeface="Roboto"/>
                  <a:ea typeface="Roboto"/>
                  <a:cs typeface="Roboto"/>
                  <a:sym typeface="Roboto"/>
                </a:rPr>
                <a:t>Architecture:</a:t>
              </a:r>
              <a:r>
                <a:rPr b="0" lang="en" sz="1000">
                  <a:solidFill>
                    <a:srgbClr val="3C4043"/>
                  </a:solidFill>
                  <a:latin typeface="Roboto"/>
                  <a:ea typeface="Roboto"/>
                  <a:cs typeface="Roboto"/>
                  <a:sym typeface="Roboto"/>
                </a:rPr>
                <a:t> Standard Transformer encoder</a:t>
              </a:r>
              <a:endParaRPr b="0" sz="1000">
                <a:solidFill>
                  <a:srgbClr val="3C4043"/>
                </a:solidFill>
                <a:latin typeface="Roboto"/>
                <a:ea typeface="Roboto"/>
                <a:cs typeface="Roboto"/>
                <a:sym typeface="Roboto"/>
              </a:endParaRPr>
            </a:p>
            <a:p>
              <a:pPr indent="0" lvl="0" marL="0" rtl="0" algn="l">
                <a:spcBef>
                  <a:spcPts val="450"/>
                </a:spcBef>
                <a:spcAft>
                  <a:spcPts val="0"/>
                </a:spcAft>
                <a:buNone/>
              </a:pPr>
              <a:r>
                <a:t/>
              </a:r>
              <a:endParaRPr b="0" sz="1000">
                <a:solidFill>
                  <a:srgbClr val="3C4043"/>
                </a:solidFill>
                <a:latin typeface="Roboto"/>
                <a:ea typeface="Roboto"/>
                <a:cs typeface="Roboto"/>
                <a:sym typeface="Roboto"/>
              </a:endParaRPr>
            </a:p>
          </p:txBody>
        </p:sp>
      </p:grpSp>
      <p:grpSp>
        <p:nvGrpSpPr>
          <p:cNvPr id="207" name="Google Shape;207;p26"/>
          <p:cNvGrpSpPr/>
          <p:nvPr/>
        </p:nvGrpSpPr>
        <p:grpSpPr>
          <a:xfrm>
            <a:off x="4581525" y="1524000"/>
            <a:ext cx="1952700" cy="3238500"/>
            <a:chOff x="0" y="0"/>
            <a:chExt cx="1952700" cy="3238500"/>
          </a:xfrm>
        </p:grpSpPr>
        <p:sp>
          <p:nvSpPr>
            <p:cNvPr id="208" name="Google Shape;208;p26"/>
            <p:cNvSpPr/>
            <p:nvPr/>
          </p:nvSpPr>
          <p:spPr>
            <a:xfrm>
              <a:off x="0" y="0"/>
              <a:ext cx="1952700" cy="3238500"/>
            </a:xfrm>
            <a:prstGeom prst="roundRect">
              <a:avLst>
                <a:gd fmla="val 58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26"/>
            <p:cNvSpPr txBox="1"/>
            <p:nvPr/>
          </p:nvSpPr>
          <p:spPr>
            <a:xfrm>
              <a:off x="142875" y="571500"/>
              <a:ext cx="16668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A73E8"/>
                  </a:solidFill>
                  <a:latin typeface="Roboto"/>
                  <a:ea typeface="Roboto"/>
                  <a:cs typeface="Roboto"/>
                  <a:sym typeface="Roboto"/>
                </a:rPr>
                <a:t>ModernBERT</a:t>
              </a:r>
              <a:endParaRPr b="1" sz="1300">
                <a:solidFill>
                  <a:srgbClr val="1A73E8"/>
                </a:solidFill>
                <a:latin typeface="Roboto"/>
                <a:ea typeface="Roboto"/>
                <a:cs typeface="Roboto"/>
                <a:sym typeface="Roboto"/>
              </a:endParaRPr>
            </a:p>
            <a:p>
              <a:pPr indent="0" lvl="0" marL="0" rtl="0" algn="l">
                <a:spcBef>
                  <a:spcPts val="600"/>
                </a:spcBef>
                <a:spcAft>
                  <a:spcPts val="0"/>
                </a:spcAft>
                <a:buNone/>
              </a:pPr>
              <a:r>
                <a:rPr b="1" lang="en" sz="1000">
                  <a:solidFill>
                    <a:srgbClr val="1A73E8"/>
                  </a:solidFill>
                  <a:latin typeface="Roboto"/>
                  <a:ea typeface="Roboto"/>
                  <a:cs typeface="Roboto"/>
                  <a:sym typeface="Roboto"/>
                </a:rPr>
                <a:t>Domain:</a:t>
              </a:r>
              <a:r>
                <a:rPr b="0" lang="en" sz="1000">
                  <a:solidFill>
                    <a:srgbClr val="3C4043"/>
                  </a:solidFill>
                  <a:latin typeface="Roboto"/>
                  <a:ea typeface="Roboto"/>
                  <a:cs typeface="Roboto"/>
                  <a:sym typeface="Roboto"/>
                </a:rPr>
                <a:t> Massive updated general corpora</a:t>
              </a:r>
              <a:endParaRPr b="0" sz="1000">
                <a:solidFill>
                  <a:srgbClr val="3C4043"/>
                </a:solidFill>
                <a:latin typeface="Roboto"/>
                <a:ea typeface="Roboto"/>
                <a:cs typeface="Roboto"/>
                <a:sym typeface="Roboto"/>
              </a:endParaRPr>
            </a:p>
            <a:p>
              <a:pPr indent="0" lvl="0" marL="0" rtl="0" algn="l">
                <a:spcBef>
                  <a:spcPts val="450"/>
                </a:spcBef>
                <a:spcAft>
                  <a:spcPts val="0"/>
                </a:spcAft>
                <a:buNone/>
              </a:pPr>
              <a:r>
                <a:t/>
              </a:r>
              <a:endParaRPr sz="1000">
                <a:solidFill>
                  <a:srgbClr val="3C4043"/>
                </a:solidFill>
                <a:latin typeface="Roboto"/>
                <a:ea typeface="Roboto"/>
                <a:cs typeface="Roboto"/>
                <a:sym typeface="Roboto"/>
              </a:endParaRPr>
            </a:p>
            <a:p>
              <a:pPr indent="0" lvl="0" marL="0" rtl="0" algn="l">
                <a:spcBef>
                  <a:spcPts val="450"/>
                </a:spcBef>
                <a:spcAft>
                  <a:spcPts val="0"/>
                </a:spcAft>
                <a:buNone/>
              </a:pPr>
              <a:r>
                <a:rPr b="1" lang="en" sz="1000">
                  <a:solidFill>
                    <a:srgbClr val="1A73E8"/>
                  </a:solidFill>
                  <a:latin typeface="Roboto"/>
                  <a:ea typeface="Roboto"/>
                  <a:cs typeface="Roboto"/>
                  <a:sym typeface="Roboto"/>
                </a:rPr>
                <a:t>Context:</a:t>
              </a:r>
              <a:r>
                <a:rPr b="0" lang="en" sz="1000">
                  <a:solidFill>
                    <a:srgbClr val="3C4043"/>
                  </a:solidFill>
                  <a:latin typeface="Roboto"/>
                  <a:ea typeface="Roboto"/>
                  <a:cs typeface="Roboto"/>
                  <a:sym typeface="Roboto"/>
                </a:rPr>
                <a:t> Extended 8k+ token context window</a:t>
              </a:r>
              <a:endParaRPr b="0" sz="1000">
                <a:solidFill>
                  <a:srgbClr val="3C4043"/>
                </a:solidFill>
                <a:latin typeface="Roboto"/>
                <a:ea typeface="Roboto"/>
                <a:cs typeface="Roboto"/>
                <a:sym typeface="Roboto"/>
              </a:endParaRPr>
            </a:p>
            <a:p>
              <a:pPr indent="0" lvl="0" marL="0" rtl="0" algn="l">
                <a:spcBef>
                  <a:spcPts val="450"/>
                </a:spcBef>
                <a:spcAft>
                  <a:spcPts val="0"/>
                </a:spcAft>
                <a:buNone/>
              </a:pPr>
              <a:r>
                <a:t/>
              </a:r>
              <a:endParaRPr sz="1000">
                <a:solidFill>
                  <a:srgbClr val="3C4043"/>
                </a:solidFill>
                <a:latin typeface="Roboto"/>
                <a:ea typeface="Roboto"/>
                <a:cs typeface="Roboto"/>
                <a:sym typeface="Roboto"/>
              </a:endParaRPr>
            </a:p>
            <a:p>
              <a:pPr indent="0" lvl="0" marL="0" rtl="0" algn="l">
                <a:spcBef>
                  <a:spcPts val="450"/>
                </a:spcBef>
                <a:spcAft>
                  <a:spcPts val="0"/>
                </a:spcAft>
                <a:buNone/>
              </a:pPr>
              <a:r>
                <a:rPr b="1" lang="en" sz="1000">
                  <a:solidFill>
                    <a:srgbClr val="1A73E8"/>
                  </a:solidFill>
                  <a:latin typeface="Roboto"/>
                  <a:ea typeface="Roboto"/>
                  <a:cs typeface="Roboto"/>
                  <a:sym typeface="Roboto"/>
                </a:rPr>
                <a:t>Architecture:</a:t>
              </a:r>
              <a:r>
                <a:rPr b="0" lang="en" sz="1000">
                  <a:solidFill>
                    <a:srgbClr val="3C4043"/>
                  </a:solidFill>
                  <a:latin typeface="Roboto"/>
                  <a:ea typeface="Roboto"/>
                  <a:cs typeface="Roboto"/>
                  <a:sym typeface="Roboto"/>
                </a:rPr>
                <a:t> FlashAttention-2 &amp; Rotary Embeddings (RoPE)</a:t>
              </a:r>
              <a:endParaRPr b="0" sz="1000">
                <a:solidFill>
                  <a:srgbClr val="3C4043"/>
                </a:solidFill>
                <a:latin typeface="Roboto"/>
                <a:ea typeface="Roboto"/>
                <a:cs typeface="Roboto"/>
                <a:sym typeface="Roboto"/>
              </a:endParaRPr>
            </a:p>
            <a:p>
              <a:pPr indent="0" lvl="0" marL="0" rtl="0" algn="l">
                <a:spcBef>
                  <a:spcPts val="450"/>
                </a:spcBef>
                <a:spcAft>
                  <a:spcPts val="0"/>
                </a:spcAft>
                <a:buNone/>
              </a:pPr>
              <a:r>
                <a:t/>
              </a:r>
              <a:endParaRPr b="0" sz="1000">
                <a:solidFill>
                  <a:srgbClr val="3C4043"/>
                </a:solidFill>
                <a:latin typeface="Roboto"/>
                <a:ea typeface="Roboto"/>
                <a:cs typeface="Roboto"/>
                <a:sym typeface="Roboto"/>
              </a:endParaRPr>
            </a:p>
          </p:txBody>
        </p:sp>
      </p:grpSp>
      <p:grpSp>
        <p:nvGrpSpPr>
          <p:cNvPr id="210" name="Google Shape;210;p26"/>
          <p:cNvGrpSpPr/>
          <p:nvPr/>
        </p:nvGrpSpPr>
        <p:grpSpPr>
          <a:xfrm>
            <a:off x="6705600" y="1524000"/>
            <a:ext cx="2047800" cy="3238500"/>
            <a:chOff x="0" y="0"/>
            <a:chExt cx="2047800" cy="3238500"/>
          </a:xfrm>
        </p:grpSpPr>
        <p:sp>
          <p:nvSpPr>
            <p:cNvPr id="211" name="Google Shape;211;p26"/>
            <p:cNvSpPr/>
            <p:nvPr/>
          </p:nvSpPr>
          <p:spPr>
            <a:xfrm>
              <a:off x="0" y="0"/>
              <a:ext cx="2047800" cy="3238500"/>
            </a:xfrm>
            <a:prstGeom prst="roundRect">
              <a:avLst>
                <a:gd fmla="val 558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26"/>
            <p:cNvSpPr/>
            <p:nvPr/>
          </p:nvSpPr>
          <p:spPr>
            <a:xfrm>
              <a:off x="142875" y="190500"/>
              <a:ext cx="1095300" cy="247800"/>
            </a:xfrm>
            <a:prstGeom prst="roundRect">
              <a:avLst>
                <a:gd fmla="val 23076" name="adj"/>
              </a:avLst>
            </a:prstGeom>
            <a:solidFill>
              <a:srgbClr val="174EA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6"/>
            <p:cNvSpPr txBox="1"/>
            <p:nvPr/>
          </p:nvSpPr>
          <p:spPr>
            <a:xfrm>
              <a:off x="142875" y="190500"/>
              <a:ext cx="10953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Roboto"/>
                  <a:ea typeface="Roboto"/>
                  <a:cs typeface="Roboto"/>
                  <a:sym typeface="Roboto"/>
                </a:rPr>
                <a:t>Our Choice</a:t>
              </a:r>
              <a:endParaRPr b="1" sz="1000">
                <a:solidFill>
                  <a:srgbClr val="FFFFFF"/>
                </a:solidFill>
                <a:latin typeface="Roboto"/>
                <a:ea typeface="Roboto"/>
                <a:cs typeface="Roboto"/>
                <a:sym typeface="Roboto"/>
              </a:endParaRPr>
            </a:p>
          </p:txBody>
        </p:sp>
        <p:sp>
          <p:nvSpPr>
            <p:cNvPr id="214" name="Google Shape;214;p26"/>
            <p:cNvSpPr txBox="1"/>
            <p:nvPr/>
          </p:nvSpPr>
          <p:spPr>
            <a:xfrm>
              <a:off x="142875" y="571500"/>
              <a:ext cx="17622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A73E8"/>
                  </a:solidFill>
                  <a:latin typeface="Roboto"/>
                  <a:ea typeface="Roboto"/>
                  <a:cs typeface="Roboto"/>
                  <a:sym typeface="Roboto"/>
                </a:rPr>
                <a:t>BioClinical ModernBERT</a:t>
              </a:r>
              <a:endParaRPr b="1" sz="1300">
                <a:solidFill>
                  <a:srgbClr val="1A73E8"/>
                </a:solidFill>
                <a:latin typeface="Roboto"/>
                <a:ea typeface="Roboto"/>
                <a:cs typeface="Roboto"/>
                <a:sym typeface="Roboto"/>
              </a:endParaRPr>
            </a:p>
            <a:p>
              <a:pPr indent="0" lvl="0" marL="0" rtl="0" algn="l">
                <a:spcBef>
                  <a:spcPts val="600"/>
                </a:spcBef>
                <a:spcAft>
                  <a:spcPts val="0"/>
                </a:spcAft>
                <a:buNone/>
              </a:pPr>
              <a:r>
                <a:rPr b="1" lang="en" sz="1000">
                  <a:solidFill>
                    <a:srgbClr val="1A73E8"/>
                  </a:solidFill>
                  <a:latin typeface="Roboto"/>
                  <a:ea typeface="Roboto"/>
                  <a:cs typeface="Roboto"/>
                  <a:sym typeface="Roboto"/>
                </a:rPr>
                <a:t>Domain:</a:t>
              </a:r>
              <a:r>
                <a:rPr b="0" lang="en" sz="1000">
                  <a:solidFill>
                    <a:srgbClr val="3C4043"/>
                  </a:solidFill>
                  <a:latin typeface="Roboto"/>
                  <a:ea typeface="Roboto"/>
                  <a:cs typeface="Roboto"/>
                  <a:sym typeface="Roboto"/>
                </a:rPr>
                <a:t> Modern clinical records &amp; medical research</a:t>
              </a:r>
              <a:endParaRPr b="0" sz="1000">
                <a:solidFill>
                  <a:srgbClr val="3C4043"/>
                </a:solidFill>
                <a:latin typeface="Roboto"/>
                <a:ea typeface="Roboto"/>
                <a:cs typeface="Roboto"/>
                <a:sym typeface="Roboto"/>
              </a:endParaRPr>
            </a:p>
            <a:p>
              <a:pPr indent="0" lvl="0" marL="0" rtl="0" algn="l">
                <a:spcBef>
                  <a:spcPts val="450"/>
                </a:spcBef>
                <a:spcAft>
                  <a:spcPts val="0"/>
                </a:spcAft>
                <a:buNone/>
              </a:pPr>
              <a:r>
                <a:t/>
              </a:r>
              <a:endParaRPr sz="1000">
                <a:solidFill>
                  <a:srgbClr val="3C4043"/>
                </a:solidFill>
                <a:latin typeface="Roboto"/>
                <a:ea typeface="Roboto"/>
                <a:cs typeface="Roboto"/>
                <a:sym typeface="Roboto"/>
              </a:endParaRPr>
            </a:p>
            <a:p>
              <a:pPr indent="0" lvl="0" marL="0" rtl="0" algn="l">
                <a:spcBef>
                  <a:spcPts val="450"/>
                </a:spcBef>
                <a:spcAft>
                  <a:spcPts val="0"/>
                </a:spcAft>
                <a:buNone/>
              </a:pPr>
              <a:r>
                <a:rPr b="1" lang="en" sz="1000">
                  <a:solidFill>
                    <a:srgbClr val="1A73E8"/>
                  </a:solidFill>
                  <a:latin typeface="Roboto"/>
                  <a:ea typeface="Roboto"/>
                  <a:cs typeface="Roboto"/>
                  <a:sym typeface="Roboto"/>
                </a:rPr>
                <a:t>Context:</a:t>
              </a:r>
              <a:r>
                <a:rPr b="0" lang="en" sz="1000">
                  <a:solidFill>
                    <a:srgbClr val="3C4043"/>
                  </a:solidFill>
                  <a:latin typeface="Roboto"/>
                  <a:ea typeface="Roboto"/>
                  <a:cs typeface="Roboto"/>
                  <a:sym typeface="Roboto"/>
                </a:rPr>
                <a:t> Native 8k long context for full patient charts</a:t>
              </a:r>
              <a:endParaRPr b="0" sz="1000">
                <a:solidFill>
                  <a:srgbClr val="3C4043"/>
                </a:solidFill>
                <a:latin typeface="Roboto"/>
                <a:ea typeface="Roboto"/>
                <a:cs typeface="Roboto"/>
                <a:sym typeface="Roboto"/>
              </a:endParaRPr>
            </a:p>
            <a:p>
              <a:pPr indent="0" lvl="0" marL="0" rtl="0" algn="l">
                <a:spcBef>
                  <a:spcPts val="450"/>
                </a:spcBef>
                <a:spcAft>
                  <a:spcPts val="0"/>
                </a:spcAft>
                <a:buNone/>
              </a:pPr>
              <a:r>
                <a:t/>
              </a:r>
              <a:endParaRPr sz="1000">
                <a:solidFill>
                  <a:srgbClr val="3C4043"/>
                </a:solidFill>
                <a:latin typeface="Roboto"/>
                <a:ea typeface="Roboto"/>
                <a:cs typeface="Roboto"/>
                <a:sym typeface="Roboto"/>
              </a:endParaRPr>
            </a:p>
            <a:p>
              <a:pPr indent="0" lvl="0" marL="0" rtl="0" algn="l">
                <a:spcBef>
                  <a:spcPts val="450"/>
                </a:spcBef>
                <a:spcAft>
                  <a:spcPts val="0"/>
                </a:spcAft>
                <a:buNone/>
              </a:pPr>
              <a:r>
                <a:rPr b="1" lang="en" sz="1000">
                  <a:solidFill>
                    <a:srgbClr val="1A73E8"/>
                  </a:solidFill>
                  <a:latin typeface="Roboto"/>
                  <a:ea typeface="Roboto"/>
                  <a:cs typeface="Roboto"/>
                  <a:sym typeface="Roboto"/>
                </a:rPr>
                <a:t>Architecture:</a:t>
              </a:r>
              <a:r>
                <a:rPr b="0" lang="en" sz="1000">
                  <a:solidFill>
                    <a:srgbClr val="3C4043"/>
                  </a:solidFill>
                  <a:latin typeface="Roboto"/>
                  <a:ea typeface="Roboto"/>
                  <a:cs typeface="Roboto"/>
                  <a:sym typeface="Roboto"/>
                </a:rPr>
                <a:t> Modernized encoder + medical vocabulary</a:t>
              </a:r>
              <a:endParaRPr b="0" sz="1000">
                <a:solidFill>
                  <a:srgbClr val="3C4043"/>
                </a:solidFill>
                <a:latin typeface="Roboto"/>
                <a:ea typeface="Roboto"/>
                <a:cs typeface="Roboto"/>
                <a:sym typeface="Roboto"/>
              </a:endParaRPr>
            </a:p>
            <a:p>
              <a:pPr indent="0" lvl="0" marL="0" rtl="0" algn="l">
                <a:spcBef>
                  <a:spcPts val="450"/>
                </a:spcBef>
                <a:spcAft>
                  <a:spcPts val="0"/>
                </a:spcAft>
                <a:buNone/>
              </a:pPr>
              <a:r>
                <a:t/>
              </a:r>
              <a:endParaRPr b="0" sz="1000">
                <a:solidFill>
                  <a:srgbClr val="3C4043"/>
                </a:solidFill>
                <a:latin typeface="Roboto"/>
                <a:ea typeface="Roboto"/>
                <a:cs typeface="Roboto"/>
                <a:sym typeface="Roboto"/>
              </a:endParaRPr>
            </a:p>
          </p:txBody>
        </p:sp>
      </p:grpSp>
      <p:grpSp>
        <p:nvGrpSpPr>
          <p:cNvPr id="215" name="Google Shape;215;p26"/>
          <p:cNvGrpSpPr/>
          <p:nvPr/>
        </p:nvGrpSpPr>
        <p:grpSpPr>
          <a:xfrm>
            <a:off x="2457450" y="1524000"/>
            <a:ext cx="1952700" cy="3238500"/>
            <a:chOff x="0" y="0"/>
            <a:chExt cx="1952700" cy="3238500"/>
          </a:xfrm>
        </p:grpSpPr>
        <p:sp>
          <p:nvSpPr>
            <p:cNvPr id="216" name="Google Shape;216;p26"/>
            <p:cNvSpPr/>
            <p:nvPr/>
          </p:nvSpPr>
          <p:spPr>
            <a:xfrm>
              <a:off x="0" y="0"/>
              <a:ext cx="1952700" cy="3238500"/>
            </a:xfrm>
            <a:prstGeom prst="roundRect">
              <a:avLst>
                <a:gd fmla="val 58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26"/>
            <p:cNvSpPr txBox="1"/>
            <p:nvPr/>
          </p:nvSpPr>
          <p:spPr>
            <a:xfrm>
              <a:off x="142875" y="571500"/>
              <a:ext cx="16668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A73E8"/>
                  </a:solidFill>
                  <a:latin typeface="Roboto"/>
                  <a:ea typeface="Roboto"/>
                  <a:cs typeface="Roboto"/>
                  <a:sym typeface="Roboto"/>
                </a:rPr>
                <a:t>BioClinical BERT</a:t>
              </a:r>
              <a:endParaRPr b="1" sz="1300">
                <a:solidFill>
                  <a:srgbClr val="1A73E8"/>
                </a:solidFill>
                <a:latin typeface="Roboto"/>
                <a:ea typeface="Roboto"/>
                <a:cs typeface="Roboto"/>
                <a:sym typeface="Roboto"/>
              </a:endParaRPr>
            </a:p>
            <a:p>
              <a:pPr indent="0" lvl="0" marL="0" rtl="0" algn="l">
                <a:spcBef>
                  <a:spcPts val="600"/>
                </a:spcBef>
                <a:spcAft>
                  <a:spcPts val="0"/>
                </a:spcAft>
                <a:buNone/>
              </a:pPr>
              <a:r>
                <a:rPr b="1" lang="en" sz="1000">
                  <a:solidFill>
                    <a:srgbClr val="1A73E8"/>
                  </a:solidFill>
                  <a:latin typeface="Roboto"/>
                  <a:ea typeface="Roboto"/>
                  <a:cs typeface="Roboto"/>
                  <a:sym typeface="Roboto"/>
                </a:rPr>
                <a:t>Domain:</a:t>
              </a:r>
              <a:r>
                <a:rPr b="0" lang="en" sz="1000">
                  <a:solidFill>
                    <a:srgbClr val="3C4043"/>
                  </a:solidFill>
                  <a:latin typeface="Roboto"/>
                  <a:ea typeface="Roboto"/>
                  <a:cs typeface="Roboto"/>
                  <a:sym typeface="Roboto"/>
                </a:rPr>
                <a:t> MIMIC-III clinical notes &amp; PubMed</a:t>
              </a:r>
              <a:endParaRPr b="0" sz="1000">
                <a:solidFill>
                  <a:srgbClr val="3C4043"/>
                </a:solidFill>
                <a:latin typeface="Roboto"/>
                <a:ea typeface="Roboto"/>
                <a:cs typeface="Roboto"/>
                <a:sym typeface="Roboto"/>
              </a:endParaRPr>
            </a:p>
            <a:p>
              <a:pPr indent="0" lvl="0" marL="0" rtl="0" algn="l">
                <a:spcBef>
                  <a:spcPts val="450"/>
                </a:spcBef>
                <a:spcAft>
                  <a:spcPts val="0"/>
                </a:spcAft>
                <a:buNone/>
              </a:pPr>
              <a:r>
                <a:t/>
              </a:r>
              <a:endParaRPr sz="1000">
                <a:solidFill>
                  <a:srgbClr val="3C4043"/>
                </a:solidFill>
                <a:latin typeface="Roboto"/>
                <a:ea typeface="Roboto"/>
                <a:cs typeface="Roboto"/>
                <a:sym typeface="Roboto"/>
              </a:endParaRPr>
            </a:p>
            <a:p>
              <a:pPr indent="0" lvl="0" marL="0" rtl="0" algn="l">
                <a:spcBef>
                  <a:spcPts val="450"/>
                </a:spcBef>
                <a:spcAft>
                  <a:spcPts val="0"/>
                </a:spcAft>
                <a:buNone/>
              </a:pPr>
              <a:r>
                <a:rPr b="1" lang="en" sz="1000">
                  <a:solidFill>
                    <a:srgbClr val="1A73E8"/>
                  </a:solidFill>
                  <a:latin typeface="Roboto"/>
                  <a:ea typeface="Roboto"/>
                  <a:cs typeface="Roboto"/>
                  <a:sym typeface="Roboto"/>
                </a:rPr>
                <a:t>Context:</a:t>
              </a:r>
              <a:r>
                <a:rPr b="0" lang="en" sz="1000">
                  <a:solidFill>
                    <a:srgbClr val="3C4043"/>
                  </a:solidFill>
                  <a:latin typeface="Roboto"/>
                  <a:ea typeface="Roboto"/>
                  <a:cs typeface="Roboto"/>
                  <a:sym typeface="Roboto"/>
                </a:rPr>
                <a:t> 512 tokens max sequence length</a:t>
              </a:r>
              <a:endParaRPr b="0" sz="1000">
                <a:solidFill>
                  <a:srgbClr val="3C4043"/>
                </a:solidFill>
                <a:latin typeface="Roboto"/>
                <a:ea typeface="Roboto"/>
                <a:cs typeface="Roboto"/>
                <a:sym typeface="Roboto"/>
              </a:endParaRPr>
            </a:p>
            <a:p>
              <a:pPr indent="0" lvl="0" marL="0" rtl="0" algn="l">
                <a:spcBef>
                  <a:spcPts val="450"/>
                </a:spcBef>
                <a:spcAft>
                  <a:spcPts val="0"/>
                </a:spcAft>
                <a:buNone/>
              </a:pPr>
              <a:r>
                <a:rPr b="1" lang="en" sz="1000">
                  <a:solidFill>
                    <a:srgbClr val="1A73E8"/>
                  </a:solidFill>
                  <a:latin typeface="Roboto"/>
                  <a:ea typeface="Roboto"/>
                  <a:cs typeface="Roboto"/>
                  <a:sym typeface="Roboto"/>
                </a:rPr>
                <a:t>Architecture:</a:t>
              </a:r>
              <a:r>
                <a:rPr b="0" lang="en" sz="1000">
                  <a:solidFill>
                    <a:srgbClr val="3C4043"/>
                  </a:solidFill>
                  <a:latin typeface="Roboto"/>
                  <a:ea typeface="Roboto"/>
                  <a:cs typeface="Roboto"/>
                  <a:sym typeface="Roboto"/>
                </a:rPr>
                <a:t> Specialized medical vocabulary adaptation</a:t>
              </a:r>
              <a:endParaRPr b="0" sz="1000">
                <a:solidFill>
                  <a:srgbClr val="3C4043"/>
                </a:solidFill>
                <a:latin typeface="Roboto"/>
                <a:ea typeface="Roboto"/>
                <a:cs typeface="Roboto"/>
                <a:sym typeface="Roboto"/>
              </a:endParaRPr>
            </a:p>
            <a:p>
              <a:pPr indent="0" lvl="0" marL="0" rtl="0" algn="l">
                <a:spcBef>
                  <a:spcPts val="450"/>
                </a:spcBef>
                <a:spcAft>
                  <a:spcPts val="0"/>
                </a:spcAft>
                <a:buNone/>
              </a:pPr>
              <a:r>
                <a:t/>
              </a:r>
              <a:endParaRPr b="0" sz="1000">
                <a:solidFill>
                  <a:srgbClr val="3C4043"/>
                </a:solidFill>
                <a:latin typeface="Roboto"/>
                <a:ea typeface="Roboto"/>
                <a:cs typeface="Roboto"/>
                <a:sym typeface="Robo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5F4"/>
        </a:solidFill>
      </p:bgPr>
    </p:bg>
    <p:spTree>
      <p:nvGrpSpPr>
        <p:cNvPr id="221" name="Shape 221"/>
        <p:cNvGrpSpPr/>
        <p:nvPr/>
      </p:nvGrpSpPr>
      <p:grpSpPr>
        <a:xfrm>
          <a:off x="0" y="0"/>
          <a:ext cx="0" cy="0"/>
          <a:chOff x="0" y="0"/>
          <a:chExt cx="0" cy="0"/>
        </a:xfrm>
      </p:grpSpPr>
      <p:sp>
        <p:nvSpPr>
          <p:cNvPr id="222" name="Google Shape;222;p27"/>
          <p:cNvSpPr/>
          <p:nvPr/>
        </p:nvSpPr>
        <p:spPr>
          <a:xfrm>
            <a:off x="0" y="1143000"/>
            <a:ext cx="9144000" cy="4000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27"/>
          <p:cNvSpPr txBox="1"/>
          <p:nvPr/>
        </p:nvSpPr>
        <p:spPr>
          <a:xfrm>
            <a:off x="476250" y="238125"/>
            <a:ext cx="81915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FFFFFF"/>
                </a:solidFill>
                <a:latin typeface="Roboto"/>
                <a:ea typeface="Roboto"/>
                <a:cs typeface="Roboto"/>
                <a:sym typeface="Roboto"/>
              </a:rPr>
              <a:t>Hugging Face Transformers &amp; Trainer API</a:t>
            </a:r>
            <a:endParaRPr b="1" sz="2800">
              <a:solidFill>
                <a:srgbClr val="FFFFFF"/>
              </a:solidFill>
              <a:latin typeface="Roboto"/>
              <a:ea typeface="Roboto"/>
              <a:cs typeface="Roboto"/>
              <a:sym typeface="Roboto"/>
            </a:endParaRPr>
          </a:p>
        </p:txBody>
      </p:sp>
      <p:grpSp>
        <p:nvGrpSpPr>
          <p:cNvPr id="224" name="Google Shape;224;p27"/>
          <p:cNvGrpSpPr/>
          <p:nvPr/>
        </p:nvGrpSpPr>
        <p:grpSpPr>
          <a:xfrm>
            <a:off x="476250" y="1524000"/>
            <a:ext cx="3905400" cy="3238500"/>
            <a:chOff x="0" y="0"/>
            <a:chExt cx="3905400" cy="3238500"/>
          </a:xfrm>
        </p:grpSpPr>
        <p:sp>
          <p:nvSpPr>
            <p:cNvPr id="225" name="Google Shape;225;p27"/>
            <p:cNvSpPr/>
            <p:nvPr/>
          </p:nvSpPr>
          <p:spPr>
            <a:xfrm>
              <a:off x="0" y="0"/>
              <a:ext cx="39054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7"/>
            <p:cNvSpPr/>
            <p:nvPr/>
          </p:nvSpPr>
          <p:spPr>
            <a:xfrm>
              <a:off x="190500" y="190500"/>
              <a:ext cx="1714500" cy="266700"/>
            </a:xfrm>
            <a:prstGeom prst="roundRect">
              <a:avLst>
                <a:gd fmla="val 21428"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27"/>
            <p:cNvSpPr txBox="1"/>
            <p:nvPr/>
          </p:nvSpPr>
          <p:spPr>
            <a:xfrm>
              <a:off x="190500" y="190500"/>
              <a:ext cx="17145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50">
                  <a:solidFill>
                    <a:srgbClr val="174EA6"/>
                  </a:solidFill>
                  <a:latin typeface="Roboto"/>
                  <a:ea typeface="Roboto"/>
                  <a:cs typeface="Roboto"/>
                  <a:sym typeface="Roboto"/>
                </a:rPr>
                <a:t>CORE FRAMEWORK</a:t>
              </a:r>
              <a:endParaRPr b="1" sz="950">
                <a:solidFill>
                  <a:srgbClr val="174EA6"/>
                </a:solidFill>
                <a:latin typeface="Roboto"/>
                <a:ea typeface="Roboto"/>
                <a:cs typeface="Roboto"/>
                <a:sym typeface="Roboto"/>
              </a:endParaRPr>
            </a:p>
          </p:txBody>
        </p:sp>
        <p:sp>
          <p:nvSpPr>
            <p:cNvPr id="228" name="Google Shape;228;p27"/>
            <p:cNvSpPr txBox="1"/>
            <p:nvPr/>
          </p:nvSpPr>
          <p:spPr>
            <a:xfrm>
              <a:off x="190500" y="609600"/>
              <a:ext cx="3524400" cy="24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Hugging Face Transformers</a:t>
              </a:r>
              <a:endParaRPr b="1" sz="1400">
                <a:solidFill>
                  <a:srgbClr val="1A73E8"/>
                </a:solidFill>
                <a:latin typeface="Roboto"/>
                <a:ea typeface="Roboto"/>
                <a:cs typeface="Roboto"/>
                <a:sym typeface="Roboto"/>
              </a:endParaRPr>
            </a:p>
            <a:p>
              <a:pPr indent="0" lvl="0" marL="0" rtl="0" algn="l">
                <a:spcBef>
                  <a:spcPts val="450"/>
                </a:spcBef>
                <a:spcAft>
                  <a:spcPts val="0"/>
                </a:spcAft>
                <a:buNone/>
              </a:pPr>
              <a:r>
                <a:rPr b="0" lang="en" sz="1050">
                  <a:solidFill>
                    <a:srgbClr val="3C4043"/>
                  </a:solidFill>
                  <a:latin typeface="Roboto"/>
                  <a:ea typeface="Roboto"/>
                  <a:cs typeface="Roboto"/>
                  <a:sym typeface="Roboto"/>
                </a:rPr>
                <a:t>Provides thousands of pretrained models to perform text, vision, and audio tasks with unified architectures.</a:t>
              </a:r>
              <a:endParaRPr b="0" sz="1050">
                <a:solidFill>
                  <a:srgbClr val="3C4043"/>
                </a:solidFill>
                <a:latin typeface="Roboto"/>
                <a:ea typeface="Roboto"/>
                <a:cs typeface="Roboto"/>
                <a:sym typeface="Roboto"/>
              </a:endParaRPr>
            </a:p>
            <a:p>
              <a:pPr indent="0" lvl="0" marL="0" rtl="0" algn="l">
                <a:spcBef>
                  <a:spcPts val="900"/>
                </a:spcBef>
                <a:spcAft>
                  <a:spcPts val="0"/>
                </a:spcAft>
                <a:buNone/>
              </a:pPr>
              <a:r>
                <a:rPr b="1" lang="en" sz="1050">
                  <a:solidFill>
                    <a:srgbClr val="3C4043"/>
                  </a:solidFill>
                  <a:latin typeface="Roboto"/>
                  <a:ea typeface="Roboto"/>
                  <a:cs typeface="Roboto"/>
                  <a:sym typeface="Roboto"/>
                </a:rPr>
                <a:t>• Model Hub Integration:</a:t>
              </a:r>
              <a:r>
                <a:rPr b="0" lang="en" sz="1050">
                  <a:solidFill>
                    <a:srgbClr val="3C4043"/>
                  </a:solidFill>
                  <a:latin typeface="Roboto"/>
                  <a:ea typeface="Roboto"/>
                  <a:cs typeface="Roboto"/>
                  <a:sym typeface="Roboto"/>
                </a:rPr>
                <a:t> Instant access to SOTA pretrained checkpoints like BERT, RoBERTa, and ModernBERT.</a:t>
              </a:r>
              <a:endParaRPr b="0" sz="1050">
                <a:solidFill>
                  <a:srgbClr val="3C4043"/>
                </a:solidFill>
                <a:latin typeface="Roboto"/>
                <a:ea typeface="Roboto"/>
                <a:cs typeface="Roboto"/>
                <a:sym typeface="Roboto"/>
              </a:endParaRPr>
            </a:p>
            <a:p>
              <a:pPr indent="0" lvl="0" marL="0" rtl="0" algn="l">
                <a:spcBef>
                  <a:spcPts val="600"/>
                </a:spcBef>
                <a:spcAft>
                  <a:spcPts val="0"/>
                </a:spcAft>
                <a:buNone/>
              </a:pPr>
              <a:r>
                <a:rPr b="1" lang="en" sz="1050">
                  <a:solidFill>
                    <a:srgbClr val="3C4043"/>
                  </a:solidFill>
                  <a:latin typeface="Roboto"/>
                  <a:ea typeface="Roboto"/>
                  <a:cs typeface="Roboto"/>
                  <a:sym typeface="Roboto"/>
                </a:rPr>
                <a:t>• Tokenization &amp; Pipelines:</a:t>
              </a:r>
              <a:r>
                <a:rPr b="0" lang="en" sz="1050">
                  <a:solidFill>
                    <a:srgbClr val="3C4043"/>
                  </a:solidFill>
                  <a:latin typeface="Roboto"/>
                  <a:ea typeface="Roboto"/>
                  <a:cs typeface="Roboto"/>
                  <a:sym typeface="Roboto"/>
                </a:rPr>
                <a:t> High-performance tokenizers matching model vocabularies seamlessly.</a:t>
              </a:r>
              <a:endParaRPr b="0" sz="1050">
                <a:solidFill>
                  <a:srgbClr val="3C4043"/>
                </a:solidFill>
                <a:latin typeface="Roboto"/>
                <a:ea typeface="Roboto"/>
                <a:cs typeface="Roboto"/>
                <a:sym typeface="Roboto"/>
              </a:endParaRPr>
            </a:p>
            <a:p>
              <a:pPr indent="0" lvl="0" marL="0" rtl="0" algn="l">
                <a:spcBef>
                  <a:spcPts val="600"/>
                </a:spcBef>
                <a:spcAft>
                  <a:spcPts val="0"/>
                </a:spcAft>
                <a:buNone/>
              </a:pPr>
              <a:r>
                <a:rPr b="1" lang="en" sz="1050">
                  <a:solidFill>
                    <a:srgbClr val="3C4043"/>
                  </a:solidFill>
                  <a:latin typeface="Roboto"/>
                  <a:ea typeface="Roboto"/>
                  <a:cs typeface="Roboto"/>
                  <a:sym typeface="Roboto"/>
                </a:rPr>
                <a:t>• Framework Interoperability:</a:t>
              </a:r>
              <a:r>
                <a:rPr b="0" lang="en" sz="1050">
                  <a:solidFill>
                    <a:srgbClr val="3C4043"/>
                  </a:solidFill>
                  <a:latin typeface="Roboto"/>
                  <a:ea typeface="Roboto"/>
                  <a:cs typeface="Roboto"/>
                  <a:sym typeface="Roboto"/>
                </a:rPr>
                <a:t> Seamless support across PyTorch, TensorFlow, and JAX.</a:t>
              </a:r>
              <a:endParaRPr b="0" sz="1050">
                <a:solidFill>
                  <a:srgbClr val="3C4043"/>
                </a:solidFill>
                <a:latin typeface="Roboto"/>
                <a:ea typeface="Roboto"/>
                <a:cs typeface="Roboto"/>
                <a:sym typeface="Roboto"/>
              </a:endParaRPr>
            </a:p>
          </p:txBody>
        </p:sp>
      </p:grpSp>
      <p:grpSp>
        <p:nvGrpSpPr>
          <p:cNvPr id="229" name="Google Shape;229;p27"/>
          <p:cNvGrpSpPr/>
          <p:nvPr/>
        </p:nvGrpSpPr>
        <p:grpSpPr>
          <a:xfrm>
            <a:off x="4762500" y="1524000"/>
            <a:ext cx="3905400" cy="3238500"/>
            <a:chOff x="0" y="0"/>
            <a:chExt cx="3905400" cy="3238500"/>
          </a:xfrm>
        </p:grpSpPr>
        <p:sp>
          <p:nvSpPr>
            <p:cNvPr id="230" name="Google Shape;230;p27"/>
            <p:cNvSpPr/>
            <p:nvPr/>
          </p:nvSpPr>
          <p:spPr>
            <a:xfrm>
              <a:off x="0" y="0"/>
              <a:ext cx="39054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7"/>
            <p:cNvSpPr/>
            <p:nvPr/>
          </p:nvSpPr>
          <p:spPr>
            <a:xfrm>
              <a:off x="190500" y="190500"/>
              <a:ext cx="1714500" cy="266700"/>
            </a:xfrm>
            <a:prstGeom prst="roundRect">
              <a:avLst>
                <a:gd fmla="val 21428"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7"/>
            <p:cNvSpPr txBox="1"/>
            <p:nvPr/>
          </p:nvSpPr>
          <p:spPr>
            <a:xfrm>
              <a:off x="190500" y="190500"/>
              <a:ext cx="17145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50">
                  <a:solidFill>
                    <a:srgbClr val="174EA6"/>
                  </a:solidFill>
                  <a:latin typeface="Roboto"/>
                  <a:ea typeface="Roboto"/>
                  <a:cs typeface="Roboto"/>
                  <a:sym typeface="Roboto"/>
                </a:rPr>
                <a:t>EFFICIENT TRAINING</a:t>
              </a:r>
              <a:endParaRPr b="1" sz="950">
                <a:solidFill>
                  <a:srgbClr val="174EA6"/>
                </a:solidFill>
                <a:latin typeface="Roboto"/>
                <a:ea typeface="Roboto"/>
                <a:cs typeface="Roboto"/>
                <a:sym typeface="Roboto"/>
              </a:endParaRPr>
            </a:p>
          </p:txBody>
        </p:sp>
        <p:sp>
          <p:nvSpPr>
            <p:cNvPr id="233" name="Google Shape;233;p27"/>
            <p:cNvSpPr txBox="1"/>
            <p:nvPr/>
          </p:nvSpPr>
          <p:spPr>
            <a:xfrm>
              <a:off x="190500" y="609600"/>
              <a:ext cx="3524400" cy="24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73E8"/>
                  </a:solidFill>
                  <a:latin typeface="Roboto"/>
                  <a:ea typeface="Roboto"/>
                  <a:cs typeface="Roboto"/>
                  <a:sym typeface="Roboto"/>
                </a:rPr>
                <a:t>The Trainer Class</a:t>
              </a:r>
              <a:endParaRPr b="1" sz="1400">
                <a:solidFill>
                  <a:srgbClr val="1A73E8"/>
                </a:solidFill>
                <a:latin typeface="Roboto"/>
                <a:ea typeface="Roboto"/>
                <a:cs typeface="Roboto"/>
                <a:sym typeface="Roboto"/>
              </a:endParaRPr>
            </a:p>
            <a:p>
              <a:pPr indent="0" lvl="0" marL="0" rtl="0" algn="l">
                <a:spcBef>
                  <a:spcPts val="450"/>
                </a:spcBef>
                <a:spcAft>
                  <a:spcPts val="0"/>
                </a:spcAft>
                <a:buNone/>
              </a:pPr>
              <a:r>
                <a:rPr b="0" lang="en" sz="1050">
                  <a:solidFill>
                    <a:srgbClr val="3C4043"/>
                  </a:solidFill>
                  <a:latin typeface="Roboto"/>
                  <a:ea typeface="Roboto"/>
                  <a:cs typeface="Roboto"/>
                  <a:sym typeface="Roboto"/>
                </a:rPr>
                <a:t>A feature-complete training loop for PyTorch models, optimized for Hugging Face architectures.</a:t>
              </a:r>
              <a:endParaRPr b="0" sz="1050">
                <a:solidFill>
                  <a:srgbClr val="3C4043"/>
                </a:solidFill>
                <a:latin typeface="Roboto"/>
                <a:ea typeface="Roboto"/>
                <a:cs typeface="Roboto"/>
                <a:sym typeface="Roboto"/>
              </a:endParaRPr>
            </a:p>
            <a:p>
              <a:pPr indent="0" lvl="0" marL="0" rtl="0" algn="l">
                <a:spcBef>
                  <a:spcPts val="900"/>
                </a:spcBef>
                <a:spcAft>
                  <a:spcPts val="0"/>
                </a:spcAft>
                <a:buNone/>
              </a:pPr>
              <a:r>
                <a:rPr b="1" lang="en" sz="1050">
                  <a:solidFill>
                    <a:srgbClr val="3C4043"/>
                  </a:solidFill>
                  <a:latin typeface="Roboto"/>
                  <a:ea typeface="Roboto"/>
                  <a:cs typeface="Roboto"/>
                  <a:sym typeface="Roboto"/>
                </a:rPr>
                <a:t>• Simplified Loops:</a:t>
              </a:r>
              <a:r>
                <a:rPr b="0" lang="en" sz="1050">
                  <a:solidFill>
                    <a:srgbClr val="3C4043"/>
                  </a:solidFill>
                  <a:latin typeface="Roboto"/>
                  <a:ea typeface="Roboto"/>
                  <a:cs typeface="Roboto"/>
                  <a:sym typeface="Roboto"/>
                </a:rPr>
                <a:t xml:space="preserve"> Abstracts away boilerplate code for training, evaluation, and gradient accumulation.</a:t>
              </a:r>
              <a:endParaRPr b="0" sz="1050">
                <a:solidFill>
                  <a:srgbClr val="3C4043"/>
                </a:solidFill>
                <a:latin typeface="Roboto"/>
                <a:ea typeface="Roboto"/>
                <a:cs typeface="Roboto"/>
                <a:sym typeface="Roboto"/>
              </a:endParaRPr>
            </a:p>
            <a:p>
              <a:pPr indent="0" lvl="0" marL="0" rtl="0" algn="l">
                <a:spcBef>
                  <a:spcPts val="600"/>
                </a:spcBef>
                <a:spcAft>
                  <a:spcPts val="0"/>
                </a:spcAft>
                <a:buNone/>
              </a:pPr>
              <a:r>
                <a:rPr b="1" lang="en" sz="1050">
                  <a:solidFill>
                    <a:srgbClr val="3C4043"/>
                  </a:solidFill>
                  <a:latin typeface="Roboto"/>
                  <a:ea typeface="Roboto"/>
                  <a:cs typeface="Roboto"/>
                  <a:sym typeface="Roboto"/>
                </a:rPr>
                <a:t>• Built-in Optimizations:</a:t>
              </a:r>
              <a:r>
                <a:rPr b="0" lang="en" sz="1050">
                  <a:solidFill>
                    <a:srgbClr val="3C4043"/>
                  </a:solidFill>
                  <a:latin typeface="Roboto"/>
                  <a:ea typeface="Roboto"/>
                  <a:cs typeface="Roboto"/>
                  <a:sym typeface="Roboto"/>
                </a:rPr>
                <a:t> Native support for Mixed Precision (fp16/bf16), DeepSpeed, and multi-GPU distributed setups.</a:t>
              </a:r>
              <a:endParaRPr b="0" sz="1050">
                <a:solidFill>
                  <a:srgbClr val="3C4043"/>
                </a:solidFill>
                <a:latin typeface="Roboto"/>
                <a:ea typeface="Roboto"/>
                <a:cs typeface="Roboto"/>
                <a:sym typeface="Roboto"/>
              </a:endParaRPr>
            </a:p>
            <a:p>
              <a:pPr indent="0" lvl="0" marL="0" rtl="0" algn="l">
                <a:spcBef>
                  <a:spcPts val="600"/>
                </a:spcBef>
                <a:spcAft>
                  <a:spcPts val="0"/>
                </a:spcAft>
                <a:buNone/>
              </a:pPr>
              <a:r>
                <a:rPr b="1" lang="en" sz="1050">
                  <a:solidFill>
                    <a:srgbClr val="3C4043"/>
                  </a:solidFill>
                  <a:latin typeface="Roboto"/>
                  <a:ea typeface="Roboto"/>
                  <a:cs typeface="Roboto"/>
                  <a:sym typeface="Roboto"/>
                </a:rPr>
                <a:t>• Evaluation &amp; Logging:</a:t>
              </a:r>
              <a:r>
                <a:rPr b="0" lang="en" sz="1050">
                  <a:solidFill>
                    <a:srgbClr val="3C4043"/>
                  </a:solidFill>
                  <a:latin typeface="Roboto"/>
                  <a:ea typeface="Roboto"/>
                  <a:cs typeface="Roboto"/>
                  <a:sym typeface="Roboto"/>
                </a:rPr>
                <a:t> Seamless integration with custom metrics, evaluation strategies, and monitoring tools.</a:t>
              </a:r>
              <a:endParaRPr b="0" sz="1050">
                <a:solidFill>
                  <a:srgbClr val="3C4043"/>
                </a:solidFill>
                <a:latin typeface="Roboto"/>
                <a:ea typeface="Roboto"/>
                <a:cs typeface="Roboto"/>
                <a:sym typeface="Roboto"/>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5F4"/>
        </a:solidFill>
      </p:bgPr>
    </p:bg>
    <p:spTree>
      <p:nvGrpSpPr>
        <p:cNvPr id="237" name="Shape 237"/>
        <p:cNvGrpSpPr/>
        <p:nvPr/>
      </p:nvGrpSpPr>
      <p:grpSpPr>
        <a:xfrm>
          <a:off x="0" y="0"/>
          <a:ext cx="0" cy="0"/>
          <a:chOff x="0" y="0"/>
          <a:chExt cx="0" cy="0"/>
        </a:xfrm>
      </p:grpSpPr>
      <p:sp>
        <p:nvSpPr>
          <p:cNvPr id="238" name="Google Shape;238;p28"/>
          <p:cNvSpPr/>
          <p:nvPr/>
        </p:nvSpPr>
        <p:spPr>
          <a:xfrm>
            <a:off x="0" y="1143000"/>
            <a:ext cx="9144000" cy="4000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28"/>
          <p:cNvSpPr txBox="1"/>
          <p:nvPr/>
        </p:nvSpPr>
        <p:spPr>
          <a:xfrm>
            <a:off x="476250" y="238125"/>
            <a:ext cx="81915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FFFFFF"/>
                </a:solidFill>
                <a:latin typeface="Roboto"/>
                <a:ea typeface="Roboto"/>
                <a:cs typeface="Roboto"/>
                <a:sym typeface="Roboto"/>
              </a:rPr>
              <a:t>Outline of the Approach</a:t>
            </a:r>
            <a:endParaRPr b="1" sz="2800">
              <a:solidFill>
                <a:srgbClr val="FFFFFF"/>
              </a:solidFill>
              <a:latin typeface="Roboto"/>
              <a:ea typeface="Roboto"/>
              <a:cs typeface="Roboto"/>
              <a:sym typeface="Roboto"/>
            </a:endParaRPr>
          </a:p>
        </p:txBody>
      </p:sp>
      <p:grpSp>
        <p:nvGrpSpPr>
          <p:cNvPr id="240" name="Google Shape;240;p28"/>
          <p:cNvGrpSpPr/>
          <p:nvPr/>
        </p:nvGrpSpPr>
        <p:grpSpPr>
          <a:xfrm>
            <a:off x="428625" y="1476375"/>
            <a:ext cx="2476500" cy="1428900"/>
            <a:chOff x="0" y="0"/>
            <a:chExt cx="2476500" cy="1428900"/>
          </a:xfrm>
        </p:grpSpPr>
        <p:sp>
          <p:nvSpPr>
            <p:cNvPr id="241" name="Google Shape;241;p28"/>
            <p:cNvSpPr/>
            <p:nvPr/>
          </p:nvSpPr>
          <p:spPr>
            <a:xfrm>
              <a:off x="0" y="0"/>
              <a:ext cx="24765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28"/>
            <p:cNvSpPr/>
            <p:nvPr/>
          </p:nvSpPr>
          <p:spPr>
            <a:xfrm>
              <a:off x="152400" y="152400"/>
              <a:ext cx="619200" cy="228600"/>
            </a:xfrm>
            <a:prstGeom prst="roundRect">
              <a:avLst>
                <a:gd fmla="val 25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8"/>
            <p:cNvSpPr txBox="1"/>
            <p:nvPr/>
          </p:nvSpPr>
          <p:spPr>
            <a:xfrm>
              <a:off x="152400" y="152400"/>
              <a:ext cx="6192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174EA6"/>
                  </a:solidFill>
                  <a:latin typeface="Roboto"/>
                  <a:ea typeface="Roboto"/>
                  <a:cs typeface="Roboto"/>
                  <a:sym typeface="Roboto"/>
                </a:rPr>
                <a:t>STEP 01</a:t>
              </a:r>
              <a:endParaRPr b="1" sz="900">
                <a:solidFill>
                  <a:srgbClr val="174EA6"/>
                </a:solidFill>
                <a:latin typeface="Roboto"/>
                <a:ea typeface="Roboto"/>
                <a:cs typeface="Roboto"/>
                <a:sym typeface="Roboto"/>
              </a:endParaRPr>
            </a:p>
          </p:txBody>
        </p:sp>
        <p:sp>
          <p:nvSpPr>
            <p:cNvPr id="244" name="Google Shape;244;p28"/>
            <p:cNvSpPr txBox="1"/>
            <p:nvPr/>
          </p:nvSpPr>
          <p:spPr>
            <a:xfrm>
              <a:off x="152400" y="457200"/>
              <a:ext cx="21717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A73E8"/>
                  </a:solidFill>
                  <a:latin typeface="Roboto"/>
                  <a:ea typeface="Roboto"/>
                  <a:cs typeface="Roboto"/>
                  <a:sym typeface="Roboto"/>
                </a:rPr>
                <a:t>Generate Synthetic Data</a:t>
              </a:r>
              <a:endParaRPr b="1" sz="1200">
                <a:solidFill>
                  <a:srgbClr val="1A73E8"/>
                </a:solidFill>
                <a:latin typeface="Roboto"/>
                <a:ea typeface="Roboto"/>
                <a:cs typeface="Roboto"/>
                <a:sym typeface="Roboto"/>
              </a:endParaRPr>
            </a:p>
            <a:p>
              <a:pPr indent="0" lvl="0" marL="0" rtl="0" algn="l">
                <a:spcBef>
                  <a:spcPts val="300"/>
                </a:spcBef>
                <a:spcAft>
                  <a:spcPts val="0"/>
                </a:spcAft>
                <a:buNone/>
              </a:pPr>
              <a:r>
                <a:rPr b="0" lang="en" sz="950">
                  <a:solidFill>
                    <a:srgbClr val="3C4043"/>
                  </a:solidFill>
                  <a:latin typeface="Roboto"/>
                  <a:ea typeface="Roboto"/>
                  <a:cs typeface="Roboto"/>
                  <a:sym typeface="Roboto"/>
                </a:rPr>
                <a:t>Create a dataset for robust testing &amp; future publication requirements.</a:t>
              </a:r>
              <a:endParaRPr b="0" sz="950">
                <a:solidFill>
                  <a:srgbClr val="3C4043"/>
                </a:solidFill>
                <a:latin typeface="Roboto"/>
                <a:ea typeface="Roboto"/>
                <a:cs typeface="Roboto"/>
                <a:sym typeface="Roboto"/>
              </a:endParaRPr>
            </a:p>
          </p:txBody>
        </p:sp>
      </p:grpSp>
      <p:grpSp>
        <p:nvGrpSpPr>
          <p:cNvPr id="245" name="Google Shape;245;p28"/>
          <p:cNvGrpSpPr/>
          <p:nvPr/>
        </p:nvGrpSpPr>
        <p:grpSpPr>
          <a:xfrm>
            <a:off x="3333750" y="1476375"/>
            <a:ext cx="2476500" cy="1428900"/>
            <a:chOff x="0" y="0"/>
            <a:chExt cx="2476500" cy="1428900"/>
          </a:xfrm>
        </p:grpSpPr>
        <p:sp>
          <p:nvSpPr>
            <p:cNvPr id="246" name="Google Shape;246;p28"/>
            <p:cNvSpPr/>
            <p:nvPr/>
          </p:nvSpPr>
          <p:spPr>
            <a:xfrm>
              <a:off x="0" y="0"/>
              <a:ext cx="24765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28"/>
            <p:cNvSpPr/>
            <p:nvPr/>
          </p:nvSpPr>
          <p:spPr>
            <a:xfrm>
              <a:off x="152400" y="152400"/>
              <a:ext cx="619200" cy="228600"/>
            </a:xfrm>
            <a:prstGeom prst="roundRect">
              <a:avLst>
                <a:gd fmla="val 25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28"/>
            <p:cNvSpPr txBox="1"/>
            <p:nvPr/>
          </p:nvSpPr>
          <p:spPr>
            <a:xfrm>
              <a:off x="152400" y="152400"/>
              <a:ext cx="6192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174EA6"/>
                  </a:solidFill>
                  <a:latin typeface="Roboto"/>
                  <a:ea typeface="Roboto"/>
                  <a:cs typeface="Roboto"/>
                  <a:sym typeface="Roboto"/>
                </a:rPr>
                <a:t>STEP 02</a:t>
              </a:r>
              <a:endParaRPr b="1" sz="900">
                <a:solidFill>
                  <a:srgbClr val="174EA6"/>
                </a:solidFill>
                <a:latin typeface="Roboto"/>
                <a:ea typeface="Roboto"/>
                <a:cs typeface="Roboto"/>
                <a:sym typeface="Roboto"/>
              </a:endParaRPr>
            </a:p>
          </p:txBody>
        </p:sp>
        <p:sp>
          <p:nvSpPr>
            <p:cNvPr id="249" name="Google Shape;249;p28"/>
            <p:cNvSpPr txBox="1"/>
            <p:nvPr/>
          </p:nvSpPr>
          <p:spPr>
            <a:xfrm>
              <a:off x="152400" y="457200"/>
              <a:ext cx="21717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A73E8"/>
                  </a:solidFill>
                  <a:latin typeface="Roboto"/>
                  <a:ea typeface="Roboto"/>
                  <a:cs typeface="Roboto"/>
                  <a:sym typeface="Roboto"/>
                </a:rPr>
                <a:t>Preprocess Data</a:t>
              </a:r>
              <a:endParaRPr b="1" sz="1200">
                <a:solidFill>
                  <a:srgbClr val="1A73E8"/>
                </a:solidFill>
                <a:latin typeface="Roboto"/>
                <a:ea typeface="Roboto"/>
                <a:cs typeface="Roboto"/>
                <a:sym typeface="Roboto"/>
              </a:endParaRPr>
            </a:p>
            <a:p>
              <a:pPr indent="0" lvl="0" marL="0" rtl="0" algn="l">
                <a:spcBef>
                  <a:spcPts val="300"/>
                </a:spcBef>
                <a:spcAft>
                  <a:spcPts val="0"/>
                </a:spcAft>
                <a:buNone/>
              </a:pPr>
              <a:r>
                <a:rPr b="0" lang="en" sz="950">
                  <a:solidFill>
                    <a:srgbClr val="3C4043"/>
                  </a:solidFill>
                  <a:latin typeface="Roboto"/>
                  <a:ea typeface="Roboto"/>
                  <a:cs typeface="Roboto"/>
                  <a:sym typeface="Roboto"/>
                </a:rPr>
                <a:t>Clean, tokenize, and format data for model ingestion and training.</a:t>
              </a:r>
              <a:endParaRPr b="0" sz="950">
                <a:solidFill>
                  <a:srgbClr val="3C4043"/>
                </a:solidFill>
                <a:latin typeface="Roboto"/>
                <a:ea typeface="Roboto"/>
                <a:cs typeface="Roboto"/>
                <a:sym typeface="Roboto"/>
              </a:endParaRPr>
            </a:p>
          </p:txBody>
        </p:sp>
      </p:grpSp>
      <p:grpSp>
        <p:nvGrpSpPr>
          <p:cNvPr id="250" name="Google Shape;250;p28"/>
          <p:cNvGrpSpPr/>
          <p:nvPr/>
        </p:nvGrpSpPr>
        <p:grpSpPr>
          <a:xfrm>
            <a:off x="6238875" y="1476375"/>
            <a:ext cx="2476500" cy="1428900"/>
            <a:chOff x="0" y="0"/>
            <a:chExt cx="2476500" cy="1428900"/>
          </a:xfrm>
        </p:grpSpPr>
        <p:sp>
          <p:nvSpPr>
            <p:cNvPr id="251" name="Google Shape;251;p28"/>
            <p:cNvSpPr/>
            <p:nvPr/>
          </p:nvSpPr>
          <p:spPr>
            <a:xfrm>
              <a:off x="0" y="0"/>
              <a:ext cx="24765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28"/>
            <p:cNvSpPr/>
            <p:nvPr/>
          </p:nvSpPr>
          <p:spPr>
            <a:xfrm>
              <a:off x="152400" y="152400"/>
              <a:ext cx="619200" cy="228600"/>
            </a:xfrm>
            <a:prstGeom prst="roundRect">
              <a:avLst>
                <a:gd fmla="val 25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8"/>
            <p:cNvSpPr txBox="1"/>
            <p:nvPr/>
          </p:nvSpPr>
          <p:spPr>
            <a:xfrm>
              <a:off x="152400" y="152400"/>
              <a:ext cx="6192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174EA6"/>
                  </a:solidFill>
                  <a:latin typeface="Roboto"/>
                  <a:ea typeface="Roboto"/>
                  <a:cs typeface="Roboto"/>
                  <a:sym typeface="Roboto"/>
                </a:rPr>
                <a:t>STEP 03</a:t>
              </a:r>
              <a:endParaRPr b="1" sz="900">
                <a:solidFill>
                  <a:srgbClr val="174EA6"/>
                </a:solidFill>
                <a:latin typeface="Roboto"/>
                <a:ea typeface="Roboto"/>
                <a:cs typeface="Roboto"/>
                <a:sym typeface="Roboto"/>
              </a:endParaRPr>
            </a:p>
          </p:txBody>
        </p:sp>
        <p:sp>
          <p:nvSpPr>
            <p:cNvPr id="254" name="Google Shape;254;p28"/>
            <p:cNvSpPr txBox="1"/>
            <p:nvPr/>
          </p:nvSpPr>
          <p:spPr>
            <a:xfrm>
              <a:off x="152400" y="457200"/>
              <a:ext cx="21717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A73E8"/>
                  </a:solidFill>
                  <a:latin typeface="Roboto"/>
                  <a:ea typeface="Roboto"/>
                  <a:cs typeface="Roboto"/>
                  <a:sym typeface="Roboto"/>
                </a:rPr>
                <a:t>Configure Parameters</a:t>
              </a:r>
              <a:endParaRPr b="1" sz="1200">
                <a:solidFill>
                  <a:srgbClr val="1A73E8"/>
                </a:solidFill>
                <a:latin typeface="Roboto"/>
                <a:ea typeface="Roboto"/>
                <a:cs typeface="Roboto"/>
                <a:sym typeface="Roboto"/>
              </a:endParaRPr>
            </a:p>
            <a:p>
              <a:pPr indent="0" lvl="0" marL="0" rtl="0" algn="l">
                <a:spcBef>
                  <a:spcPts val="300"/>
                </a:spcBef>
                <a:spcAft>
                  <a:spcPts val="0"/>
                </a:spcAft>
                <a:buNone/>
              </a:pPr>
              <a:r>
                <a:rPr b="0" lang="en" sz="950">
                  <a:solidFill>
                    <a:srgbClr val="3C4043"/>
                  </a:solidFill>
                  <a:latin typeface="Roboto"/>
                  <a:ea typeface="Roboto"/>
                  <a:cs typeface="Roboto"/>
                  <a:sym typeface="Roboto"/>
                </a:rPr>
                <a:t>Set learning rates, batch sizes, and optimization hyperparameters.</a:t>
              </a:r>
              <a:endParaRPr b="0" sz="950">
                <a:solidFill>
                  <a:srgbClr val="3C4043"/>
                </a:solidFill>
                <a:latin typeface="Roboto"/>
                <a:ea typeface="Roboto"/>
                <a:cs typeface="Roboto"/>
                <a:sym typeface="Roboto"/>
              </a:endParaRPr>
            </a:p>
          </p:txBody>
        </p:sp>
      </p:grpSp>
      <p:grpSp>
        <p:nvGrpSpPr>
          <p:cNvPr id="255" name="Google Shape;255;p28"/>
          <p:cNvGrpSpPr/>
          <p:nvPr/>
        </p:nvGrpSpPr>
        <p:grpSpPr>
          <a:xfrm>
            <a:off x="428625" y="3143250"/>
            <a:ext cx="2476500" cy="1428900"/>
            <a:chOff x="0" y="0"/>
            <a:chExt cx="2476500" cy="1428900"/>
          </a:xfrm>
        </p:grpSpPr>
        <p:sp>
          <p:nvSpPr>
            <p:cNvPr id="256" name="Google Shape;256;p28"/>
            <p:cNvSpPr/>
            <p:nvPr/>
          </p:nvSpPr>
          <p:spPr>
            <a:xfrm>
              <a:off x="0" y="0"/>
              <a:ext cx="2476500" cy="1428900"/>
            </a:xfrm>
            <a:prstGeom prst="roundRect">
              <a:avLst>
                <a:gd fmla="val 799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28"/>
            <p:cNvSpPr/>
            <p:nvPr/>
          </p:nvSpPr>
          <p:spPr>
            <a:xfrm>
              <a:off x="152400" y="152400"/>
              <a:ext cx="619200" cy="228600"/>
            </a:xfrm>
            <a:prstGeom prst="roundRect">
              <a:avLst>
                <a:gd fmla="val 25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58" name="Google Shape;258;p28"/>
            <p:cNvGrpSpPr/>
            <p:nvPr/>
          </p:nvGrpSpPr>
          <p:grpSpPr>
            <a:xfrm>
              <a:off x="152400" y="152400"/>
              <a:ext cx="619200" cy="228600"/>
              <a:chOff x="0" y="0"/>
              <a:chExt cx="619200" cy="228600"/>
            </a:xfrm>
          </p:grpSpPr>
          <p:sp>
            <p:nvSpPr>
              <p:cNvPr id="259" name="Google Shape;259;p28"/>
              <p:cNvSpPr/>
              <p:nvPr/>
            </p:nvSpPr>
            <p:spPr>
              <a:xfrm>
                <a:off x="0" y="0"/>
                <a:ext cx="6192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8"/>
              <p:cNvSpPr txBox="1"/>
              <p:nvPr/>
            </p:nvSpPr>
            <p:spPr>
              <a:xfrm>
                <a:off x="0" y="0"/>
                <a:ext cx="6192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174EA6"/>
                    </a:solidFill>
                    <a:latin typeface="Roboto"/>
                    <a:ea typeface="Roboto"/>
                    <a:cs typeface="Roboto"/>
                    <a:sym typeface="Roboto"/>
                  </a:rPr>
                  <a:t>STEP 04</a:t>
                </a:r>
                <a:endParaRPr b="1" sz="900">
                  <a:solidFill>
                    <a:srgbClr val="174EA6"/>
                  </a:solidFill>
                  <a:latin typeface="Roboto"/>
                  <a:ea typeface="Roboto"/>
                  <a:cs typeface="Roboto"/>
                  <a:sym typeface="Roboto"/>
                </a:endParaRPr>
              </a:p>
            </p:txBody>
          </p:sp>
        </p:grpSp>
        <p:grpSp>
          <p:nvGrpSpPr>
            <p:cNvPr id="261" name="Google Shape;261;p28"/>
            <p:cNvGrpSpPr/>
            <p:nvPr/>
          </p:nvGrpSpPr>
          <p:grpSpPr>
            <a:xfrm>
              <a:off x="152400" y="457200"/>
              <a:ext cx="2171700" cy="857400"/>
              <a:chOff x="0" y="0"/>
              <a:chExt cx="2171700" cy="857400"/>
            </a:xfrm>
          </p:grpSpPr>
          <p:sp>
            <p:nvSpPr>
              <p:cNvPr id="262" name="Google Shape;262;p28"/>
              <p:cNvSpPr/>
              <p:nvPr/>
            </p:nvSpPr>
            <p:spPr>
              <a:xfrm>
                <a:off x="0" y="0"/>
                <a:ext cx="21717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8"/>
              <p:cNvSpPr txBox="1"/>
              <p:nvPr/>
            </p:nvSpPr>
            <p:spPr>
              <a:xfrm>
                <a:off x="0" y="0"/>
                <a:ext cx="21717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A73E8"/>
                    </a:solidFill>
                    <a:latin typeface="Roboto"/>
                    <a:ea typeface="Roboto"/>
                    <a:cs typeface="Roboto"/>
                    <a:sym typeface="Roboto"/>
                  </a:rPr>
                  <a:t>Train Model</a:t>
                </a:r>
                <a:endParaRPr b="1" sz="1200">
                  <a:solidFill>
                    <a:srgbClr val="1A73E8"/>
                  </a:solidFill>
                  <a:latin typeface="Roboto"/>
                  <a:ea typeface="Roboto"/>
                  <a:cs typeface="Roboto"/>
                  <a:sym typeface="Roboto"/>
                </a:endParaRPr>
              </a:p>
              <a:p>
                <a:pPr indent="0" lvl="0" marL="0" rtl="0" algn="l">
                  <a:spcBef>
                    <a:spcPts val="300"/>
                  </a:spcBef>
                  <a:spcAft>
                    <a:spcPts val="300"/>
                  </a:spcAft>
                  <a:buNone/>
                </a:pPr>
                <a:r>
                  <a:rPr b="0" lang="en" sz="950">
                    <a:solidFill>
                      <a:srgbClr val="3C4043"/>
                    </a:solidFill>
                    <a:latin typeface="Roboto"/>
                    <a:ea typeface="Roboto"/>
                    <a:cs typeface="Roboto"/>
                    <a:sym typeface="Roboto"/>
                  </a:rPr>
                  <a:t>Initialize the fine-tuning process on the prepared clinical dataset.</a:t>
                </a:r>
                <a:endParaRPr b="1" sz="950">
                  <a:solidFill>
                    <a:srgbClr val="1A73E8"/>
                  </a:solidFill>
                  <a:latin typeface="Roboto"/>
                  <a:ea typeface="Roboto"/>
                  <a:cs typeface="Roboto"/>
                  <a:sym typeface="Roboto"/>
                </a:endParaRPr>
              </a:p>
            </p:txBody>
          </p:sp>
        </p:grpSp>
      </p:grpSp>
      <p:grpSp>
        <p:nvGrpSpPr>
          <p:cNvPr id="264" name="Google Shape;264;p28"/>
          <p:cNvGrpSpPr/>
          <p:nvPr/>
        </p:nvGrpSpPr>
        <p:grpSpPr>
          <a:xfrm>
            <a:off x="3333750" y="3143250"/>
            <a:ext cx="2476500" cy="1428900"/>
            <a:chOff x="0" y="0"/>
            <a:chExt cx="2476500" cy="1428900"/>
          </a:xfrm>
        </p:grpSpPr>
        <p:sp>
          <p:nvSpPr>
            <p:cNvPr id="265" name="Google Shape;265;p28"/>
            <p:cNvSpPr/>
            <p:nvPr/>
          </p:nvSpPr>
          <p:spPr>
            <a:xfrm>
              <a:off x="0" y="0"/>
              <a:ext cx="2476500" cy="1428900"/>
            </a:xfrm>
            <a:prstGeom prst="roundRect">
              <a:avLst>
                <a:gd fmla="val 799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8"/>
            <p:cNvSpPr/>
            <p:nvPr/>
          </p:nvSpPr>
          <p:spPr>
            <a:xfrm>
              <a:off x="152400" y="152400"/>
              <a:ext cx="619200" cy="228600"/>
            </a:xfrm>
            <a:prstGeom prst="roundRect">
              <a:avLst>
                <a:gd fmla="val 25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67" name="Google Shape;267;p28"/>
            <p:cNvGrpSpPr/>
            <p:nvPr/>
          </p:nvGrpSpPr>
          <p:grpSpPr>
            <a:xfrm>
              <a:off x="152400" y="152400"/>
              <a:ext cx="619200" cy="228600"/>
              <a:chOff x="0" y="0"/>
              <a:chExt cx="619200" cy="228600"/>
            </a:xfrm>
          </p:grpSpPr>
          <p:sp>
            <p:nvSpPr>
              <p:cNvPr id="268" name="Google Shape;268;p28"/>
              <p:cNvSpPr/>
              <p:nvPr/>
            </p:nvSpPr>
            <p:spPr>
              <a:xfrm>
                <a:off x="0" y="0"/>
                <a:ext cx="6192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28"/>
              <p:cNvSpPr txBox="1"/>
              <p:nvPr/>
            </p:nvSpPr>
            <p:spPr>
              <a:xfrm>
                <a:off x="0" y="0"/>
                <a:ext cx="6192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174EA6"/>
                    </a:solidFill>
                    <a:latin typeface="Roboto"/>
                    <a:ea typeface="Roboto"/>
                    <a:cs typeface="Roboto"/>
                    <a:sym typeface="Roboto"/>
                  </a:rPr>
                  <a:t>STEP 05</a:t>
                </a:r>
                <a:endParaRPr b="1" sz="900">
                  <a:solidFill>
                    <a:srgbClr val="174EA6"/>
                  </a:solidFill>
                  <a:latin typeface="Roboto"/>
                  <a:ea typeface="Roboto"/>
                  <a:cs typeface="Roboto"/>
                  <a:sym typeface="Roboto"/>
                </a:endParaRPr>
              </a:p>
            </p:txBody>
          </p:sp>
        </p:grpSp>
        <p:grpSp>
          <p:nvGrpSpPr>
            <p:cNvPr id="270" name="Google Shape;270;p28"/>
            <p:cNvGrpSpPr/>
            <p:nvPr/>
          </p:nvGrpSpPr>
          <p:grpSpPr>
            <a:xfrm>
              <a:off x="152400" y="457200"/>
              <a:ext cx="2171700" cy="857400"/>
              <a:chOff x="0" y="0"/>
              <a:chExt cx="2171700" cy="857400"/>
            </a:xfrm>
          </p:grpSpPr>
          <p:sp>
            <p:nvSpPr>
              <p:cNvPr id="271" name="Google Shape;271;p28"/>
              <p:cNvSpPr/>
              <p:nvPr/>
            </p:nvSpPr>
            <p:spPr>
              <a:xfrm>
                <a:off x="0" y="0"/>
                <a:ext cx="21717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28"/>
              <p:cNvSpPr txBox="1"/>
              <p:nvPr/>
            </p:nvSpPr>
            <p:spPr>
              <a:xfrm>
                <a:off x="0" y="0"/>
                <a:ext cx="21717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A73E8"/>
                    </a:solidFill>
                    <a:latin typeface="Roboto"/>
                    <a:ea typeface="Roboto"/>
                    <a:cs typeface="Roboto"/>
                    <a:sym typeface="Roboto"/>
                  </a:rPr>
                  <a:t>Run Experiments</a:t>
                </a:r>
                <a:endParaRPr b="1" sz="1200">
                  <a:solidFill>
                    <a:srgbClr val="1A73E8"/>
                  </a:solidFill>
                  <a:latin typeface="Roboto"/>
                  <a:ea typeface="Roboto"/>
                  <a:cs typeface="Roboto"/>
                  <a:sym typeface="Roboto"/>
                </a:endParaRPr>
              </a:p>
              <a:p>
                <a:pPr indent="0" lvl="0" marL="0" rtl="0" algn="l">
                  <a:spcBef>
                    <a:spcPts val="300"/>
                  </a:spcBef>
                  <a:spcAft>
                    <a:spcPts val="300"/>
                  </a:spcAft>
                  <a:buNone/>
                </a:pPr>
                <a:r>
                  <a:rPr b="0" lang="en" sz="950">
                    <a:solidFill>
                      <a:srgbClr val="3C4043"/>
                    </a:solidFill>
                    <a:latin typeface="Roboto"/>
                    <a:ea typeface="Roboto"/>
                    <a:cs typeface="Roboto"/>
                    <a:sym typeface="Roboto"/>
                  </a:rPr>
                  <a:t>Execute experimental runs to test model configurations and evaluate the setup.</a:t>
                </a:r>
                <a:endParaRPr b="1" sz="950">
                  <a:solidFill>
                    <a:srgbClr val="1A73E8"/>
                  </a:solidFill>
                  <a:latin typeface="Roboto"/>
                  <a:ea typeface="Roboto"/>
                  <a:cs typeface="Roboto"/>
                  <a:sym typeface="Roboto"/>
                </a:endParaRPr>
              </a:p>
            </p:txBody>
          </p:sp>
        </p:grpSp>
      </p:grpSp>
      <p:grpSp>
        <p:nvGrpSpPr>
          <p:cNvPr id="273" name="Google Shape;273;p28"/>
          <p:cNvGrpSpPr/>
          <p:nvPr/>
        </p:nvGrpSpPr>
        <p:grpSpPr>
          <a:xfrm>
            <a:off x="6238875" y="3143250"/>
            <a:ext cx="2476500" cy="1428900"/>
            <a:chOff x="0" y="0"/>
            <a:chExt cx="2476500" cy="1428900"/>
          </a:xfrm>
        </p:grpSpPr>
        <p:sp>
          <p:nvSpPr>
            <p:cNvPr id="274" name="Google Shape;274;p28"/>
            <p:cNvSpPr/>
            <p:nvPr/>
          </p:nvSpPr>
          <p:spPr>
            <a:xfrm>
              <a:off x="0" y="0"/>
              <a:ext cx="2476500" cy="1428900"/>
            </a:xfrm>
            <a:prstGeom prst="roundRect">
              <a:avLst>
                <a:gd fmla="val 799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28"/>
            <p:cNvSpPr/>
            <p:nvPr/>
          </p:nvSpPr>
          <p:spPr>
            <a:xfrm>
              <a:off x="152400" y="152400"/>
              <a:ext cx="619200" cy="228600"/>
            </a:xfrm>
            <a:prstGeom prst="roundRect">
              <a:avLst>
                <a:gd fmla="val 2500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76" name="Google Shape;276;p28"/>
            <p:cNvGrpSpPr/>
            <p:nvPr/>
          </p:nvGrpSpPr>
          <p:grpSpPr>
            <a:xfrm>
              <a:off x="152400" y="152400"/>
              <a:ext cx="619200" cy="228600"/>
              <a:chOff x="0" y="0"/>
              <a:chExt cx="619200" cy="228600"/>
            </a:xfrm>
          </p:grpSpPr>
          <p:sp>
            <p:nvSpPr>
              <p:cNvPr id="277" name="Google Shape;277;p28"/>
              <p:cNvSpPr/>
              <p:nvPr/>
            </p:nvSpPr>
            <p:spPr>
              <a:xfrm>
                <a:off x="0" y="0"/>
                <a:ext cx="6192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28"/>
              <p:cNvSpPr txBox="1"/>
              <p:nvPr/>
            </p:nvSpPr>
            <p:spPr>
              <a:xfrm>
                <a:off x="0" y="0"/>
                <a:ext cx="6192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174EA6"/>
                    </a:solidFill>
                    <a:latin typeface="Roboto"/>
                    <a:ea typeface="Roboto"/>
                    <a:cs typeface="Roboto"/>
                    <a:sym typeface="Roboto"/>
                  </a:rPr>
                  <a:t>STEP 06</a:t>
                </a:r>
                <a:endParaRPr b="1" sz="900">
                  <a:solidFill>
                    <a:srgbClr val="174EA6"/>
                  </a:solidFill>
                  <a:latin typeface="Roboto"/>
                  <a:ea typeface="Roboto"/>
                  <a:cs typeface="Roboto"/>
                  <a:sym typeface="Roboto"/>
                </a:endParaRPr>
              </a:p>
            </p:txBody>
          </p:sp>
        </p:grpSp>
        <p:grpSp>
          <p:nvGrpSpPr>
            <p:cNvPr id="279" name="Google Shape;279;p28"/>
            <p:cNvGrpSpPr/>
            <p:nvPr/>
          </p:nvGrpSpPr>
          <p:grpSpPr>
            <a:xfrm>
              <a:off x="152400" y="457200"/>
              <a:ext cx="2171700" cy="857400"/>
              <a:chOff x="0" y="0"/>
              <a:chExt cx="2171700" cy="857400"/>
            </a:xfrm>
          </p:grpSpPr>
          <p:sp>
            <p:nvSpPr>
              <p:cNvPr id="280" name="Google Shape;280;p28"/>
              <p:cNvSpPr/>
              <p:nvPr/>
            </p:nvSpPr>
            <p:spPr>
              <a:xfrm>
                <a:off x="0" y="0"/>
                <a:ext cx="21717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28"/>
              <p:cNvSpPr txBox="1"/>
              <p:nvPr/>
            </p:nvSpPr>
            <p:spPr>
              <a:xfrm>
                <a:off x="0" y="0"/>
                <a:ext cx="21717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A73E8"/>
                    </a:solidFill>
                    <a:latin typeface="Roboto"/>
                    <a:ea typeface="Roboto"/>
                    <a:cs typeface="Roboto"/>
                    <a:sym typeface="Roboto"/>
                  </a:rPr>
                  <a:t>Reflections</a:t>
                </a:r>
                <a:endParaRPr b="1" sz="1200">
                  <a:solidFill>
                    <a:srgbClr val="1A73E8"/>
                  </a:solidFill>
                  <a:latin typeface="Roboto"/>
                  <a:ea typeface="Roboto"/>
                  <a:cs typeface="Roboto"/>
                  <a:sym typeface="Roboto"/>
                </a:endParaRPr>
              </a:p>
              <a:p>
                <a:pPr indent="0" lvl="0" marL="0" rtl="0" algn="l">
                  <a:spcBef>
                    <a:spcPts val="300"/>
                  </a:spcBef>
                  <a:spcAft>
                    <a:spcPts val="300"/>
                  </a:spcAft>
                  <a:buNone/>
                </a:pPr>
                <a:r>
                  <a:rPr b="0" lang="en" sz="950">
                    <a:solidFill>
                      <a:srgbClr val="3C4043"/>
                    </a:solidFill>
                    <a:latin typeface="Roboto"/>
                    <a:ea typeface="Roboto"/>
                    <a:cs typeface="Roboto"/>
                    <a:sym typeface="Roboto"/>
                  </a:rPr>
                  <a:t>Analyze results, document key findings, and identify areas for improvement.</a:t>
                </a:r>
                <a:endParaRPr b="1" sz="950">
                  <a:solidFill>
                    <a:srgbClr val="1A73E8"/>
                  </a:solidFill>
                  <a:latin typeface="Roboto"/>
                  <a:ea typeface="Roboto"/>
                  <a:cs typeface="Roboto"/>
                  <a:sym typeface="Roboto"/>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9"/>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Part 1: Synthetic Data Generation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0"/>
          <p:cNvSpPr/>
          <p:nvPr/>
        </p:nvSpPr>
        <p:spPr>
          <a:xfrm>
            <a:off x="0" y="1143000"/>
            <a:ext cx="9144000" cy="4000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30"/>
          <p:cNvSpPr txBox="1"/>
          <p:nvPr>
            <p:ph type="title"/>
          </p:nvPr>
        </p:nvSpPr>
        <p:spPr>
          <a:xfrm>
            <a:off x="476250" y="238125"/>
            <a:ext cx="81915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 sz="2800">
                <a:solidFill>
                  <a:srgbClr val="FFFFFF"/>
                </a:solidFill>
                <a:latin typeface="Roboto"/>
                <a:ea typeface="Roboto"/>
                <a:cs typeface="Roboto"/>
                <a:sym typeface="Roboto"/>
              </a:rPr>
              <a:t>Why Generate Synthetic Data?</a:t>
            </a:r>
            <a:endParaRPr b="1" sz="2800">
              <a:solidFill>
                <a:srgbClr val="FFFFFF"/>
              </a:solidFill>
              <a:latin typeface="Roboto"/>
              <a:ea typeface="Roboto"/>
              <a:cs typeface="Roboto"/>
              <a:sym typeface="Roboto"/>
            </a:endParaRPr>
          </a:p>
        </p:txBody>
      </p:sp>
      <p:grpSp>
        <p:nvGrpSpPr>
          <p:cNvPr id="293" name="Google Shape;293;p30"/>
          <p:cNvGrpSpPr/>
          <p:nvPr/>
        </p:nvGrpSpPr>
        <p:grpSpPr>
          <a:xfrm>
            <a:off x="476250" y="1524000"/>
            <a:ext cx="2476500" cy="3143400"/>
            <a:chOff x="0" y="0"/>
            <a:chExt cx="2476500" cy="3143400"/>
          </a:xfrm>
        </p:grpSpPr>
        <p:sp>
          <p:nvSpPr>
            <p:cNvPr id="294" name="Google Shape;294;p30"/>
            <p:cNvSpPr/>
            <p:nvPr/>
          </p:nvSpPr>
          <p:spPr>
            <a:xfrm>
              <a:off x="0" y="0"/>
              <a:ext cx="2476500" cy="31434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30"/>
            <p:cNvSpPr/>
            <p:nvPr/>
          </p:nvSpPr>
          <p:spPr>
            <a:xfrm>
              <a:off x="171450" y="171450"/>
              <a:ext cx="762000" cy="247800"/>
            </a:xfrm>
            <a:prstGeom prst="roundRect">
              <a:avLst>
                <a:gd fmla="val 23076"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30"/>
            <p:cNvSpPr txBox="1"/>
            <p:nvPr/>
          </p:nvSpPr>
          <p:spPr>
            <a:xfrm>
              <a:off x="171450" y="171450"/>
              <a:ext cx="7620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174EA6"/>
                  </a:solidFill>
                  <a:latin typeface="Roboto"/>
                  <a:ea typeface="Roboto"/>
                  <a:cs typeface="Roboto"/>
                  <a:sym typeface="Roboto"/>
                </a:rPr>
                <a:t>REASON 01</a:t>
              </a:r>
              <a:endParaRPr b="1" sz="850">
                <a:solidFill>
                  <a:srgbClr val="174EA6"/>
                </a:solidFill>
                <a:latin typeface="Roboto"/>
                <a:ea typeface="Roboto"/>
                <a:cs typeface="Roboto"/>
                <a:sym typeface="Roboto"/>
              </a:endParaRPr>
            </a:p>
          </p:txBody>
        </p:sp>
        <p:sp>
          <p:nvSpPr>
            <p:cNvPr id="297" name="Google Shape;297;p30"/>
            <p:cNvSpPr txBox="1"/>
            <p:nvPr/>
          </p:nvSpPr>
          <p:spPr>
            <a:xfrm>
              <a:off x="171450" y="552450"/>
              <a:ext cx="21336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A73E8"/>
                  </a:solidFill>
                  <a:latin typeface="Roboto"/>
                  <a:ea typeface="Roboto"/>
                  <a:cs typeface="Roboto"/>
                  <a:sym typeface="Roboto"/>
                </a:rPr>
                <a:t>System Testing &amp; Validation</a:t>
              </a:r>
              <a:endParaRPr b="1" sz="1300">
                <a:solidFill>
                  <a:srgbClr val="1A73E8"/>
                </a:solidFill>
                <a:latin typeface="Roboto"/>
                <a:ea typeface="Roboto"/>
                <a:cs typeface="Roboto"/>
                <a:sym typeface="Roboto"/>
              </a:endParaRPr>
            </a:p>
            <a:p>
              <a:pPr indent="0" lvl="0" marL="0" rtl="0" algn="l">
                <a:spcBef>
                  <a:spcPts val="800"/>
                </a:spcBef>
                <a:spcAft>
                  <a:spcPts val="0"/>
                </a:spcAft>
                <a:buNone/>
              </a:pPr>
              <a:r>
                <a:rPr b="0" lang="en" sz="1050">
                  <a:solidFill>
                    <a:srgbClr val="3C4043"/>
                  </a:solidFill>
                  <a:latin typeface="Roboto"/>
                  <a:ea typeface="Roboto"/>
                  <a:cs typeface="Roboto"/>
                  <a:sym typeface="Roboto"/>
                </a:rPr>
                <a:t>Synthetic data is crucial for testing and verifying that the system pipeline works end-to-end effectively.</a:t>
              </a:r>
              <a:endParaRPr b="0" sz="1050">
                <a:solidFill>
                  <a:srgbClr val="3C4043"/>
                </a:solidFill>
                <a:latin typeface="Roboto"/>
                <a:ea typeface="Roboto"/>
                <a:cs typeface="Roboto"/>
                <a:sym typeface="Roboto"/>
              </a:endParaRPr>
            </a:p>
          </p:txBody>
        </p:sp>
      </p:grpSp>
      <p:grpSp>
        <p:nvGrpSpPr>
          <p:cNvPr id="298" name="Google Shape;298;p30"/>
          <p:cNvGrpSpPr/>
          <p:nvPr/>
        </p:nvGrpSpPr>
        <p:grpSpPr>
          <a:xfrm>
            <a:off x="3333750" y="1524000"/>
            <a:ext cx="2476500" cy="3143400"/>
            <a:chOff x="0" y="0"/>
            <a:chExt cx="2476500" cy="3143400"/>
          </a:xfrm>
        </p:grpSpPr>
        <p:sp>
          <p:nvSpPr>
            <p:cNvPr id="299" name="Google Shape;299;p30"/>
            <p:cNvSpPr/>
            <p:nvPr/>
          </p:nvSpPr>
          <p:spPr>
            <a:xfrm>
              <a:off x="0" y="0"/>
              <a:ext cx="2476500" cy="31434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30"/>
            <p:cNvSpPr/>
            <p:nvPr/>
          </p:nvSpPr>
          <p:spPr>
            <a:xfrm>
              <a:off x="171450" y="171450"/>
              <a:ext cx="762000" cy="247800"/>
            </a:xfrm>
            <a:prstGeom prst="roundRect">
              <a:avLst>
                <a:gd fmla="val 23076"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30"/>
            <p:cNvSpPr txBox="1"/>
            <p:nvPr/>
          </p:nvSpPr>
          <p:spPr>
            <a:xfrm>
              <a:off x="171450" y="171450"/>
              <a:ext cx="7620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174EA6"/>
                  </a:solidFill>
                  <a:latin typeface="Roboto"/>
                  <a:ea typeface="Roboto"/>
                  <a:cs typeface="Roboto"/>
                  <a:sym typeface="Roboto"/>
                </a:rPr>
                <a:t>REASON 02</a:t>
              </a:r>
              <a:endParaRPr b="1" sz="850">
                <a:solidFill>
                  <a:srgbClr val="174EA6"/>
                </a:solidFill>
                <a:latin typeface="Roboto"/>
                <a:ea typeface="Roboto"/>
                <a:cs typeface="Roboto"/>
                <a:sym typeface="Roboto"/>
              </a:endParaRPr>
            </a:p>
          </p:txBody>
        </p:sp>
        <p:sp>
          <p:nvSpPr>
            <p:cNvPr id="302" name="Google Shape;302;p30"/>
            <p:cNvSpPr txBox="1"/>
            <p:nvPr/>
          </p:nvSpPr>
          <p:spPr>
            <a:xfrm>
              <a:off x="171450" y="552450"/>
              <a:ext cx="21336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A73E8"/>
                  </a:solidFill>
                  <a:latin typeface="Roboto"/>
                  <a:ea typeface="Roboto"/>
                  <a:cs typeface="Roboto"/>
                  <a:sym typeface="Roboto"/>
                </a:rPr>
                <a:t>Repository Compliance</a:t>
              </a:r>
              <a:endParaRPr b="1" sz="1300">
                <a:solidFill>
                  <a:srgbClr val="1A73E8"/>
                </a:solidFill>
                <a:latin typeface="Roboto"/>
                <a:ea typeface="Roboto"/>
                <a:cs typeface="Roboto"/>
                <a:sym typeface="Roboto"/>
              </a:endParaRPr>
            </a:p>
            <a:p>
              <a:pPr indent="0" lvl="0" marL="0" rtl="0" algn="l">
                <a:spcBef>
                  <a:spcPts val="800"/>
                </a:spcBef>
                <a:spcAft>
                  <a:spcPts val="0"/>
                </a:spcAft>
                <a:buNone/>
              </a:pPr>
              <a:r>
                <a:rPr b="0" lang="en" sz="1050">
                  <a:solidFill>
                    <a:srgbClr val="3C4043"/>
                  </a:solidFill>
                  <a:latin typeface="Roboto"/>
                  <a:ea typeface="Roboto"/>
                  <a:cs typeface="Roboto"/>
                  <a:sym typeface="Roboto"/>
                </a:rPr>
                <a:t>Publishing requires sample data for users, but real MIMIC-IV datasets cannot be included due to strict terms of use.</a:t>
              </a:r>
              <a:endParaRPr b="0" sz="1050">
                <a:solidFill>
                  <a:srgbClr val="3C4043"/>
                </a:solidFill>
                <a:latin typeface="Roboto"/>
                <a:ea typeface="Roboto"/>
                <a:cs typeface="Roboto"/>
                <a:sym typeface="Roboto"/>
              </a:endParaRPr>
            </a:p>
          </p:txBody>
        </p:sp>
      </p:grpSp>
      <p:grpSp>
        <p:nvGrpSpPr>
          <p:cNvPr id="303" name="Google Shape;303;p30"/>
          <p:cNvGrpSpPr/>
          <p:nvPr/>
        </p:nvGrpSpPr>
        <p:grpSpPr>
          <a:xfrm>
            <a:off x="6191250" y="1524000"/>
            <a:ext cx="2476500" cy="3143400"/>
            <a:chOff x="0" y="0"/>
            <a:chExt cx="2476500" cy="3143400"/>
          </a:xfrm>
        </p:grpSpPr>
        <p:sp>
          <p:nvSpPr>
            <p:cNvPr id="304" name="Google Shape;304;p30"/>
            <p:cNvSpPr/>
            <p:nvPr/>
          </p:nvSpPr>
          <p:spPr>
            <a:xfrm>
              <a:off x="0" y="0"/>
              <a:ext cx="2476500" cy="31434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30"/>
            <p:cNvSpPr/>
            <p:nvPr/>
          </p:nvSpPr>
          <p:spPr>
            <a:xfrm>
              <a:off x="171450" y="171450"/>
              <a:ext cx="762000" cy="247800"/>
            </a:xfrm>
            <a:prstGeom prst="roundRect">
              <a:avLst>
                <a:gd fmla="val 23076"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30"/>
            <p:cNvSpPr txBox="1"/>
            <p:nvPr/>
          </p:nvSpPr>
          <p:spPr>
            <a:xfrm>
              <a:off x="171450" y="171450"/>
              <a:ext cx="7620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174EA6"/>
                  </a:solidFill>
                  <a:latin typeface="Roboto"/>
                  <a:ea typeface="Roboto"/>
                  <a:cs typeface="Roboto"/>
                  <a:sym typeface="Roboto"/>
                </a:rPr>
                <a:t>REASON 03</a:t>
              </a:r>
              <a:endParaRPr b="1" sz="850">
                <a:solidFill>
                  <a:srgbClr val="174EA6"/>
                </a:solidFill>
                <a:latin typeface="Roboto"/>
                <a:ea typeface="Roboto"/>
                <a:cs typeface="Roboto"/>
                <a:sym typeface="Roboto"/>
              </a:endParaRPr>
            </a:p>
          </p:txBody>
        </p:sp>
        <p:sp>
          <p:nvSpPr>
            <p:cNvPr id="307" name="Google Shape;307;p30"/>
            <p:cNvSpPr txBox="1"/>
            <p:nvPr/>
          </p:nvSpPr>
          <p:spPr>
            <a:xfrm>
              <a:off x="171450" y="552450"/>
              <a:ext cx="21336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A73E8"/>
                  </a:solidFill>
                  <a:latin typeface="Roboto"/>
                  <a:ea typeface="Roboto"/>
                  <a:cs typeface="Roboto"/>
                  <a:sym typeface="Roboto"/>
                </a:rPr>
                <a:t>Agentic AI Security</a:t>
              </a:r>
              <a:endParaRPr b="1" sz="1300">
                <a:solidFill>
                  <a:srgbClr val="1A73E8"/>
                </a:solidFill>
                <a:latin typeface="Roboto"/>
                <a:ea typeface="Roboto"/>
                <a:cs typeface="Roboto"/>
                <a:sym typeface="Roboto"/>
              </a:endParaRPr>
            </a:p>
            <a:p>
              <a:pPr indent="0" lvl="0" marL="0" rtl="0" algn="l">
                <a:spcBef>
                  <a:spcPts val="800"/>
                </a:spcBef>
                <a:spcAft>
                  <a:spcPts val="0"/>
                </a:spcAft>
                <a:buNone/>
              </a:pPr>
              <a:r>
                <a:rPr b="0" lang="en" sz="1050">
                  <a:solidFill>
                    <a:srgbClr val="3C4043"/>
                  </a:solidFill>
                  <a:latin typeface="Roboto"/>
                  <a:ea typeface="Roboto"/>
                  <a:cs typeface="Roboto"/>
                  <a:sym typeface="Roboto"/>
                </a:rPr>
                <a:t>IDE-integrated agentic coding tools scan full repos; actual patient data must not be exposed during active development.</a:t>
              </a:r>
              <a:endParaRPr b="0" sz="1050">
                <a:solidFill>
                  <a:srgbClr val="3C4043"/>
                </a:solidFill>
                <a:latin typeface="Roboto"/>
                <a:ea typeface="Roboto"/>
                <a:cs typeface="Roboto"/>
                <a:sym typeface="Roboto"/>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1"/>
          <p:cNvSpPr/>
          <p:nvPr/>
        </p:nvSpPr>
        <p:spPr>
          <a:xfrm>
            <a:off x="0" y="1143000"/>
            <a:ext cx="9144000" cy="4000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31"/>
          <p:cNvSpPr txBox="1"/>
          <p:nvPr>
            <p:ph type="title"/>
          </p:nvPr>
        </p:nvSpPr>
        <p:spPr>
          <a:xfrm>
            <a:off x="476250" y="238125"/>
            <a:ext cx="81915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 sz="2800">
                <a:solidFill>
                  <a:srgbClr val="FFFFFF"/>
                </a:solidFill>
                <a:latin typeface="Roboto"/>
                <a:ea typeface="Roboto"/>
                <a:cs typeface="Roboto"/>
                <a:sym typeface="Roboto"/>
              </a:rPr>
              <a:t>The Process</a:t>
            </a:r>
            <a:endParaRPr b="1" sz="2800">
              <a:solidFill>
                <a:srgbClr val="FFFFFF"/>
              </a:solidFill>
              <a:latin typeface="Roboto"/>
              <a:ea typeface="Roboto"/>
              <a:cs typeface="Roboto"/>
              <a:sym typeface="Roboto"/>
            </a:endParaRPr>
          </a:p>
        </p:txBody>
      </p:sp>
      <p:grpSp>
        <p:nvGrpSpPr>
          <p:cNvPr id="314" name="Google Shape;314;p31"/>
          <p:cNvGrpSpPr/>
          <p:nvPr/>
        </p:nvGrpSpPr>
        <p:grpSpPr>
          <a:xfrm>
            <a:off x="476250" y="1295400"/>
            <a:ext cx="3619500" cy="3505200"/>
            <a:chOff x="0" y="-133350"/>
            <a:chExt cx="3619500" cy="3505200"/>
          </a:xfrm>
        </p:grpSpPr>
        <p:sp>
          <p:nvSpPr>
            <p:cNvPr id="315" name="Google Shape;315;p31"/>
            <p:cNvSpPr/>
            <p:nvPr/>
          </p:nvSpPr>
          <p:spPr>
            <a:xfrm>
              <a:off x="0" y="-133350"/>
              <a:ext cx="3619500" cy="3505200"/>
            </a:xfrm>
            <a:prstGeom prst="roundRect">
              <a:avLst>
                <a:gd fmla="val 326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31"/>
            <p:cNvSpPr/>
            <p:nvPr/>
          </p:nvSpPr>
          <p:spPr>
            <a:xfrm>
              <a:off x="171450" y="38100"/>
              <a:ext cx="1714500" cy="247800"/>
            </a:xfrm>
            <a:prstGeom prst="roundRect">
              <a:avLst>
                <a:gd fmla="val 23075"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31"/>
            <p:cNvSpPr txBox="1"/>
            <p:nvPr/>
          </p:nvSpPr>
          <p:spPr>
            <a:xfrm>
              <a:off x="171450" y="38100"/>
              <a:ext cx="17145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850">
                  <a:solidFill>
                    <a:srgbClr val="174EA6"/>
                  </a:solidFill>
                  <a:latin typeface="Roboto"/>
                  <a:ea typeface="Roboto"/>
                  <a:cs typeface="Roboto"/>
                  <a:sym typeface="Roboto"/>
                </a:rPr>
                <a:t>GENERATION SCRIPT</a:t>
              </a:r>
              <a:endParaRPr b="1" i="0" sz="850">
                <a:solidFill>
                  <a:srgbClr val="174EA6"/>
                </a:solidFill>
                <a:latin typeface="Roboto"/>
                <a:ea typeface="Roboto"/>
                <a:cs typeface="Roboto"/>
                <a:sym typeface="Roboto"/>
              </a:endParaRPr>
            </a:p>
          </p:txBody>
        </p:sp>
        <p:sp>
          <p:nvSpPr>
            <p:cNvPr id="318" name="Google Shape;318;p31"/>
            <p:cNvSpPr txBox="1"/>
            <p:nvPr/>
          </p:nvSpPr>
          <p:spPr>
            <a:xfrm>
              <a:off x="171450" y="419100"/>
              <a:ext cx="3276600" cy="2762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300">
                  <a:solidFill>
                    <a:srgbClr val="1A73E8"/>
                  </a:solidFill>
                  <a:latin typeface="Roboto"/>
                  <a:ea typeface="Roboto"/>
                  <a:cs typeface="Roboto"/>
                  <a:sym typeface="Roboto"/>
                </a:rPr>
                <a:t>GitHub Link to Generation Script</a:t>
              </a:r>
              <a:endParaRPr b="1" i="0" sz="1300">
                <a:solidFill>
                  <a:srgbClr val="1A73E8"/>
                </a:solidFill>
                <a:latin typeface="Roboto"/>
                <a:ea typeface="Roboto"/>
                <a:cs typeface="Roboto"/>
                <a:sym typeface="Roboto"/>
              </a:endParaRPr>
            </a:p>
            <a:p>
              <a:pPr indent="-311150" lvl="0" marL="457200" rtl="0" algn="l">
                <a:spcBef>
                  <a:spcPts val="1400"/>
                </a:spcBef>
                <a:spcAft>
                  <a:spcPts val="0"/>
                </a:spcAft>
                <a:buClr>
                  <a:srgbClr val="1A73E8"/>
                </a:buClr>
                <a:buSzPts val="1300"/>
                <a:buFont typeface="Roboto"/>
                <a:buChar char="●"/>
              </a:pPr>
              <a:r>
                <a:rPr b="0" i="0" lang="en" sz="1050">
                  <a:solidFill>
                    <a:srgbClr val="3C4043"/>
                  </a:solidFill>
                  <a:latin typeface="Roboto"/>
                  <a:ea typeface="Roboto"/>
                  <a:cs typeface="Roboto"/>
                  <a:sym typeface="Roboto"/>
                </a:rPr>
                <a:t>An LLM was used to generate fake medical notes</a:t>
              </a:r>
              <a:endParaRPr b="1" i="0" sz="1300">
                <a:solidFill>
                  <a:srgbClr val="1A73E8"/>
                </a:solidFill>
                <a:latin typeface="Roboto"/>
                <a:ea typeface="Roboto"/>
                <a:cs typeface="Roboto"/>
                <a:sym typeface="Roboto"/>
              </a:endParaRPr>
            </a:p>
            <a:p>
              <a:pPr indent="-311150" lvl="0" marL="457200" rtl="0" algn="l">
                <a:spcBef>
                  <a:spcPts val="1200"/>
                </a:spcBef>
                <a:spcAft>
                  <a:spcPts val="0"/>
                </a:spcAft>
                <a:buClr>
                  <a:srgbClr val="1A73E8"/>
                </a:buClr>
                <a:buSzPts val="1300"/>
                <a:buFont typeface="Roboto"/>
                <a:buChar char="●"/>
              </a:pPr>
              <a:r>
                <a:rPr b="0" i="0" lang="en" sz="1050">
                  <a:solidFill>
                    <a:srgbClr val="3C4043"/>
                  </a:solidFill>
                  <a:latin typeface="Roboto"/>
                  <a:ea typeface="Roboto"/>
                  <a:cs typeface="Roboto"/>
                  <a:sym typeface="Roboto"/>
                </a:rPr>
                <a:t>The script combines various preprogrammed sections of a medical note into a complete fake note</a:t>
              </a:r>
              <a:endParaRPr b="1" i="0" sz="1300">
                <a:solidFill>
                  <a:srgbClr val="1A73E8"/>
                </a:solidFill>
                <a:latin typeface="Roboto"/>
                <a:ea typeface="Roboto"/>
                <a:cs typeface="Roboto"/>
                <a:sym typeface="Roboto"/>
              </a:endParaRPr>
            </a:p>
            <a:p>
              <a:pPr indent="-311150" lvl="0" marL="457200" rtl="0" algn="l">
                <a:spcBef>
                  <a:spcPts val="1200"/>
                </a:spcBef>
                <a:spcAft>
                  <a:spcPts val="1200"/>
                </a:spcAft>
                <a:buClr>
                  <a:srgbClr val="1A73E8"/>
                </a:buClr>
                <a:buSzPts val="1300"/>
                <a:buFont typeface="Roboto"/>
                <a:buChar char="●"/>
              </a:pPr>
              <a:r>
                <a:rPr b="0" i="0" lang="en" sz="1050">
                  <a:solidFill>
                    <a:srgbClr val="3C4043"/>
                  </a:solidFill>
                  <a:latin typeface="Roboto"/>
                  <a:ea typeface="Roboto"/>
                  <a:cs typeface="Roboto"/>
                  <a:sym typeface="Roboto"/>
                </a:rPr>
                <a:t>Matching ICD-10 code rows for each hospital admission are included in the generated diagnoses_icd.csv</a:t>
              </a:r>
              <a:r>
                <a:rPr lang="en" sz="1050">
                  <a:solidFill>
                    <a:srgbClr val="3C4043"/>
                  </a:solidFill>
                  <a:latin typeface="Roboto"/>
                  <a:ea typeface="Roboto"/>
                  <a:cs typeface="Roboto"/>
                  <a:sym typeface="Roboto"/>
                </a:rPr>
                <a:t/>
              </a:r>
              <a:endParaRPr b="1" i="0" sz="1300">
                <a:solidFill>
                  <a:srgbClr val="1A73E8"/>
                </a:solidFill>
                <a:latin typeface="Roboto"/>
                <a:ea typeface="Roboto"/>
                <a:cs typeface="Roboto"/>
                <a:sym typeface="Roboto"/>
              </a:endParaRPr>
            </a:p>
          </p:txBody>
        </p:sp>
      </p:grpSp>
      <p:pic>
        <p:nvPicPr>
          <p:cNvPr id="319" name="Google Shape;319;p31"/>
          <p:cNvPicPr preferRelativeResize="0"/>
          <p:nvPr/>
        </p:nvPicPr>
        <p:blipFill rotWithShape="1">
          <a:blip r:embed="rId3">
            <a:alphaModFix/>
          </a:blip>
          <a:srcRect b="0" l="0" r="10" t="0"/>
          <a:stretch/>
        </p:blipFill>
        <p:spPr>
          <a:xfrm>
            <a:off x="4381500" y="1295400"/>
            <a:ext cx="4286400" cy="3505200"/>
          </a:xfrm>
          <a:prstGeom prst="rect">
            <a:avLst/>
          </a:prstGeom>
          <a:noFill/>
          <a:ln>
            <a:noFill/>
          </a:ln>
        </p:spPr>
      </p:pic>
      <p:sp>
        <p:nvSpPr>
          <p:cNvPr id="320" name="Google Shape;320;p31"/>
          <p:cNvSpPr/>
          <p:nvPr/>
        </p:nvSpPr>
        <p:spPr>
          <a:xfrm>
            <a:off x="4381500" y="1295400"/>
            <a:ext cx="4286400" cy="3505200"/>
          </a:xfrm>
          <a:prstGeom prst="roundRect">
            <a:avLst>
              <a:gd fmla="val 3260" name="adj"/>
            </a:avLst>
          </a:prstGeom>
          <a:solidFill>
            <a:srgbClr val="000000">
              <a:alpha val="0"/>
            </a:srgbClr>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Example Synthetic Notes 1</a:t>
            </a:r>
            <a:endParaRPr/>
          </a:p>
        </p:txBody>
      </p:sp>
      <p:sp>
        <p:nvSpPr>
          <p:cNvPr id="326" name="Google Shape;326;p32"/>
          <p:cNvSpPr txBox="1"/>
          <p:nvPr/>
        </p:nvSpPr>
        <p:spPr>
          <a:xfrm>
            <a:off x="255950" y="698925"/>
            <a:ext cx="7845600" cy="38442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Admission Date:  ___              Discharge Date:   ___</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Date of Birth:  ___             Sex:   M</a:t>
            </a:r>
            <a:endParaRPr sz="10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Service: MEDICINE</a:t>
            </a:r>
            <a:endParaRPr sz="10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History of Present Illness:</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___ is a 34 year old man with a history of upper respiratory infection, hypertension, type 2 diabetes mellitus, hyperlipidemia, remote tobacco use, former smoker, acute kidney injury, atrial fibrillation, hypertensive chronic kidney disease, who presented with cough. On arrival to the ED, vitals were notable for ___. The patient stated, ""it has been getting worse for ___ days.""</a:t>
            </a:r>
            <a:endParaRPr sz="10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Past Medical History:</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upper respiratory infection</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hypertension</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type 2 diabetes mellitus</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hyperlipidemia</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remote tobacco use, former smoker</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acute kidney injury</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atrial fibrillation</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hypertensive chronic kidney disease</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Social History:</a:t>
            </a:r>
            <a:endParaRPr sz="1050">
              <a:solidFill>
                <a:srgbClr val="4EC9B0"/>
              </a:solidFill>
              <a:highlight>
                <a:srgbClr val="121314"/>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Example Synthetic Notes 2</a:t>
            </a:r>
            <a:endParaRPr/>
          </a:p>
        </p:txBody>
      </p:sp>
      <p:sp>
        <p:nvSpPr>
          <p:cNvPr id="332" name="Google Shape;332;p33"/>
          <p:cNvSpPr txBox="1"/>
          <p:nvPr/>
        </p:nvSpPr>
        <p:spPr>
          <a:xfrm>
            <a:off x="255950" y="698925"/>
            <a:ext cx="7845600" cy="38442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 Lung cancer: managed per the primary team, with improvement noted during the stay.</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Laboratory studies were reviewed daily, including a basic metabolic panel, complete blood count, and magnesium level. An electrocardiogram showed no acute changes compared with the prior tracing, and telemetry was unremarkable. Physical therapy evaluated the patient, and recommended a short course of rehabilitation, ""as tolerated"" per protocol. Case management arranged outpatient follow-up, and transportation was confirmed with the family prior to discharge. An electrocardiogram showed no acute changes compared with the prior tracing, and telemetry was unremarkable. An electrocardiogram showed no acute changes compared with the prior tracing, and telemetry was unremarkable. The patient was seen and examined by the primary team, and the plan was discussed with the family at the bedside. Laboratory studies were reviewed daily, including a basic metabolic panel, complete blood count, and magnesium level. An electrocardiogram showed no acute changes compared with the prior tracing, and telemetry was unremarkable. Imaging was obtained, and the radiology read was reviewed with the consulting service, who agreed with the plan.</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BBBEB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Discharge Medications:</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1. Atorvastatin 40 mg PO QPM</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2. Tamsulosin 0.4 mg PO QHS</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3. Lisinopril 10 mg PO DAILY</a:t>
            </a:r>
            <a:endParaRPr sz="1050">
              <a:solidFill>
                <a:srgbClr val="4EC9B0"/>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4EC9B0"/>
                </a:solidFill>
                <a:highlight>
                  <a:srgbClr val="121314"/>
                </a:highlight>
                <a:latin typeface="Courier New"/>
                <a:ea typeface="Courier New"/>
                <a:cs typeface="Courier New"/>
                <a:sym typeface="Courier New"/>
              </a:rPr>
              <a:t>4. Apixaban 5 mg PO BID</a:t>
            </a:r>
            <a:endParaRPr sz="1050">
              <a:solidFill>
                <a:srgbClr val="4EC9B0"/>
              </a:solidFill>
              <a:highlight>
                <a:srgbClr val="121314"/>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Example Synthetic diagnoses_icd</a:t>
            </a:r>
            <a:endParaRPr/>
          </a:p>
        </p:txBody>
      </p:sp>
      <p:sp>
        <p:nvSpPr>
          <p:cNvPr id="338" name="Google Shape;338;p34"/>
          <p:cNvSpPr txBox="1"/>
          <p:nvPr/>
        </p:nvSpPr>
        <p:spPr>
          <a:xfrm>
            <a:off x="98250" y="849000"/>
            <a:ext cx="2989200" cy="4294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6712572,</a:t>
            </a:r>
            <a:r>
              <a:rPr lang="en" sz="1050">
                <a:solidFill>
                  <a:srgbClr val="FF7B72"/>
                </a:solidFill>
                <a:highlight>
                  <a:srgbClr val="121314"/>
                </a:highlight>
                <a:latin typeface="Courier New"/>
                <a:ea typeface="Courier New"/>
                <a:cs typeface="Courier New"/>
                <a:sym typeface="Courier New"/>
              </a:rPr>
              <a:t>27232402,</a:t>
            </a:r>
            <a:r>
              <a:rPr lang="en" sz="1050">
                <a:solidFill>
                  <a:srgbClr val="D2A8FF"/>
                </a:solidFill>
                <a:highlight>
                  <a:srgbClr val="121314"/>
                </a:highlight>
                <a:latin typeface="Courier New"/>
                <a:ea typeface="Courier New"/>
                <a:cs typeface="Courier New"/>
                <a:sym typeface="Courier New"/>
              </a:rPr>
              <a:t>1,</a:t>
            </a:r>
            <a:r>
              <a:rPr lang="en" sz="1050">
                <a:solidFill>
                  <a:srgbClr val="8B949E"/>
                </a:solidFill>
                <a:highlight>
                  <a:srgbClr val="121314"/>
                </a:highlight>
                <a:latin typeface="Courier New"/>
                <a:ea typeface="Courier New"/>
                <a:cs typeface="Courier New"/>
                <a:sym typeface="Courier New"/>
              </a:rPr>
              <a:t>I10,</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16712572,</a:t>
            </a:r>
            <a:r>
              <a:rPr lang="en" sz="1050">
                <a:solidFill>
                  <a:srgbClr val="FF7B72"/>
                </a:solidFill>
                <a:highlight>
                  <a:srgbClr val="121314"/>
                </a:highlight>
                <a:latin typeface="Courier New"/>
                <a:ea typeface="Courier New"/>
                <a:cs typeface="Courier New"/>
                <a:sym typeface="Courier New"/>
              </a:rPr>
              <a:t>27232402,</a:t>
            </a:r>
            <a:r>
              <a:rPr lang="en" sz="1050">
                <a:solidFill>
                  <a:srgbClr val="D2A8FF"/>
                </a:solidFill>
                <a:highlight>
                  <a:srgbClr val="121314"/>
                </a:highlight>
                <a:latin typeface="Courier New"/>
                <a:ea typeface="Courier New"/>
                <a:cs typeface="Courier New"/>
                <a:sym typeface="Courier New"/>
              </a:rPr>
              <a:t>2,</a:t>
            </a:r>
            <a:r>
              <a:rPr lang="en" sz="1050">
                <a:solidFill>
                  <a:srgbClr val="8B949E"/>
                </a:solidFill>
                <a:highlight>
                  <a:srgbClr val="121314"/>
                </a:highlight>
                <a:latin typeface="Courier New"/>
                <a:ea typeface="Courier New"/>
                <a:cs typeface="Courier New"/>
                <a:sym typeface="Courier New"/>
              </a:rPr>
              <a:t>J189,</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16712572,</a:t>
            </a:r>
            <a:r>
              <a:rPr lang="en" sz="1050">
                <a:solidFill>
                  <a:srgbClr val="FF7B72"/>
                </a:solidFill>
                <a:highlight>
                  <a:srgbClr val="121314"/>
                </a:highlight>
                <a:latin typeface="Courier New"/>
                <a:ea typeface="Courier New"/>
                <a:cs typeface="Courier New"/>
                <a:sym typeface="Courier New"/>
              </a:rPr>
              <a:t>27232402,</a:t>
            </a:r>
            <a:r>
              <a:rPr lang="en" sz="1050">
                <a:solidFill>
                  <a:srgbClr val="D2A8FF"/>
                </a:solidFill>
                <a:highlight>
                  <a:srgbClr val="121314"/>
                </a:highlight>
                <a:latin typeface="Courier New"/>
                <a:ea typeface="Courier New"/>
                <a:cs typeface="Courier New"/>
                <a:sym typeface="Courier New"/>
              </a:rPr>
              <a:t>3,</a:t>
            </a:r>
            <a:r>
              <a:rPr lang="en" sz="1050">
                <a:solidFill>
                  <a:srgbClr val="8B949E"/>
                </a:solidFill>
                <a:highlight>
                  <a:srgbClr val="121314"/>
                </a:highlight>
                <a:latin typeface="Courier New"/>
                <a:ea typeface="Courier New"/>
                <a:cs typeface="Courier New"/>
                <a:sym typeface="Courier New"/>
              </a:rPr>
              <a:t>E785,</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16712572,</a:t>
            </a:r>
            <a:r>
              <a:rPr lang="en" sz="1050">
                <a:solidFill>
                  <a:srgbClr val="FF7B72"/>
                </a:solidFill>
                <a:highlight>
                  <a:srgbClr val="121314"/>
                </a:highlight>
                <a:latin typeface="Courier New"/>
                <a:ea typeface="Courier New"/>
                <a:cs typeface="Courier New"/>
                <a:sym typeface="Courier New"/>
              </a:rPr>
              <a:t>27232402,</a:t>
            </a:r>
            <a:r>
              <a:rPr lang="en" sz="1050">
                <a:solidFill>
                  <a:srgbClr val="D2A8FF"/>
                </a:solidFill>
                <a:highlight>
                  <a:srgbClr val="121314"/>
                </a:highlight>
                <a:latin typeface="Courier New"/>
                <a:ea typeface="Courier New"/>
                <a:cs typeface="Courier New"/>
                <a:sym typeface="Courier New"/>
              </a:rPr>
              <a:t>4,</a:t>
            </a:r>
            <a:r>
              <a:rPr lang="en" sz="1050">
                <a:solidFill>
                  <a:srgbClr val="8B949E"/>
                </a:solidFill>
                <a:highlight>
                  <a:srgbClr val="121314"/>
                </a:highlight>
                <a:latin typeface="Courier New"/>
                <a:ea typeface="Courier New"/>
                <a:cs typeface="Courier New"/>
                <a:sym typeface="Courier New"/>
              </a:rPr>
              <a:t>Z87891,</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16712572,</a:t>
            </a:r>
            <a:r>
              <a:rPr lang="en" sz="1050">
                <a:solidFill>
                  <a:srgbClr val="FF7B72"/>
                </a:solidFill>
                <a:highlight>
                  <a:srgbClr val="121314"/>
                </a:highlight>
                <a:latin typeface="Courier New"/>
                <a:ea typeface="Courier New"/>
                <a:cs typeface="Courier New"/>
                <a:sym typeface="Courier New"/>
              </a:rPr>
              <a:t>27232402,</a:t>
            </a:r>
            <a:r>
              <a:rPr lang="en" sz="1050">
                <a:solidFill>
                  <a:srgbClr val="D2A8FF"/>
                </a:solidFill>
                <a:highlight>
                  <a:srgbClr val="121314"/>
                </a:highlight>
                <a:latin typeface="Courier New"/>
                <a:ea typeface="Courier New"/>
                <a:cs typeface="Courier New"/>
                <a:sym typeface="Courier New"/>
              </a:rPr>
              <a:t>5,</a:t>
            </a:r>
            <a:r>
              <a:rPr lang="en" sz="1050">
                <a:solidFill>
                  <a:srgbClr val="8B949E"/>
                </a:solidFill>
                <a:highlight>
                  <a:srgbClr val="121314"/>
                </a:highlight>
                <a:latin typeface="Courier New"/>
                <a:ea typeface="Courier New"/>
                <a:cs typeface="Courier New"/>
                <a:sym typeface="Courier New"/>
              </a:rPr>
              <a:t>I4891,</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16712572,</a:t>
            </a:r>
            <a:r>
              <a:rPr lang="en" sz="1050">
                <a:solidFill>
                  <a:srgbClr val="FF7B72"/>
                </a:solidFill>
                <a:highlight>
                  <a:srgbClr val="121314"/>
                </a:highlight>
                <a:latin typeface="Courier New"/>
                <a:ea typeface="Courier New"/>
                <a:cs typeface="Courier New"/>
                <a:sym typeface="Courier New"/>
              </a:rPr>
              <a:t>27232402,</a:t>
            </a:r>
            <a:r>
              <a:rPr lang="en" sz="1050">
                <a:solidFill>
                  <a:srgbClr val="D2A8FF"/>
                </a:solidFill>
                <a:highlight>
                  <a:srgbClr val="121314"/>
                </a:highlight>
                <a:latin typeface="Courier New"/>
                <a:ea typeface="Courier New"/>
                <a:cs typeface="Courier New"/>
                <a:sym typeface="Courier New"/>
              </a:rPr>
              <a:t>6,</a:t>
            </a:r>
            <a:r>
              <a:rPr lang="en" sz="1050">
                <a:solidFill>
                  <a:srgbClr val="8B949E"/>
                </a:solidFill>
                <a:highlight>
                  <a:srgbClr val="121314"/>
                </a:highlight>
                <a:latin typeface="Courier New"/>
                <a:ea typeface="Courier New"/>
                <a:cs typeface="Courier New"/>
                <a:sym typeface="Courier New"/>
              </a:rPr>
              <a:t>I2510,</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16712572,</a:t>
            </a:r>
            <a:r>
              <a:rPr lang="en" sz="1050">
                <a:solidFill>
                  <a:srgbClr val="FF7B72"/>
                </a:solidFill>
                <a:highlight>
                  <a:srgbClr val="121314"/>
                </a:highlight>
                <a:latin typeface="Courier New"/>
                <a:ea typeface="Courier New"/>
                <a:cs typeface="Courier New"/>
                <a:sym typeface="Courier New"/>
              </a:rPr>
              <a:t>27232402,</a:t>
            </a:r>
            <a:r>
              <a:rPr lang="en" sz="1050">
                <a:solidFill>
                  <a:srgbClr val="D2A8FF"/>
                </a:solidFill>
                <a:highlight>
                  <a:srgbClr val="121314"/>
                </a:highlight>
                <a:latin typeface="Courier New"/>
                <a:ea typeface="Courier New"/>
                <a:cs typeface="Courier New"/>
                <a:sym typeface="Courier New"/>
              </a:rPr>
              <a:t>7,</a:t>
            </a:r>
            <a:r>
              <a:rPr lang="en" sz="1050">
                <a:solidFill>
                  <a:srgbClr val="8B949E"/>
                </a:solidFill>
                <a:highlight>
                  <a:srgbClr val="121314"/>
                </a:highlight>
                <a:latin typeface="Courier New"/>
                <a:ea typeface="Courier New"/>
                <a:cs typeface="Courier New"/>
                <a:sym typeface="Courier New"/>
              </a:rPr>
              <a:t>N179,</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16712572,</a:t>
            </a:r>
            <a:r>
              <a:rPr lang="en" sz="1050">
                <a:solidFill>
                  <a:srgbClr val="FF7B72"/>
                </a:solidFill>
                <a:highlight>
                  <a:srgbClr val="121314"/>
                </a:highlight>
                <a:latin typeface="Courier New"/>
                <a:ea typeface="Courier New"/>
                <a:cs typeface="Courier New"/>
                <a:sym typeface="Courier New"/>
              </a:rPr>
              <a:t>27232402,</a:t>
            </a:r>
            <a:r>
              <a:rPr lang="en" sz="1050">
                <a:solidFill>
                  <a:srgbClr val="D2A8FF"/>
                </a:solidFill>
                <a:highlight>
                  <a:srgbClr val="121314"/>
                </a:highlight>
                <a:latin typeface="Courier New"/>
                <a:ea typeface="Courier New"/>
                <a:cs typeface="Courier New"/>
                <a:sym typeface="Courier New"/>
              </a:rPr>
              <a:t>8,</a:t>
            </a:r>
            <a:r>
              <a:rPr lang="en" sz="1050">
                <a:solidFill>
                  <a:srgbClr val="8B949E"/>
                </a:solidFill>
                <a:highlight>
                  <a:srgbClr val="121314"/>
                </a:highlight>
                <a:latin typeface="Courier New"/>
                <a:ea typeface="Courier New"/>
                <a:cs typeface="Courier New"/>
                <a:sym typeface="Courier New"/>
              </a:rPr>
              <a:t>Z8673,</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16712572,</a:t>
            </a:r>
            <a:r>
              <a:rPr lang="en" sz="1050">
                <a:solidFill>
                  <a:srgbClr val="FF7B72"/>
                </a:solidFill>
                <a:highlight>
                  <a:srgbClr val="121314"/>
                </a:highlight>
                <a:latin typeface="Courier New"/>
                <a:ea typeface="Courier New"/>
                <a:cs typeface="Courier New"/>
                <a:sym typeface="Courier New"/>
              </a:rPr>
              <a:t>27232402,</a:t>
            </a:r>
            <a:r>
              <a:rPr lang="en" sz="1050">
                <a:solidFill>
                  <a:srgbClr val="D2A8FF"/>
                </a:solidFill>
                <a:highlight>
                  <a:srgbClr val="121314"/>
                </a:highlight>
                <a:latin typeface="Courier New"/>
                <a:ea typeface="Courier New"/>
                <a:cs typeface="Courier New"/>
                <a:sym typeface="Courier New"/>
              </a:rPr>
              <a:t>9,</a:t>
            </a:r>
            <a:r>
              <a:rPr lang="en" sz="1050">
                <a:solidFill>
                  <a:srgbClr val="8B949E"/>
                </a:solidFill>
                <a:highlight>
                  <a:srgbClr val="121314"/>
                </a:highlight>
                <a:latin typeface="Courier New"/>
                <a:ea typeface="Courier New"/>
                <a:cs typeface="Courier New"/>
                <a:sym typeface="Courier New"/>
              </a:rPr>
              <a:t>E119,</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16712572,</a:t>
            </a:r>
            <a:r>
              <a:rPr lang="en" sz="1050">
                <a:solidFill>
                  <a:srgbClr val="FF7B72"/>
                </a:solidFill>
                <a:highlight>
                  <a:srgbClr val="121314"/>
                </a:highlight>
                <a:latin typeface="Courier New"/>
                <a:ea typeface="Courier New"/>
                <a:cs typeface="Courier New"/>
                <a:sym typeface="Courier New"/>
              </a:rPr>
              <a:t>27232402,</a:t>
            </a:r>
            <a:r>
              <a:rPr lang="en" sz="1050">
                <a:solidFill>
                  <a:srgbClr val="D2A8FF"/>
                </a:solidFill>
                <a:highlight>
                  <a:srgbClr val="121314"/>
                </a:highlight>
                <a:latin typeface="Courier New"/>
                <a:ea typeface="Courier New"/>
                <a:cs typeface="Courier New"/>
                <a:sym typeface="Courier New"/>
              </a:rPr>
              <a:t>10,</a:t>
            </a:r>
            <a:r>
              <a:rPr lang="en" sz="1050">
                <a:solidFill>
                  <a:srgbClr val="8B949E"/>
                </a:solidFill>
                <a:highlight>
                  <a:srgbClr val="121314"/>
                </a:highlight>
                <a:latin typeface="Courier New"/>
                <a:ea typeface="Courier New"/>
                <a:cs typeface="Courier New"/>
                <a:sym typeface="Courier New"/>
              </a:rPr>
              <a:t>J45909,</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16712572,</a:t>
            </a:r>
            <a:r>
              <a:rPr lang="en" sz="1050">
                <a:solidFill>
                  <a:srgbClr val="FF7B72"/>
                </a:solidFill>
                <a:highlight>
                  <a:srgbClr val="121314"/>
                </a:highlight>
                <a:latin typeface="Courier New"/>
                <a:ea typeface="Courier New"/>
                <a:cs typeface="Courier New"/>
                <a:sym typeface="Courier New"/>
              </a:rPr>
              <a:t>27232402,</a:t>
            </a:r>
            <a:r>
              <a:rPr lang="en" sz="1050">
                <a:solidFill>
                  <a:srgbClr val="D2A8FF"/>
                </a:solidFill>
                <a:highlight>
                  <a:srgbClr val="121314"/>
                </a:highlight>
                <a:latin typeface="Courier New"/>
                <a:ea typeface="Courier New"/>
                <a:cs typeface="Courier New"/>
                <a:sym typeface="Courier New"/>
              </a:rPr>
              <a:t>11,</a:t>
            </a:r>
            <a:r>
              <a:rPr lang="en" sz="1050">
                <a:solidFill>
                  <a:srgbClr val="8B949E"/>
                </a:solidFill>
                <a:highlight>
                  <a:srgbClr val="121314"/>
                </a:highlight>
                <a:latin typeface="Courier New"/>
                <a:ea typeface="Courier New"/>
                <a:cs typeface="Courier New"/>
                <a:sym typeface="Courier New"/>
              </a:rPr>
              <a:t>I5032,</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16712572,</a:t>
            </a:r>
            <a:r>
              <a:rPr lang="en" sz="1050">
                <a:solidFill>
                  <a:srgbClr val="FF7B72"/>
                </a:solidFill>
                <a:highlight>
                  <a:srgbClr val="121314"/>
                </a:highlight>
                <a:latin typeface="Courier New"/>
                <a:ea typeface="Courier New"/>
                <a:cs typeface="Courier New"/>
                <a:sym typeface="Courier New"/>
              </a:rPr>
              <a:t>27232402,</a:t>
            </a:r>
            <a:r>
              <a:rPr lang="en" sz="1050">
                <a:solidFill>
                  <a:srgbClr val="D2A8FF"/>
                </a:solidFill>
                <a:highlight>
                  <a:srgbClr val="121314"/>
                </a:highlight>
                <a:latin typeface="Courier New"/>
                <a:ea typeface="Courier New"/>
                <a:cs typeface="Courier New"/>
                <a:sym typeface="Courier New"/>
              </a:rPr>
              <a:t>12,</a:t>
            </a:r>
            <a:r>
              <a:rPr lang="en" sz="1050">
                <a:solidFill>
                  <a:srgbClr val="8B949E"/>
                </a:solidFill>
                <a:highlight>
                  <a:srgbClr val="121314"/>
                </a:highlight>
                <a:latin typeface="Courier New"/>
                <a:ea typeface="Courier New"/>
                <a:cs typeface="Courier New"/>
                <a:sym typeface="Courier New"/>
              </a:rPr>
              <a:t>E871,</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13164631,</a:t>
            </a:r>
            <a:r>
              <a:rPr lang="en" sz="1050">
                <a:solidFill>
                  <a:srgbClr val="FF7B72"/>
                </a:solidFill>
                <a:highlight>
                  <a:srgbClr val="121314"/>
                </a:highlight>
                <a:latin typeface="Courier New"/>
                <a:ea typeface="Courier New"/>
                <a:cs typeface="Courier New"/>
                <a:sym typeface="Courier New"/>
              </a:rPr>
              <a:t>23554850,</a:t>
            </a:r>
            <a:r>
              <a:rPr lang="en" sz="1050">
                <a:solidFill>
                  <a:srgbClr val="D2A8FF"/>
                </a:solidFill>
                <a:highlight>
                  <a:srgbClr val="121314"/>
                </a:highlight>
                <a:latin typeface="Courier New"/>
                <a:ea typeface="Courier New"/>
                <a:cs typeface="Courier New"/>
                <a:sym typeface="Courier New"/>
              </a:rPr>
              <a:t>1,</a:t>
            </a:r>
            <a:r>
              <a:rPr lang="en" sz="1050">
                <a:solidFill>
                  <a:srgbClr val="8B949E"/>
                </a:solidFill>
                <a:highlight>
                  <a:srgbClr val="121314"/>
                </a:highlight>
                <a:latin typeface="Courier New"/>
                <a:ea typeface="Courier New"/>
                <a:cs typeface="Courier New"/>
                <a:sym typeface="Courier New"/>
              </a:rPr>
              <a:t>I10,</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13164631,</a:t>
            </a:r>
            <a:r>
              <a:rPr lang="en" sz="1050">
                <a:solidFill>
                  <a:srgbClr val="FF7B72"/>
                </a:solidFill>
                <a:highlight>
                  <a:srgbClr val="121314"/>
                </a:highlight>
                <a:latin typeface="Courier New"/>
                <a:ea typeface="Courier New"/>
                <a:cs typeface="Courier New"/>
                <a:sym typeface="Courier New"/>
              </a:rPr>
              <a:t>23554850,</a:t>
            </a:r>
            <a:r>
              <a:rPr lang="en" sz="1050">
                <a:solidFill>
                  <a:srgbClr val="D2A8FF"/>
                </a:solidFill>
                <a:highlight>
                  <a:srgbClr val="121314"/>
                </a:highlight>
                <a:latin typeface="Courier New"/>
                <a:ea typeface="Courier New"/>
                <a:cs typeface="Courier New"/>
                <a:sym typeface="Courier New"/>
              </a:rPr>
              <a:t>2,</a:t>
            </a:r>
            <a:r>
              <a:rPr lang="en" sz="1050">
                <a:solidFill>
                  <a:srgbClr val="8B949E"/>
                </a:solidFill>
                <a:highlight>
                  <a:srgbClr val="121314"/>
                </a:highlight>
                <a:latin typeface="Courier New"/>
                <a:ea typeface="Courier New"/>
                <a:cs typeface="Courier New"/>
                <a:sym typeface="Courier New"/>
              </a:rPr>
              <a:t>E785,</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13164631,</a:t>
            </a:r>
            <a:r>
              <a:rPr lang="en" sz="1050">
                <a:solidFill>
                  <a:srgbClr val="FF7B72"/>
                </a:solidFill>
                <a:highlight>
                  <a:srgbClr val="121314"/>
                </a:highlight>
                <a:latin typeface="Courier New"/>
                <a:ea typeface="Courier New"/>
                <a:cs typeface="Courier New"/>
                <a:sym typeface="Courier New"/>
              </a:rPr>
              <a:t>23554850,</a:t>
            </a:r>
            <a:r>
              <a:rPr lang="en" sz="1050">
                <a:solidFill>
                  <a:srgbClr val="D2A8FF"/>
                </a:solidFill>
                <a:highlight>
                  <a:srgbClr val="121314"/>
                </a:highlight>
                <a:latin typeface="Courier New"/>
                <a:ea typeface="Courier New"/>
                <a:cs typeface="Courier New"/>
                <a:sym typeface="Courier New"/>
              </a:rPr>
              <a:t>3,</a:t>
            </a:r>
            <a:r>
              <a:rPr lang="en" sz="1050">
                <a:solidFill>
                  <a:srgbClr val="8B949E"/>
                </a:solidFill>
                <a:highlight>
                  <a:srgbClr val="121314"/>
                </a:highlight>
                <a:latin typeface="Courier New"/>
                <a:ea typeface="Courier New"/>
                <a:cs typeface="Courier New"/>
                <a:sym typeface="Courier New"/>
              </a:rPr>
              <a:t>N179,</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13164631,</a:t>
            </a:r>
            <a:r>
              <a:rPr lang="en" sz="1050">
                <a:solidFill>
                  <a:srgbClr val="FF7B72"/>
                </a:solidFill>
                <a:highlight>
                  <a:srgbClr val="121314"/>
                </a:highlight>
                <a:latin typeface="Courier New"/>
                <a:ea typeface="Courier New"/>
                <a:cs typeface="Courier New"/>
                <a:sym typeface="Courier New"/>
              </a:rPr>
              <a:t>23554850,</a:t>
            </a:r>
            <a:r>
              <a:rPr lang="en" sz="1050">
                <a:solidFill>
                  <a:srgbClr val="D2A8FF"/>
                </a:solidFill>
                <a:highlight>
                  <a:srgbClr val="121314"/>
                </a:highlight>
                <a:latin typeface="Courier New"/>
                <a:ea typeface="Courier New"/>
                <a:cs typeface="Courier New"/>
                <a:sym typeface="Courier New"/>
              </a:rPr>
              <a:t>4,</a:t>
            </a:r>
            <a:r>
              <a:rPr lang="en" sz="1050">
                <a:solidFill>
                  <a:srgbClr val="8B949E"/>
                </a:solidFill>
                <a:highlight>
                  <a:srgbClr val="121314"/>
                </a:highlight>
                <a:latin typeface="Courier New"/>
                <a:ea typeface="Courier New"/>
                <a:cs typeface="Courier New"/>
                <a:sym typeface="Courier New"/>
              </a:rPr>
              <a:t>I2510,</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13164631,</a:t>
            </a:r>
            <a:r>
              <a:rPr lang="en" sz="1050">
                <a:solidFill>
                  <a:srgbClr val="FF7B72"/>
                </a:solidFill>
                <a:highlight>
                  <a:srgbClr val="121314"/>
                </a:highlight>
                <a:latin typeface="Courier New"/>
                <a:ea typeface="Courier New"/>
                <a:cs typeface="Courier New"/>
                <a:sym typeface="Courier New"/>
              </a:rPr>
              <a:t>23554850,</a:t>
            </a:r>
            <a:r>
              <a:rPr lang="en" sz="1050">
                <a:solidFill>
                  <a:srgbClr val="D2A8FF"/>
                </a:solidFill>
                <a:highlight>
                  <a:srgbClr val="121314"/>
                </a:highlight>
                <a:latin typeface="Courier New"/>
                <a:ea typeface="Courier New"/>
                <a:cs typeface="Courier New"/>
                <a:sym typeface="Courier New"/>
              </a:rPr>
              <a:t>5,</a:t>
            </a:r>
            <a:r>
              <a:rPr lang="en" sz="1050">
                <a:solidFill>
                  <a:srgbClr val="8B949E"/>
                </a:solidFill>
                <a:highlight>
                  <a:srgbClr val="121314"/>
                </a:highlight>
                <a:latin typeface="Courier New"/>
                <a:ea typeface="Courier New"/>
                <a:cs typeface="Courier New"/>
                <a:sym typeface="Courier New"/>
              </a:rPr>
              <a:t>E119,</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13164631,</a:t>
            </a:r>
            <a:r>
              <a:rPr lang="en" sz="1050">
                <a:solidFill>
                  <a:srgbClr val="FF7B72"/>
                </a:solidFill>
                <a:highlight>
                  <a:srgbClr val="121314"/>
                </a:highlight>
                <a:latin typeface="Courier New"/>
                <a:ea typeface="Courier New"/>
                <a:cs typeface="Courier New"/>
                <a:sym typeface="Courier New"/>
              </a:rPr>
              <a:t>23554850,</a:t>
            </a:r>
            <a:r>
              <a:rPr lang="en" sz="1050">
                <a:solidFill>
                  <a:srgbClr val="D2A8FF"/>
                </a:solidFill>
                <a:highlight>
                  <a:srgbClr val="121314"/>
                </a:highlight>
                <a:latin typeface="Courier New"/>
                <a:ea typeface="Courier New"/>
                <a:cs typeface="Courier New"/>
                <a:sym typeface="Courier New"/>
              </a:rPr>
              <a:t>6,</a:t>
            </a:r>
            <a:r>
              <a:rPr lang="en" sz="1050">
                <a:solidFill>
                  <a:srgbClr val="8B949E"/>
                </a:solidFill>
                <a:highlight>
                  <a:srgbClr val="121314"/>
                </a:highlight>
                <a:latin typeface="Courier New"/>
                <a:ea typeface="Courier New"/>
                <a:cs typeface="Courier New"/>
                <a:sym typeface="Courier New"/>
              </a:rPr>
              <a:t>J189,</a:t>
            </a:r>
            <a:r>
              <a:rPr lang="en" sz="1050">
                <a:solidFill>
                  <a:srgbClr val="A5D6FF"/>
                </a:solidFill>
                <a:highlight>
                  <a:srgbClr val="121314"/>
                </a:highlight>
                <a:latin typeface="Courier New"/>
                <a:ea typeface="Courier New"/>
                <a:cs typeface="Courier New"/>
                <a:sym typeface="Courier New"/>
              </a:rPr>
              <a:t>10</a:t>
            </a:r>
            <a:endParaRPr sz="1050">
              <a:solidFill>
                <a:srgbClr val="A5D6FF"/>
              </a:solidFill>
              <a:highlight>
                <a:srgbClr val="121314"/>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BBBEBF"/>
                </a:solidFill>
                <a:highlight>
                  <a:srgbClr val="121314"/>
                </a:highlight>
                <a:latin typeface="Courier New"/>
                <a:ea typeface="Courier New"/>
                <a:cs typeface="Courier New"/>
                <a:sym typeface="Courier New"/>
              </a:rPr>
              <a:t>13164631,</a:t>
            </a:r>
            <a:r>
              <a:rPr lang="en" sz="1050">
                <a:solidFill>
                  <a:srgbClr val="FF7B72"/>
                </a:solidFill>
                <a:highlight>
                  <a:srgbClr val="121314"/>
                </a:highlight>
                <a:latin typeface="Courier New"/>
                <a:ea typeface="Courier New"/>
                <a:cs typeface="Courier New"/>
                <a:sym typeface="Courier New"/>
              </a:rPr>
              <a:t>28388386,</a:t>
            </a:r>
            <a:r>
              <a:rPr lang="en" sz="1050">
                <a:solidFill>
                  <a:srgbClr val="D2A8FF"/>
                </a:solidFill>
                <a:highlight>
                  <a:srgbClr val="121314"/>
                </a:highlight>
                <a:latin typeface="Courier New"/>
                <a:ea typeface="Courier New"/>
                <a:cs typeface="Courier New"/>
                <a:sym typeface="Courier New"/>
              </a:rPr>
              <a:t>1,</a:t>
            </a:r>
            <a:r>
              <a:rPr lang="en" sz="1050">
                <a:solidFill>
                  <a:srgbClr val="8B949E"/>
                </a:solidFill>
                <a:highlight>
                  <a:srgbClr val="121314"/>
                </a:highlight>
                <a:latin typeface="Courier New"/>
                <a:ea typeface="Courier New"/>
                <a:cs typeface="Courier New"/>
                <a:sym typeface="Courier New"/>
              </a:rPr>
              <a:t>I2510,</a:t>
            </a:r>
            <a:r>
              <a:rPr lang="en" sz="1050">
                <a:solidFill>
                  <a:srgbClr val="A5D6FF"/>
                </a:solidFill>
                <a:highlight>
                  <a:srgbClr val="121314"/>
                </a:highlight>
                <a:latin typeface="Courier New"/>
                <a:ea typeface="Courier New"/>
                <a:cs typeface="Courier New"/>
                <a:sym typeface="Courier New"/>
              </a:rPr>
              <a:t>10</a:t>
            </a:r>
            <a:endParaRPr sz="1800">
              <a:solidFill>
                <a:schemeClr val="lt2"/>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Privacy Tip</a:t>
            </a:r>
            <a:endParaRPr/>
          </a:p>
        </p:txBody>
      </p:sp>
      <p:sp>
        <p:nvSpPr>
          <p:cNvPr id="344" name="Google Shape;344;p3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If you are using an agentic coding tool like Claude Code or Codex to modify this project, it can still read the MIMIC data even if you keep the MIMIC directory outside the working directory. To prevent this, set a permission that blocks the agent from reading outside the working directory.</a:t>
            </a:r>
            <a:endParaRPr/>
          </a:p>
          <a:p>
            <a:pPr indent="0" lvl="0" marL="0" rtl="0" algn="l">
              <a:spcBef>
                <a:spcPts val="1200"/>
              </a:spcBef>
              <a:spcAft>
                <a:spcPts val="0"/>
              </a:spcAft>
              <a:buNone/>
            </a:pPr>
            <a:r>
              <a:rPr lang="en"/>
              <a:t>To do this in Claude Code, for example, open the claude.md file and add:</a:t>
            </a:r>
            <a:endParaRPr/>
          </a:p>
          <a:p>
            <a:pPr indent="0" lvl="0" marL="0" rtl="0" algn="l">
              <a:spcBef>
                <a:spcPts val="1200"/>
              </a:spcBef>
              <a:spcAft>
                <a:spcPts val="0"/>
              </a:spcAft>
              <a:buNone/>
            </a:pPr>
            <a:r>
              <a:rPr lang="en" sz="1460">
                <a:solidFill>
                  <a:schemeClr val="dk2"/>
                </a:solidFill>
                <a:latin typeface="Courier New"/>
                <a:ea typeface="Courier New"/>
                <a:cs typeface="Courier New"/>
                <a:sym typeface="Courier New"/>
              </a:rPr>
              <a:t> "permissions": {</a:t>
            </a:r>
            <a:endParaRPr sz="1460">
              <a:solidFill>
                <a:schemeClr val="dk2"/>
              </a:solidFill>
              <a:latin typeface="Courier New"/>
              <a:ea typeface="Courier New"/>
              <a:cs typeface="Courier New"/>
              <a:sym typeface="Courier New"/>
            </a:endParaRPr>
          </a:p>
          <a:p>
            <a:pPr indent="0" lvl="0" marL="0" rtl="0" algn="l">
              <a:spcBef>
                <a:spcPts val="1200"/>
              </a:spcBef>
              <a:spcAft>
                <a:spcPts val="0"/>
              </a:spcAft>
              <a:buNone/>
            </a:pPr>
            <a:r>
              <a:rPr lang="en" sz="1460">
                <a:solidFill>
                  <a:schemeClr val="dk2"/>
                </a:solidFill>
                <a:latin typeface="Courier New"/>
                <a:ea typeface="Courier New"/>
                <a:cs typeface="Courier New"/>
                <a:sym typeface="Courier New"/>
              </a:rPr>
              <a:t>    "blockReadsOutsideWorkingDirectories": true</a:t>
            </a:r>
            <a:endParaRPr sz="1460">
              <a:solidFill>
                <a:schemeClr val="dk2"/>
              </a:solidFill>
              <a:latin typeface="Courier New"/>
              <a:ea typeface="Courier New"/>
              <a:cs typeface="Courier New"/>
              <a:sym typeface="Courier New"/>
            </a:endParaRPr>
          </a:p>
          <a:p>
            <a:pPr indent="0" lvl="0" marL="76200" marR="76200" rtl="0" algn="l">
              <a:spcBef>
                <a:spcPts val="1200"/>
              </a:spcBef>
              <a:spcAft>
                <a:spcPts val="0"/>
              </a:spcAft>
              <a:buNone/>
            </a:pPr>
            <a:r>
              <a:rPr lang="en" sz="1460">
                <a:solidFill>
                  <a:schemeClr val="dk2"/>
                </a:solidFill>
                <a:latin typeface="Courier New"/>
                <a:ea typeface="Courier New"/>
                <a:cs typeface="Courier New"/>
                <a:sym typeface="Courier New"/>
              </a:rPr>
              <a:t>  }</a:t>
            </a:r>
            <a:endParaRPr sz="1460">
              <a:solidFill>
                <a:schemeClr val="dk2"/>
              </a:solidFill>
              <a:latin typeface="Courier New"/>
              <a:ea typeface="Courier New"/>
              <a:cs typeface="Courier New"/>
              <a:sym typeface="Courier New"/>
            </a:endParaRPr>
          </a:p>
          <a:p>
            <a:pPr indent="0" lvl="0" marL="0" rtl="0" algn="l">
              <a:spcBef>
                <a:spcPts val="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6"/>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Part 2: Preprocess the Data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 xml:space="preserve">Load the MIMIC Notes - Script </a:t>
            </a:r>
            <a:r>
              <a:rPr lang="en" u="sng">
                <a:hlinkClick r:id="rId3"/>
              </a:rPr>
              <a:t>dataset.py</a:t>
            </a:r>
            <a:endParaRPr/>
          </a:p>
        </p:txBody>
      </p:sp>
      <p:pic>
        <p:nvPicPr>
          <p:cNvPr id="355" name="Google Shape;355;p37"/>
          <p:cNvPicPr preferRelativeResize="0"/>
          <p:nvPr/>
        </p:nvPicPr>
        <p:blipFill>
          <a:blip r:embed="rId4">
            <a:alphaModFix/>
          </a:blip>
          <a:stretch>
            <a:fillRect/>
          </a:stretch>
        </p:blipFill>
        <p:spPr>
          <a:xfrm>
            <a:off x="273888" y="748082"/>
            <a:ext cx="8596224" cy="2293025"/>
          </a:xfrm>
          <a:prstGeom prst="rect">
            <a:avLst/>
          </a:prstGeom>
          <a:noFill/>
          <a:ln>
            <a:noFill/>
          </a:ln>
        </p:spPr>
      </p:pic>
      <p:sp>
        <p:nvSpPr>
          <p:cNvPr id="356" name="Google Shape;356;p37"/>
          <p:cNvSpPr txBox="1"/>
          <p:nvPr/>
        </p:nvSpPr>
        <p:spPr>
          <a:xfrm>
            <a:off x="368400" y="3170125"/>
            <a:ext cx="8407200" cy="1811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reads in the relevant CSV files and returns them as a pandas DataFrame</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Note: the only required MIMIC-IV files in the directory are “diagnoses_icd.csv” and “discharge.csv”</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Downloading the full dataset is not recommended, as downloads from PhysioNet are very slow</a:t>
            </a:r>
            <a:r>
              <a:rPr lang="en" sz="1800">
                <a:solidFill>
                  <a:schemeClr val="lt2"/>
                </a:solidFill>
                <a:latin typeface="Roboto"/>
                <a:ea typeface="Roboto"/>
                <a:cs typeface="Roboto"/>
                <a:sym typeface="Roboto"/>
              </a:rPr>
              <a:t/>
            </a:r>
            <a:r>
              <a:rPr lang="en" sz="1800">
                <a:solidFill>
                  <a:schemeClr val="lt2"/>
                </a:solidFill>
                <a:latin typeface="Roboto"/>
                <a:ea typeface="Roboto"/>
                <a:cs typeface="Roboto"/>
                <a:sym typeface="Roboto"/>
              </a:rPr>
              <a:t/>
            </a:r>
            <a:endParaRPr sz="1800">
              <a:solidFill>
                <a:schemeClr val="lt2"/>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Load ICD-10 Codes - Script </a:t>
            </a:r>
            <a:r>
              <a:rPr lang="en" u="sng">
                <a:hlinkClick r:id="rId3"/>
              </a:rPr>
              <a:t>dataset.py</a:t>
            </a:r>
            <a:endParaRPr/>
          </a:p>
        </p:txBody>
      </p:sp>
      <p:pic>
        <p:nvPicPr>
          <p:cNvPr id="362" name="Google Shape;362;p38"/>
          <p:cNvPicPr preferRelativeResize="0"/>
          <p:nvPr/>
        </p:nvPicPr>
        <p:blipFill>
          <a:blip r:embed="rId4">
            <a:alphaModFix/>
          </a:blip>
          <a:stretch>
            <a:fillRect/>
          </a:stretch>
        </p:blipFill>
        <p:spPr>
          <a:xfrm>
            <a:off x="1139700" y="667675"/>
            <a:ext cx="6743700" cy="2247900"/>
          </a:xfrm>
          <a:prstGeom prst="rect">
            <a:avLst/>
          </a:prstGeom>
          <a:noFill/>
          <a:ln>
            <a:noFill/>
          </a:ln>
        </p:spPr>
      </p:pic>
      <p:sp>
        <p:nvSpPr>
          <p:cNvPr id="363" name="Google Shape;363;p38"/>
          <p:cNvSpPr txBox="1"/>
          <p:nvPr/>
        </p:nvSpPr>
        <p:spPr>
          <a:xfrm>
            <a:off x="368400" y="3170125"/>
            <a:ext cx="8407200" cy="1811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reads from the “diagnoses_icd.csv” file</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Preprocesses the data</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Creates a pandas DataFrame</a:t>
            </a:r>
            <a:endParaRPr sz="1800">
              <a:solidFill>
                <a:schemeClr val="lt2"/>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Build the Dataset - Script </a:t>
            </a:r>
            <a:r>
              <a:rPr lang="en" u="sng">
                <a:hlinkClick r:id="rId3"/>
              </a:rPr>
              <a:t>dataset.py</a:t>
            </a:r>
            <a:endParaRPr/>
          </a:p>
        </p:txBody>
      </p:sp>
      <p:sp>
        <p:nvSpPr>
          <p:cNvPr id="369" name="Google Shape;369;p39"/>
          <p:cNvSpPr txBox="1"/>
          <p:nvPr/>
        </p:nvSpPr>
        <p:spPr>
          <a:xfrm>
            <a:off x="368400" y="3641250"/>
            <a:ext cx="8407200" cy="1446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function builds out the dataset</a:t>
            </a:r>
            <a:endParaRPr sz="1800">
              <a:solidFill>
                <a:schemeClr val="lt2"/>
              </a:solidFill>
              <a:latin typeface="Roboto"/>
              <a:ea typeface="Roboto"/>
              <a:cs typeface="Roboto"/>
              <a:sym typeface="Roboto"/>
            </a:endParaRPr>
          </a:p>
        </p:txBody>
      </p:sp>
      <p:pic>
        <p:nvPicPr>
          <p:cNvPr id="370" name="Google Shape;370;p39"/>
          <p:cNvPicPr preferRelativeResize="0"/>
          <p:nvPr/>
        </p:nvPicPr>
        <p:blipFill>
          <a:blip r:embed="rId4">
            <a:alphaModFix/>
          </a:blip>
          <a:stretch>
            <a:fillRect/>
          </a:stretch>
        </p:blipFill>
        <p:spPr>
          <a:xfrm>
            <a:off x="842963" y="717875"/>
            <a:ext cx="7458075" cy="2857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Build </a:t>
            </a:r>
            <a:r>
              <a:rPr lang="en"/>
              <a:t>the Dataset - Script </a:t>
            </a:r>
            <a:r>
              <a:rPr lang="en" u="sng">
                <a:hlinkClick r:id="rId3"/>
              </a:rPr>
              <a:t>dataset.py</a:t>
            </a:r>
            <a:endParaRPr/>
          </a:p>
        </p:txBody>
      </p:sp>
      <p:sp>
        <p:nvSpPr>
          <p:cNvPr id="376" name="Google Shape;376;p40"/>
          <p:cNvSpPr txBox="1"/>
          <p:nvPr/>
        </p:nvSpPr>
        <p:spPr>
          <a:xfrm>
            <a:off x="368400" y="3347050"/>
            <a:ext cx="8407200" cy="1374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If the dataset already exists in processed form, reuse that dataset</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If not, use the previously defined methods to construct the processed dataset</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Datasets are saved to Parquet files for quicker read/write access during fine-tuning</a:t>
            </a:r>
            <a:r>
              <a:rPr lang="en" sz="1800">
                <a:solidFill>
                  <a:schemeClr val="lt2"/>
                </a:solidFill>
                <a:latin typeface="Roboto"/>
                <a:ea typeface="Roboto"/>
                <a:cs typeface="Roboto"/>
                <a:sym typeface="Roboto"/>
              </a:rP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Normalize whitespace is a helper method that handles the de-identification gaps in MIMIC</a:t>
            </a:r>
            <a:endParaRPr sz="1800">
              <a:solidFill>
                <a:schemeClr val="lt2"/>
              </a:solidFill>
              <a:latin typeface="Roboto"/>
              <a:ea typeface="Roboto"/>
              <a:cs typeface="Roboto"/>
              <a:sym typeface="Roboto"/>
            </a:endParaRPr>
          </a:p>
        </p:txBody>
      </p:sp>
      <p:pic>
        <p:nvPicPr>
          <p:cNvPr id="377" name="Google Shape;377;p40"/>
          <p:cNvPicPr preferRelativeResize="0"/>
          <p:nvPr/>
        </p:nvPicPr>
        <p:blipFill>
          <a:blip r:embed="rId4">
            <a:alphaModFix/>
          </a:blip>
          <a:stretch>
            <a:fillRect/>
          </a:stretch>
        </p:blipFill>
        <p:spPr>
          <a:xfrm>
            <a:off x="1829000" y="277675"/>
            <a:ext cx="5703626" cy="3141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Build the Label Vocab - Script </a:t>
            </a:r>
            <a:r>
              <a:rPr lang="en" u="sng">
                <a:hlinkClick r:id="rId3"/>
              </a:rPr>
              <a:t>labels.py</a:t>
            </a:r>
            <a:endParaRPr/>
          </a:p>
        </p:txBody>
      </p:sp>
      <p:pic>
        <p:nvPicPr>
          <p:cNvPr id="383" name="Google Shape;383;p41"/>
          <p:cNvPicPr preferRelativeResize="0"/>
          <p:nvPr/>
        </p:nvPicPr>
        <p:blipFill>
          <a:blip r:embed="rId4">
            <a:alphaModFix/>
          </a:blip>
          <a:stretch>
            <a:fillRect/>
          </a:stretch>
        </p:blipFill>
        <p:spPr>
          <a:xfrm>
            <a:off x="391975" y="709075"/>
            <a:ext cx="8239125" cy="2209800"/>
          </a:xfrm>
          <a:prstGeom prst="rect">
            <a:avLst/>
          </a:prstGeom>
          <a:noFill/>
          <a:ln>
            <a:noFill/>
          </a:ln>
        </p:spPr>
      </p:pic>
      <p:sp>
        <p:nvSpPr>
          <p:cNvPr id="384" name="Google Shape;384;p41"/>
          <p:cNvSpPr txBox="1"/>
          <p:nvPr/>
        </p:nvSpPr>
        <p:spPr>
          <a:xfrm>
            <a:off x="368400" y="3107550"/>
            <a:ext cx="8407200" cy="1826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Two settings are available: full code classification or just the top 50 codes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Selects the codes to be used in the vocab</a:t>
            </a:r>
            <a:endParaRPr sz="1800">
              <a:solidFill>
                <a:schemeClr val="lt2"/>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 xml:space="preserve">Label helper functions - Script </a:t>
            </a:r>
            <a:r>
              <a:rPr lang="en" u="sng">
                <a:hlinkClick r:id="rId3"/>
              </a:rPr>
              <a:t>labels.py</a:t>
            </a:r>
            <a:endParaRPr/>
          </a:p>
        </p:txBody>
      </p:sp>
      <p:sp>
        <p:nvSpPr>
          <p:cNvPr id="390" name="Google Shape;390;p42"/>
          <p:cNvSpPr txBox="1"/>
          <p:nvPr/>
        </p:nvSpPr>
        <p:spPr>
          <a:xfrm>
            <a:off x="368400" y="3676500"/>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Count codes counts the number of times each code appears in the data</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Codes to indices returns the index of each code for processing</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Multi-hot encodes multi-label examples in a [1, 0, 1, 0, 0] format for classification. Each 1 marks a label that is present in the note.</a:t>
            </a:r>
            <a:endParaRPr sz="1800">
              <a:solidFill>
                <a:schemeClr val="lt2"/>
              </a:solidFill>
              <a:latin typeface="Roboto"/>
              <a:ea typeface="Roboto"/>
              <a:cs typeface="Roboto"/>
              <a:sym typeface="Roboto"/>
            </a:endParaRPr>
          </a:p>
        </p:txBody>
      </p:sp>
      <p:pic>
        <p:nvPicPr>
          <p:cNvPr id="391" name="Google Shape;391;p42"/>
          <p:cNvPicPr preferRelativeResize="0"/>
          <p:nvPr/>
        </p:nvPicPr>
        <p:blipFill>
          <a:blip r:embed="rId4">
            <a:alphaModFix/>
          </a:blip>
          <a:stretch>
            <a:fillRect/>
          </a:stretch>
        </p:blipFill>
        <p:spPr>
          <a:xfrm>
            <a:off x="1852613" y="819350"/>
            <a:ext cx="5438775" cy="619125"/>
          </a:xfrm>
          <a:prstGeom prst="rect">
            <a:avLst/>
          </a:prstGeom>
          <a:noFill/>
          <a:ln>
            <a:noFill/>
          </a:ln>
        </p:spPr>
      </p:pic>
      <p:pic>
        <p:nvPicPr>
          <p:cNvPr id="392" name="Google Shape;392;p42"/>
          <p:cNvPicPr preferRelativeResize="0"/>
          <p:nvPr/>
        </p:nvPicPr>
        <p:blipFill>
          <a:blip r:embed="rId5">
            <a:alphaModFix/>
          </a:blip>
          <a:stretch>
            <a:fillRect/>
          </a:stretch>
        </p:blipFill>
        <p:spPr>
          <a:xfrm>
            <a:off x="1419238" y="1519025"/>
            <a:ext cx="6305550" cy="781050"/>
          </a:xfrm>
          <a:prstGeom prst="rect">
            <a:avLst/>
          </a:prstGeom>
          <a:noFill/>
          <a:ln>
            <a:noFill/>
          </a:ln>
        </p:spPr>
      </p:pic>
      <p:pic>
        <p:nvPicPr>
          <p:cNvPr id="393" name="Google Shape;393;p42"/>
          <p:cNvPicPr preferRelativeResize="0"/>
          <p:nvPr/>
        </p:nvPicPr>
        <p:blipFill>
          <a:blip r:embed="rId6">
            <a:alphaModFix/>
          </a:blip>
          <a:stretch>
            <a:fillRect/>
          </a:stretch>
        </p:blipFill>
        <p:spPr>
          <a:xfrm>
            <a:off x="1462100" y="2338800"/>
            <a:ext cx="6219825" cy="1219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Split data - Script </a:t>
            </a:r>
            <a:r>
              <a:rPr lang="en" u="sng">
                <a:hlinkClick r:id="rId3"/>
              </a:rPr>
              <a:t>splits.py</a:t>
            </a:r>
            <a:endParaRPr/>
          </a:p>
        </p:txBody>
      </p:sp>
      <p:sp>
        <p:nvSpPr>
          <p:cNvPr id="399" name="Google Shape;399;p43"/>
          <p:cNvSpPr txBox="1"/>
          <p:nvPr/>
        </p:nvSpPr>
        <p:spPr>
          <a:xfrm>
            <a:off x="368400" y="3373225"/>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Randomly splits data into test, train, and validation sets for fine-tuning</a:t>
            </a:r>
            <a:r>
              <a:rPr lang="en" sz="1800">
                <a:solidFill>
                  <a:schemeClr val="lt2"/>
                </a:solidFill>
                <a:latin typeface="Roboto"/>
                <a:ea typeface="Roboto"/>
                <a:cs typeface="Roboto"/>
                <a:sym typeface="Roboto"/>
              </a:rPr>
              <a:t/>
            </a:r>
            <a:endParaRPr sz="1800">
              <a:solidFill>
                <a:schemeClr val="lt2"/>
              </a:solidFill>
              <a:latin typeface="Roboto"/>
              <a:ea typeface="Roboto"/>
              <a:cs typeface="Roboto"/>
              <a:sym typeface="Roboto"/>
            </a:endParaRPr>
          </a:p>
        </p:txBody>
      </p:sp>
      <p:pic>
        <p:nvPicPr>
          <p:cNvPr id="400" name="Google Shape;400;p43"/>
          <p:cNvPicPr preferRelativeResize="0"/>
          <p:nvPr/>
        </p:nvPicPr>
        <p:blipFill>
          <a:blip r:embed="rId4">
            <a:alphaModFix/>
          </a:blip>
          <a:stretch>
            <a:fillRect/>
          </a:stretch>
        </p:blipFill>
        <p:spPr>
          <a:xfrm>
            <a:off x="733425" y="784988"/>
            <a:ext cx="7677150" cy="23145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Split data - Script </a:t>
            </a:r>
            <a:r>
              <a:rPr lang="en" u="sng">
                <a:hlinkClick r:id="rId3"/>
              </a:rPr>
              <a:t>splits.py</a:t>
            </a:r>
            <a:endParaRPr/>
          </a:p>
        </p:txBody>
      </p:sp>
      <p:sp>
        <p:nvSpPr>
          <p:cNvPr id="406" name="Google Shape;406;p44"/>
          <p:cNvSpPr txBox="1"/>
          <p:nvPr/>
        </p:nvSpPr>
        <p:spPr>
          <a:xfrm>
            <a:off x="307950" y="2828825"/>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Loads the split if it has already been computed; otherwise, it creates a new split</a:t>
            </a:r>
            <a:endParaRPr sz="1800">
              <a:solidFill>
                <a:schemeClr val="lt2"/>
              </a:solidFill>
              <a:latin typeface="Roboto"/>
              <a:ea typeface="Roboto"/>
              <a:cs typeface="Roboto"/>
              <a:sym typeface="Roboto"/>
            </a:endParaRPr>
          </a:p>
        </p:txBody>
      </p:sp>
      <p:pic>
        <p:nvPicPr>
          <p:cNvPr id="407" name="Google Shape;407;p44"/>
          <p:cNvPicPr preferRelativeResize="0"/>
          <p:nvPr/>
        </p:nvPicPr>
        <p:blipFill>
          <a:blip r:embed="rId4">
            <a:alphaModFix/>
          </a:blip>
          <a:stretch>
            <a:fillRect/>
          </a:stretch>
        </p:blipFill>
        <p:spPr>
          <a:xfrm>
            <a:off x="747700" y="871575"/>
            <a:ext cx="7648575" cy="1676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Prepare data for fine-tuning</a:t>
            </a:r>
            <a:r>
              <a:rPr lang="en"/>
              <a:t/>
            </a:r>
            <a:r>
              <a:rPr lang="en"/>
              <a:t xml:space="preserve"> - Scrip</a:t>
            </a:r>
            <a:r>
              <a:rPr lang="en"/>
              <a:t xml:space="preserve">t </a:t>
            </a:r>
            <a:r>
              <a:rPr lang="en" u="sng">
                <a:hlinkClick r:id="rId3"/>
              </a:rPr>
              <a:t>prepare.py</a:t>
            </a:r>
            <a:endParaRPr/>
          </a:p>
        </p:txBody>
      </p:sp>
      <p:sp>
        <p:nvSpPr>
          <p:cNvPr id="413" name="Google Shape;413;p45"/>
          <p:cNvSpPr txBox="1"/>
          <p:nvPr/>
        </p:nvSpPr>
        <p:spPr>
          <a:xfrm>
            <a:off x="368400" y="3676500"/>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If a tokenized version of the dataset exists, use that</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If not, tokenize the dataset and save the file</a:t>
            </a:r>
            <a:endParaRPr sz="1800">
              <a:solidFill>
                <a:schemeClr val="lt2"/>
              </a:solidFill>
              <a:latin typeface="Roboto"/>
              <a:ea typeface="Roboto"/>
              <a:cs typeface="Roboto"/>
              <a:sym typeface="Roboto"/>
            </a:endParaRPr>
          </a:p>
        </p:txBody>
      </p:sp>
      <p:pic>
        <p:nvPicPr>
          <p:cNvPr id="414" name="Google Shape;414;p45"/>
          <p:cNvPicPr preferRelativeResize="0"/>
          <p:nvPr/>
        </p:nvPicPr>
        <p:blipFill>
          <a:blip r:embed="rId4">
            <a:alphaModFix/>
          </a:blip>
          <a:stretch>
            <a:fillRect/>
          </a:stretch>
        </p:blipFill>
        <p:spPr>
          <a:xfrm>
            <a:off x="2138138" y="687625"/>
            <a:ext cx="4867714" cy="27526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 xml:space="preserve">Prepare data for fine-tuning - Script </a:t>
            </a:r>
            <a:r>
              <a:rPr lang="en" u="sng">
                <a:hlinkClick r:id="rId3"/>
              </a:rPr>
              <a:t>prepare.py</a:t>
            </a:r>
            <a:endParaRPr/>
          </a:p>
        </p:txBody>
      </p:sp>
      <p:sp>
        <p:nvSpPr>
          <p:cNvPr id="420" name="Google Shape;420;p46"/>
          <p:cNvSpPr txBox="1"/>
          <p:nvPr/>
        </p:nvSpPr>
        <p:spPr>
          <a:xfrm>
            <a:off x="398325" y="2017900"/>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Create a unique hash to determine whether the data has changed and needs to be </a:t>
            </a:r>
            <a:r>
              <a:rPr lang="en" sz="1800">
                <a:solidFill>
                  <a:schemeClr val="lt2"/>
                </a:solidFill>
                <a:latin typeface="Roboto"/>
                <a:ea typeface="Roboto"/>
                <a:cs typeface="Roboto"/>
                <a:sym typeface="Roboto"/>
              </a:rPr>
              <a:t>tokenized again</a:t>
            </a:r>
            <a:endParaRPr sz="1800">
              <a:solidFill>
                <a:schemeClr val="lt2"/>
              </a:solidFill>
              <a:latin typeface="Roboto"/>
              <a:ea typeface="Roboto"/>
              <a:cs typeface="Roboto"/>
              <a:sym typeface="Roboto"/>
            </a:endParaRPr>
          </a:p>
        </p:txBody>
      </p:sp>
      <p:pic>
        <p:nvPicPr>
          <p:cNvPr id="421" name="Google Shape;421;p46"/>
          <p:cNvPicPr preferRelativeResize="0"/>
          <p:nvPr/>
        </p:nvPicPr>
        <p:blipFill>
          <a:blip r:embed="rId4">
            <a:alphaModFix/>
          </a:blip>
          <a:stretch>
            <a:fillRect/>
          </a:stretch>
        </p:blipFill>
        <p:spPr>
          <a:xfrm>
            <a:off x="1066800" y="897200"/>
            <a:ext cx="7010400" cy="762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 xml:space="preserve">Prepare data for fine-tuning - Script </a:t>
            </a:r>
            <a:r>
              <a:rPr lang="en" u="sng">
                <a:hlinkClick r:id="rId3"/>
              </a:rPr>
              <a:t>prepare.py</a:t>
            </a:r>
            <a:endParaRPr/>
          </a:p>
        </p:txBody>
      </p:sp>
      <p:sp>
        <p:nvSpPr>
          <p:cNvPr id="427" name="Google Shape;427;p47"/>
          <p:cNvSpPr txBox="1"/>
          <p:nvPr/>
        </p:nvSpPr>
        <p:spPr>
          <a:xfrm>
            <a:off x="0" y="706575"/>
            <a:ext cx="2448900" cy="4407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Hugging Face Transformers expects data to be provided in a data class</a:t>
            </a:r>
            <a:r>
              <a:rPr lang="en" sz="1800">
                <a:solidFill>
                  <a:schemeClr val="lt2"/>
                </a:solidFill>
                <a:latin typeface="Roboto"/>
                <a:ea typeface="Roboto"/>
                <a:cs typeface="Roboto"/>
                <a:sym typeface="Roboto"/>
              </a:rP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uses the previously defined tokenization methods to format the data for Hugging Face Transformers</a:t>
            </a:r>
            <a:r>
              <a:rPr lang="en" sz="1800">
                <a:solidFill>
                  <a:schemeClr val="lt2"/>
                </a:solidFill>
                <a:latin typeface="Roboto"/>
                <a:ea typeface="Roboto"/>
                <a:cs typeface="Roboto"/>
                <a:sym typeface="Roboto"/>
              </a:rPr>
              <a:t/>
            </a:r>
            <a:r>
              <a:rPr lang="en" sz="1800">
                <a:solidFill>
                  <a:schemeClr val="lt2"/>
                </a:solidFill>
                <a:latin typeface="Roboto"/>
                <a:ea typeface="Roboto"/>
                <a:cs typeface="Roboto"/>
                <a:sym typeface="Roboto"/>
              </a:rPr>
              <a:t/>
            </a:r>
            <a:endParaRPr sz="1800">
              <a:solidFill>
                <a:schemeClr val="lt2"/>
              </a:solidFill>
              <a:latin typeface="Roboto"/>
              <a:ea typeface="Roboto"/>
              <a:cs typeface="Roboto"/>
              <a:sym typeface="Roboto"/>
            </a:endParaRPr>
          </a:p>
        </p:txBody>
      </p:sp>
      <p:pic>
        <p:nvPicPr>
          <p:cNvPr id="428" name="Google Shape;428;p47"/>
          <p:cNvPicPr preferRelativeResize="0"/>
          <p:nvPr/>
        </p:nvPicPr>
        <p:blipFill>
          <a:blip r:embed="rId4">
            <a:alphaModFix/>
          </a:blip>
          <a:stretch>
            <a:fillRect/>
          </a:stretch>
        </p:blipFill>
        <p:spPr>
          <a:xfrm>
            <a:off x="2389990" y="619050"/>
            <a:ext cx="6754009" cy="4808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 xml:space="preserve">Prepare data for fine-tuning - Script </a:t>
            </a:r>
            <a:r>
              <a:rPr lang="en" u="sng">
                <a:hlinkClick r:id="rId3"/>
              </a:rPr>
              <a:t>prepare.py</a:t>
            </a:r>
            <a:endParaRPr/>
          </a:p>
        </p:txBody>
      </p:sp>
      <p:sp>
        <p:nvSpPr>
          <p:cNvPr id="434" name="Google Shape;434;p48"/>
          <p:cNvSpPr txBox="1"/>
          <p:nvPr/>
        </p:nvSpPr>
        <p:spPr>
          <a:xfrm>
            <a:off x="197650" y="3951675"/>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data class exists to allow classification on a tensor of labels instead of a single label</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is what allows for multi-label classification to occur</a:t>
            </a:r>
            <a:endParaRPr sz="1800">
              <a:solidFill>
                <a:schemeClr val="lt2"/>
              </a:solidFill>
              <a:latin typeface="Roboto"/>
              <a:ea typeface="Roboto"/>
              <a:cs typeface="Roboto"/>
              <a:sym typeface="Roboto"/>
            </a:endParaRPr>
          </a:p>
        </p:txBody>
      </p:sp>
      <p:pic>
        <p:nvPicPr>
          <p:cNvPr id="435" name="Google Shape;435;p48"/>
          <p:cNvPicPr preferRelativeResize="0"/>
          <p:nvPr/>
        </p:nvPicPr>
        <p:blipFill>
          <a:blip r:embed="rId4">
            <a:alphaModFix/>
          </a:blip>
          <a:stretch>
            <a:fillRect/>
          </a:stretch>
        </p:blipFill>
        <p:spPr>
          <a:xfrm>
            <a:off x="666750" y="688450"/>
            <a:ext cx="7810500" cy="30861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9"/>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Part 3: Training the Model</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Configuring Hyperparameters</a:t>
            </a:r>
            <a:endParaRPr/>
          </a:p>
        </p:txBody>
      </p:sp>
      <p:sp>
        <p:nvSpPr>
          <p:cNvPr id="446" name="Google Shape;446;p50"/>
          <p:cNvSpPr txBox="1"/>
          <p:nvPr>
            <p:ph idx="1" type="body"/>
          </p:nvPr>
        </p:nvSpPr>
        <p:spPr>
          <a:xfrm>
            <a:off x="471900" y="1688550"/>
            <a:ext cx="8222100" cy="345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success of fine-tuning depends heavily on the chosen hyperparameters.</a:t>
            </a:r>
            <a:r>
              <a:rPr lang="en"/>
              <a:t/>
            </a:r>
            <a:r>
              <a:rPr lang="en"/>
              <a:t/>
            </a:r>
            <a:r>
              <a:rPr lang="en"/>
              <a:t/>
            </a:r>
            <a:r>
              <a:rPr lang="en"/>
              <a:t xml:space="preserve"> The hyperparameters vary by type of experiment. The project supports 6 types of experiments.</a:t>
            </a:r>
            <a:endParaRPr/>
          </a:p>
          <a:p>
            <a:pPr indent="-342900" lvl="0" marL="457200" rtl="0" algn="l">
              <a:spcBef>
                <a:spcPts val="1200"/>
              </a:spcBef>
              <a:spcAft>
                <a:spcPts val="0"/>
              </a:spcAft>
              <a:buSzPts val="1800"/>
              <a:buChar char="-"/>
            </a:pPr>
            <a:r>
              <a:rPr lang="en"/>
              <a:t>Full Base: train a classifier to work on all 70,000 ICD-10 codes</a:t>
            </a:r>
            <a:endParaRPr/>
          </a:p>
          <a:p>
            <a:pPr indent="-342900" lvl="0" marL="457200" rtl="0" algn="l">
              <a:spcBef>
                <a:spcPts val="0"/>
              </a:spcBef>
              <a:spcAft>
                <a:spcPts val="0"/>
              </a:spcAft>
              <a:buSzPts val="1800"/>
              <a:buChar char="-"/>
            </a:pPr>
            <a:r>
              <a:rPr lang="en"/>
              <a:t>Top 50</a:t>
            </a:r>
            <a:r>
              <a:rPr lang="en"/>
              <a:t> Base: train a classifier to work on the top 50 most common ICD-10 codes</a:t>
            </a:r>
            <a:endParaRPr/>
          </a:p>
          <a:p>
            <a:pPr indent="-342900" lvl="0" marL="457200" rtl="0" algn="l">
              <a:spcBef>
                <a:spcPts val="0"/>
              </a:spcBef>
              <a:spcAft>
                <a:spcPts val="0"/>
              </a:spcAft>
              <a:buSzPts val="1800"/>
              <a:buChar char="-"/>
            </a:pPr>
            <a:r>
              <a:rPr lang="en"/>
              <a:t>Top 50 Large: train a classifier on the top 50 most common ICD-10 codes with a larger ModernBERT model</a:t>
            </a:r>
            <a:endParaRPr/>
          </a:p>
          <a:p>
            <a:pPr indent="-342900" lvl="0" marL="457200" rtl="0" algn="l">
              <a:spcBef>
                <a:spcPts val="0"/>
              </a:spcBef>
              <a:spcAft>
                <a:spcPts val="0"/>
              </a:spcAft>
              <a:buSzPts val="1800"/>
              <a:buChar char="-"/>
            </a:pPr>
            <a:r>
              <a:rPr lang="en"/>
              <a:t>Synthetic: train a classifier on the included synthetic data</a:t>
            </a:r>
            <a:endParaRPr/>
          </a:p>
          <a:p>
            <a:pPr indent="-342900" lvl="0" marL="457200" rtl="0" algn="l">
              <a:spcBef>
                <a:spcPts val="0"/>
              </a:spcBef>
              <a:spcAft>
                <a:spcPts val="0"/>
              </a:spcAft>
              <a:buSzPts val="1800"/>
              <a:buChar char="-"/>
            </a:pPr>
            <a:r>
              <a:rPr lang="en"/>
              <a:t>Smoke: a test setting used exclusively for debugging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1"/>
          <p:cNvSpPr txBox="1"/>
          <p:nvPr>
            <p:ph type="title"/>
          </p:nvPr>
        </p:nvSpPr>
        <p:spPr>
          <a:xfrm>
            <a:off x="71850" y="-215575"/>
            <a:ext cx="3149700" cy="95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t>Base Hyperparameters</a:t>
            </a:r>
            <a:r>
              <a:rPr lang="en" sz="1600"/>
              <a:t> - Script </a:t>
            </a:r>
            <a:r>
              <a:rPr lang="en" sz="1600" u="sng">
                <a:hlinkClick r:id="rId3"/>
              </a:rPr>
              <a:t>config.py</a:t>
            </a:r>
            <a:endParaRPr sz="1600"/>
          </a:p>
        </p:txBody>
      </p:sp>
      <p:sp>
        <p:nvSpPr>
          <p:cNvPr id="452" name="Google Shape;452;p51"/>
          <p:cNvSpPr txBox="1"/>
          <p:nvPr>
            <p:ph idx="1" type="body"/>
          </p:nvPr>
        </p:nvSpPr>
        <p:spPr>
          <a:xfrm>
            <a:off x="0" y="737825"/>
            <a:ext cx="3323400" cy="440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t>These are the default hyperparameters. Each experiment overrides certain hyperparameters for its own needs.</a:t>
            </a:r>
            <a:r>
              <a:rPr lang="en" sz="1000"/>
              <a:t xml:space="preserve"> The most important ones are highlighted here.</a:t>
            </a:r>
            <a:endParaRPr sz="1000"/>
          </a:p>
          <a:p>
            <a:pPr indent="0" lvl="0" marL="0" rtl="0" algn="l">
              <a:spcBef>
                <a:spcPts val="1200"/>
              </a:spcBef>
              <a:spcAft>
                <a:spcPts val="0"/>
              </a:spcAft>
              <a:buNone/>
            </a:pPr>
            <a:r>
              <a:rPr lang="en" sz="1000"/>
              <a:t>mimic_dir: the local path to the MIMIC data (for security, do not fill this in while using AI assistance)</a:t>
            </a:r>
            <a:endParaRPr sz="1000"/>
          </a:p>
          <a:p>
            <a:pPr indent="0" lvl="0" marL="0" rtl="0" algn="l">
              <a:spcBef>
                <a:spcPts val="1200"/>
              </a:spcBef>
              <a:spcAft>
                <a:spcPts val="0"/>
              </a:spcAft>
              <a:buNone/>
            </a:pPr>
            <a:r>
              <a:rPr lang="en" sz="1000"/>
              <a:t>label_settings: how many labels to attempt to classify</a:t>
            </a:r>
            <a:endParaRPr sz="1000"/>
          </a:p>
          <a:p>
            <a:pPr indent="0" lvl="0" marL="0" rtl="0" algn="l">
              <a:spcBef>
                <a:spcPts val="1200"/>
              </a:spcBef>
              <a:spcAft>
                <a:spcPts val="0"/>
              </a:spcAft>
              <a:buNone/>
            </a:pPr>
            <a:r>
              <a:rPr lang="en" sz="1000"/>
              <a:t>max_length: maximum tokens per note</a:t>
            </a:r>
            <a:endParaRPr sz="1000"/>
          </a:p>
          <a:p>
            <a:pPr indent="0" lvl="0" marL="0" rtl="0" algn="l">
              <a:spcBef>
                <a:spcPts val="1200"/>
              </a:spcBef>
              <a:spcAft>
                <a:spcPts val="0"/>
              </a:spcAft>
              <a:buNone/>
            </a:pPr>
            <a:r>
              <a:rPr lang="en" sz="1000"/>
              <a:t>checkpoint: the Hugging Face directory of the pretrained model</a:t>
            </a:r>
            <a:endParaRPr sz="1000"/>
          </a:p>
          <a:p>
            <a:pPr indent="0" lvl="0" marL="0" rtl="0" algn="l">
              <a:spcBef>
                <a:spcPts val="1200"/>
              </a:spcBef>
              <a:spcAft>
                <a:spcPts val="0"/>
              </a:spcAft>
              <a:buNone/>
            </a:pPr>
            <a:r>
              <a:rPr lang="en" sz="1000"/>
              <a:t>QLoRA: settings for QLoRA training, a method that freezes the base weights and trains a quantized “adapter” matrix with a lower rank. This makes fine-tuning very large models possible on limited hardware.</a:t>
            </a:r>
            <a:endParaRPr sz="1000"/>
          </a:p>
          <a:p>
            <a:pPr indent="0" lvl="0" marL="0" rtl="0" algn="l">
              <a:spcBef>
                <a:spcPts val="1200"/>
              </a:spcBef>
              <a:spcAft>
                <a:spcPts val="0"/>
              </a:spcAft>
              <a:buNone/>
            </a:pPr>
            <a:r>
              <a:rPr lang="en" sz="1000"/>
              <a:t>r: the rank of the QLoRA matrix</a:t>
            </a:r>
            <a:endParaRPr sz="1000"/>
          </a:p>
          <a:p>
            <a:pPr indent="0" lvl="0" marL="0" rtl="0" algn="l">
              <a:spcBef>
                <a:spcPts val="1200"/>
              </a:spcBef>
              <a:spcAft>
                <a:spcPts val="1200"/>
              </a:spcAft>
              <a:buNone/>
            </a:pPr>
            <a:r>
              <a:rPr lang="en" sz="1000"/>
              <a:t>Quant_type: the datatype of the QLoRA matrix</a:t>
            </a:r>
            <a:endParaRPr sz="1000"/>
          </a:p>
        </p:txBody>
      </p:sp>
      <p:pic>
        <p:nvPicPr>
          <p:cNvPr id="453" name="Google Shape;453;p51"/>
          <p:cNvPicPr preferRelativeResize="0"/>
          <p:nvPr/>
        </p:nvPicPr>
        <p:blipFill>
          <a:blip r:embed="rId4">
            <a:alphaModFix/>
          </a:blip>
          <a:stretch>
            <a:fillRect/>
          </a:stretch>
        </p:blipFill>
        <p:spPr>
          <a:xfrm>
            <a:off x="3481301" y="0"/>
            <a:ext cx="5453150" cy="51434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2"/>
          <p:cNvSpPr txBox="1"/>
          <p:nvPr>
            <p:ph type="title"/>
          </p:nvPr>
        </p:nvSpPr>
        <p:spPr>
          <a:xfrm>
            <a:off x="71850" y="-215575"/>
            <a:ext cx="3149700" cy="95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t>Base Hyperparameters (continued) - Script </a:t>
            </a:r>
            <a:r>
              <a:rPr lang="en" sz="1600" u="sng">
                <a:hlinkClick r:id="rId3"/>
              </a:rPr>
              <a:t>config.py</a:t>
            </a:r>
            <a:endParaRPr sz="1600"/>
          </a:p>
        </p:txBody>
      </p:sp>
      <p:sp>
        <p:nvSpPr>
          <p:cNvPr id="459" name="Google Shape;459;p52"/>
          <p:cNvSpPr txBox="1"/>
          <p:nvPr>
            <p:ph idx="1" type="body"/>
          </p:nvPr>
        </p:nvSpPr>
        <p:spPr>
          <a:xfrm>
            <a:off x="0" y="737825"/>
            <a:ext cx="3323400" cy="440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t>lr: the rate of parameter updates</a:t>
            </a:r>
            <a:endParaRPr sz="1000"/>
          </a:p>
          <a:p>
            <a:pPr indent="0" lvl="0" marL="0" rtl="0" algn="l">
              <a:spcBef>
                <a:spcPts val="1200"/>
              </a:spcBef>
              <a:spcAft>
                <a:spcPts val="0"/>
              </a:spcAft>
              <a:buNone/>
            </a:pPr>
            <a:r>
              <a:rPr lang="en" sz="1000"/>
              <a:t>batch_size: the number of examples to evaluate at once</a:t>
            </a:r>
            <a:endParaRPr sz="1000"/>
          </a:p>
          <a:p>
            <a:pPr indent="0" lvl="0" marL="0" rtl="0" algn="l">
              <a:spcBef>
                <a:spcPts val="1200"/>
              </a:spcBef>
              <a:spcAft>
                <a:spcPts val="0"/>
              </a:spcAft>
              <a:buNone/>
            </a:pPr>
            <a:r>
              <a:rPr lang="en" sz="1000"/>
              <a:t>g</a:t>
            </a:r>
            <a:r>
              <a:rPr lang="en" sz="1000"/>
              <a:t>rad_accum: number of batches to accumulate gradients over; this improves training stability</a:t>
            </a:r>
            <a:r>
              <a:rPr lang="en" sz="1000"/>
              <a:t/>
            </a:r>
            <a:r>
              <a:rPr lang="en" sz="1000"/>
              <a:t/>
            </a:r>
            <a:endParaRPr sz="1000"/>
          </a:p>
          <a:p>
            <a:pPr indent="0" lvl="0" marL="0" rtl="0" algn="l">
              <a:spcBef>
                <a:spcPts val="1200"/>
              </a:spcBef>
              <a:spcAft>
                <a:spcPts val="0"/>
              </a:spcAft>
              <a:buNone/>
            </a:pPr>
            <a:r>
              <a:rPr lang="en" sz="1000"/>
              <a:t>epochs:</a:t>
            </a:r>
            <a:r>
              <a:rPr lang="en" sz="1000"/>
              <a:t xml:space="preserve"> the number of passes through the data during fine-tuning</a:t>
            </a:r>
            <a:r>
              <a:rPr lang="en" sz="1000"/>
              <a:t/>
            </a:r>
            <a:endParaRPr sz="1000"/>
          </a:p>
          <a:p>
            <a:pPr indent="0" lvl="0" marL="0" rtl="0" algn="l">
              <a:spcBef>
                <a:spcPts val="1200"/>
              </a:spcBef>
              <a:spcAft>
                <a:spcPts val="0"/>
              </a:spcAft>
              <a:buNone/>
            </a:pPr>
            <a:r>
              <a:rPr lang="en" sz="1000"/>
              <a:t>w</a:t>
            </a:r>
            <a:r>
              <a:rPr lang="en" sz="1000"/>
              <a:t>armup_steps: number of steps at the start of training during which the learning rate gradually ramps up.</a:t>
            </a:r>
            <a:endParaRPr sz="1000"/>
          </a:p>
          <a:p>
            <a:pPr indent="0" lvl="0" marL="0" rtl="0" algn="l">
              <a:spcBef>
                <a:spcPts val="1200"/>
              </a:spcBef>
              <a:spcAft>
                <a:spcPts val="0"/>
              </a:spcAft>
              <a:buNone/>
            </a:pPr>
            <a:r>
              <a:rPr lang="en" sz="1000"/>
              <a:t>weight_decay: decrease in the magnitude of weights at each step; helps prevent overfitting</a:t>
            </a:r>
            <a:endParaRPr sz="1000"/>
          </a:p>
          <a:p>
            <a:pPr indent="0" lvl="0" marL="0" rtl="0" algn="l">
              <a:spcBef>
                <a:spcPts val="1200"/>
              </a:spcBef>
              <a:spcAft>
                <a:spcPts val="0"/>
              </a:spcAft>
              <a:buNone/>
            </a:pPr>
            <a:r>
              <a:rPr lang="en" sz="1000"/>
              <a:t>gradient_checkpointing: a setting that stores intermediate gradients and recomputes the others from them. This drastically reduces memory requirements.</a:t>
            </a:r>
            <a:endParaRPr sz="1000"/>
          </a:p>
          <a:p>
            <a:pPr indent="0" lvl="0" marL="0" rtl="0" algn="l">
              <a:spcBef>
                <a:spcPts val="1200"/>
              </a:spcBef>
              <a:spcAft>
                <a:spcPts val="1200"/>
              </a:spcAft>
              <a:buNone/>
            </a:pPr>
            <a:r>
              <a:rPr lang="en" sz="1000"/>
              <a:t>(Side note: I would highly recommend the “Advances in Deep Learning” course by Professor Philipp Krähenbühl. It provides excellent coverage of deep learning methods and all of these hyperparameters.)</a:t>
            </a:r>
            <a:endParaRPr sz="1000"/>
          </a:p>
        </p:txBody>
      </p:sp>
      <p:pic>
        <p:nvPicPr>
          <p:cNvPr id="460" name="Google Shape;460;p52"/>
          <p:cNvPicPr preferRelativeResize="0"/>
          <p:nvPr/>
        </p:nvPicPr>
        <p:blipFill>
          <a:blip r:embed="rId4">
            <a:alphaModFix/>
          </a:blip>
          <a:stretch>
            <a:fillRect/>
          </a:stretch>
        </p:blipFill>
        <p:spPr>
          <a:xfrm>
            <a:off x="3511226" y="0"/>
            <a:ext cx="5453150" cy="51434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Hyperparameters for FULL_BASE experiment - </a:t>
            </a:r>
            <a:r>
              <a:rPr lang="en" sz="1600"/>
              <a:t>Script </a:t>
            </a:r>
            <a:r>
              <a:rPr lang="en" sz="1600" u="sng">
                <a:hlinkClick r:id="rId3"/>
              </a:rPr>
              <a:t>config.py</a:t>
            </a:r>
            <a:endParaRPr/>
          </a:p>
        </p:txBody>
      </p:sp>
      <p:sp>
        <p:nvSpPr>
          <p:cNvPr id="466" name="Google Shape;466;p53"/>
          <p:cNvSpPr txBox="1"/>
          <p:nvPr/>
        </p:nvSpPr>
        <p:spPr>
          <a:xfrm>
            <a:off x="197663" y="2171625"/>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These settings configure the experiment to run on the full ICD-10 dataset</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It is compute-intensive, but a large number of epochs is required to achieve decent classification scores</a:t>
            </a:r>
            <a:r>
              <a:rPr lang="en" sz="1800">
                <a:solidFill>
                  <a:schemeClr val="lt2"/>
                </a:solidFill>
                <a:latin typeface="Roboto"/>
                <a:ea typeface="Roboto"/>
                <a:cs typeface="Roboto"/>
                <a:sym typeface="Roboto"/>
              </a:rPr>
              <a:t/>
            </a:r>
            <a:r>
              <a:rPr lang="en" sz="1800">
                <a:solidFill>
                  <a:schemeClr val="lt2"/>
                </a:solidFill>
                <a:latin typeface="Roboto"/>
                <a:ea typeface="Roboto"/>
                <a:cs typeface="Roboto"/>
                <a:sym typeface="Roboto"/>
              </a:rPr>
              <a:t/>
            </a:r>
            <a:endParaRPr sz="1800">
              <a:solidFill>
                <a:schemeClr val="lt2"/>
              </a:solidFill>
              <a:latin typeface="Roboto"/>
              <a:ea typeface="Roboto"/>
              <a:cs typeface="Roboto"/>
              <a:sym typeface="Roboto"/>
            </a:endParaRPr>
          </a:p>
        </p:txBody>
      </p:sp>
      <p:pic>
        <p:nvPicPr>
          <p:cNvPr id="467" name="Google Shape;467;p53"/>
          <p:cNvPicPr preferRelativeResize="0"/>
          <p:nvPr/>
        </p:nvPicPr>
        <p:blipFill>
          <a:blip r:embed="rId4">
            <a:alphaModFix/>
          </a:blip>
          <a:stretch>
            <a:fillRect/>
          </a:stretch>
        </p:blipFill>
        <p:spPr>
          <a:xfrm>
            <a:off x="1205613" y="771450"/>
            <a:ext cx="6391275" cy="12477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Hyperparameters for TOP50_BASE experiment - </a:t>
            </a:r>
            <a:r>
              <a:rPr lang="en" sz="1600"/>
              <a:t>Script </a:t>
            </a:r>
            <a:r>
              <a:rPr lang="en" sz="1600" u="sng">
                <a:hlinkClick r:id="rId3"/>
              </a:rPr>
              <a:t>config.py</a:t>
            </a:r>
            <a:endParaRPr/>
          </a:p>
        </p:txBody>
      </p:sp>
      <p:sp>
        <p:nvSpPr>
          <p:cNvPr id="473" name="Google Shape;473;p54"/>
          <p:cNvSpPr txBox="1"/>
          <p:nvPr/>
        </p:nvSpPr>
        <p:spPr>
          <a:xfrm>
            <a:off x="197663" y="2171625"/>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These settings configure the experiment to classify the 50 most common ICD-10 codes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uses the base hyperparameters exactly as they are</a:t>
            </a:r>
            <a:endParaRPr sz="1800">
              <a:solidFill>
                <a:schemeClr val="lt2"/>
              </a:solidFill>
              <a:latin typeface="Roboto"/>
              <a:ea typeface="Roboto"/>
              <a:cs typeface="Roboto"/>
              <a:sym typeface="Roboto"/>
            </a:endParaRPr>
          </a:p>
        </p:txBody>
      </p:sp>
      <p:pic>
        <p:nvPicPr>
          <p:cNvPr id="474" name="Google Shape;474;p54"/>
          <p:cNvPicPr preferRelativeResize="0"/>
          <p:nvPr/>
        </p:nvPicPr>
        <p:blipFill>
          <a:blip r:embed="rId4">
            <a:alphaModFix/>
          </a:blip>
          <a:stretch>
            <a:fillRect/>
          </a:stretch>
        </p:blipFill>
        <p:spPr>
          <a:xfrm>
            <a:off x="2258150" y="917075"/>
            <a:ext cx="4286250" cy="4000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Hyperparameters for TOP50_Large experiment - </a:t>
            </a:r>
            <a:r>
              <a:rPr lang="en" sz="1600"/>
              <a:t>Script </a:t>
            </a:r>
            <a:r>
              <a:rPr lang="en" sz="1600" u="sng">
                <a:hlinkClick r:id="rId3"/>
              </a:rPr>
              <a:t>config.py</a:t>
            </a:r>
            <a:endParaRPr/>
          </a:p>
        </p:txBody>
      </p:sp>
      <p:sp>
        <p:nvSpPr>
          <p:cNvPr id="480" name="Google Shape;480;p55"/>
          <p:cNvSpPr txBox="1"/>
          <p:nvPr/>
        </p:nvSpPr>
        <p:spPr>
          <a:xfrm>
            <a:off x="98238" y="3225125"/>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These settings configure the experiment to classify the top 50 most common codes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 xml:space="preserve">The </a:t>
            </a:r>
            <a:r>
              <a:rPr lang="en" sz="1800">
                <a:solidFill>
                  <a:schemeClr val="lt2"/>
                </a:solidFill>
                <a:latin typeface="Roboto"/>
                <a:ea typeface="Roboto"/>
                <a:cs typeface="Roboto"/>
                <a:sym typeface="Roboto"/>
              </a:rPr>
              <a:t>larger BioClinical-ModernBERT-large model is used, which should lead to better performance</a:t>
            </a:r>
            <a:endParaRPr sz="1800">
              <a:solidFill>
                <a:schemeClr val="lt2"/>
              </a:solidFill>
              <a:latin typeface="Roboto"/>
              <a:ea typeface="Roboto"/>
              <a:cs typeface="Roboto"/>
              <a:sym typeface="Roboto"/>
            </a:endParaRPr>
          </a:p>
        </p:txBody>
      </p:sp>
      <p:pic>
        <p:nvPicPr>
          <p:cNvPr id="481" name="Google Shape;481;p55"/>
          <p:cNvPicPr preferRelativeResize="0"/>
          <p:nvPr/>
        </p:nvPicPr>
        <p:blipFill>
          <a:blip r:embed="rId4">
            <a:alphaModFix/>
          </a:blip>
          <a:stretch>
            <a:fillRect/>
          </a:stretch>
        </p:blipFill>
        <p:spPr>
          <a:xfrm>
            <a:off x="1647825" y="816213"/>
            <a:ext cx="5848350" cy="20859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Hyperparameters for SYNTHETIC experiment - </a:t>
            </a:r>
            <a:r>
              <a:rPr lang="en" sz="1600"/>
              <a:t>Script </a:t>
            </a:r>
            <a:r>
              <a:rPr lang="en" sz="1600" u="sng">
                <a:hlinkClick r:id="rId3"/>
              </a:rPr>
              <a:t>config.py</a:t>
            </a:r>
            <a:endParaRPr/>
          </a:p>
        </p:txBody>
      </p:sp>
      <p:sp>
        <p:nvSpPr>
          <p:cNvPr id="487" name="Google Shape;487;p56"/>
          <p:cNvSpPr txBox="1"/>
          <p:nvPr/>
        </p:nvSpPr>
        <p:spPr>
          <a:xfrm>
            <a:off x="98250" y="3021550"/>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These settings configure the experiment for fine-tuning on the synthetic LLM-generated data</a:t>
            </a:r>
            <a:r>
              <a:rPr lang="en" sz="1800">
                <a:solidFill>
                  <a:schemeClr val="lt2"/>
                </a:solidFill>
                <a:latin typeface="Roboto"/>
                <a:ea typeface="Roboto"/>
                <a:cs typeface="Roboto"/>
                <a:sym typeface="Roboto"/>
              </a:rPr>
              <a:t/>
            </a:r>
            <a:r>
              <a:rPr lang="en" sz="1800">
                <a:solidFill>
                  <a:schemeClr val="lt2"/>
                </a:solidFill>
                <a:latin typeface="Roboto"/>
                <a:ea typeface="Roboto"/>
                <a:cs typeface="Roboto"/>
                <a:sym typeface="Roboto"/>
              </a:rP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is useful for testing and publication when the actual MIMIC-IV data is not available</a:t>
            </a:r>
            <a:endParaRPr sz="1800">
              <a:solidFill>
                <a:schemeClr val="lt2"/>
              </a:solidFill>
              <a:latin typeface="Roboto"/>
              <a:ea typeface="Roboto"/>
              <a:cs typeface="Roboto"/>
              <a:sym typeface="Roboto"/>
            </a:endParaRPr>
          </a:p>
        </p:txBody>
      </p:sp>
      <p:pic>
        <p:nvPicPr>
          <p:cNvPr id="488" name="Google Shape;488;p56"/>
          <p:cNvPicPr preferRelativeResize="0"/>
          <p:nvPr/>
        </p:nvPicPr>
        <p:blipFill>
          <a:blip r:embed="rId4">
            <a:alphaModFix/>
          </a:blip>
          <a:stretch>
            <a:fillRect/>
          </a:stretch>
        </p:blipFill>
        <p:spPr>
          <a:xfrm>
            <a:off x="639488" y="825350"/>
            <a:ext cx="7324725" cy="15906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Hyperparameters for SMOKE experiment - </a:t>
            </a:r>
            <a:r>
              <a:rPr lang="en" sz="1600"/>
              <a:t>Script </a:t>
            </a:r>
            <a:r>
              <a:rPr lang="en" sz="1600" u="sng">
                <a:hlinkClick r:id="rId3"/>
              </a:rPr>
              <a:t>config.py</a:t>
            </a:r>
            <a:endParaRPr/>
          </a:p>
        </p:txBody>
      </p:sp>
      <p:sp>
        <p:nvSpPr>
          <p:cNvPr id="494" name="Google Shape;494;p57"/>
          <p:cNvSpPr txBox="1"/>
          <p:nvPr/>
        </p:nvSpPr>
        <p:spPr>
          <a:xfrm>
            <a:off x="98250" y="3021550"/>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The smoke experiment exists exclusively for debugging</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uses a very small model and very small amounts of data</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makes debugging much quicker and avoids using larger models for debugging</a:t>
            </a:r>
            <a:endParaRPr sz="1800">
              <a:solidFill>
                <a:schemeClr val="lt2"/>
              </a:solidFill>
              <a:latin typeface="Roboto"/>
              <a:ea typeface="Roboto"/>
              <a:cs typeface="Roboto"/>
              <a:sym typeface="Roboto"/>
            </a:endParaRPr>
          </a:p>
        </p:txBody>
      </p:sp>
      <p:pic>
        <p:nvPicPr>
          <p:cNvPr id="495" name="Google Shape;495;p57"/>
          <p:cNvPicPr preferRelativeResize="0"/>
          <p:nvPr/>
        </p:nvPicPr>
        <p:blipFill>
          <a:blip r:embed="rId4">
            <a:alphaModFix/>
          </a:blip>
          <a:stretch>
            <a:fillRect/>
          </a:stretch>
        </p:blipFill>
        <p:spPr>
          <a:xfrm>
            <a:off x="1609438" y="771450"/>
            <a:ext cx="5384817" cy="20977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Hyperparameters for FULL_BASE experiment - </a:t>
            </a:r>
            <a:r>
              <a:rPr lang="en" sz="1600"/>
              <a:t>Script </a:t>
            </a:r>
            <a:r>
              <a:rPr lang="en" sz="1600" u="sng">
                <a:hlinkClick r:id="rId3"/>
              </a:rPr>
              <a:t>config.py</a:t>
            </a:r>
            <a:endParaRPr/>
          </a:p>
        </p:txBody>
      </p:sp>
      <p:sp>
        <p:nvSpPr>
          <p:cNvPr id="501" name="Google Shape;501;p58"/>
          <p:cNvSpPr txBox="1"/>
          <p:nvPr/>
        </p:nvSpPr>
        <p:spPr>
          <a:xfrm>
            <a:off x="197663" y="2171625"/>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These settings configure the experiment to run on the full ICD-10 dataset</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It is compute-intensive, but a large number of epochs is required to achieve decent classification scores</a:t>
            </a:r>
            <a:endParaRPr sz="1800">
              <a:solidFill>
                <a:schemeClr val="lt2"/>
              </a:solidFill>
              <a:latin typeface="Roboto"/>
              <a:ea typeface="Roboto"/>
              <a:cs typeface="Roboto"/>
              <a:sym typeface="Roboto"/>
            </a:endParaRPr>
          </a:p>
        </p:txBody>
      </p:sp>
      <p:pic>
        <p:nvPicPr>
          <p:cNvPr id="502" name="Google Shape;502;p58"/>
          <p:cNvPicPr preferRelativeResize="0"/>
          <p:nvPr/>
        </p:nvPicPr>
        <p:blipFill>
          <a:blip r:embed="rId4">
            <a:alphaModFix/>
          </a:blip>
          <a:stretch>
            <a:fillRect/>
          </a:stretch>
        </p:blipFill>
        <p:spPr>
          <a:xfrm>
            <a:off x="1205613" y="771450"/>
            <a:ext cx="6391275" cy="12477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9"/>
          <p:cNvSpPr txBox="1"/>
          <p:nvPr>
            <p:ph type="title"/>
          </p:nvPr>
        </p:nvSpPr>
        <p:spPr>
          <a:xfrm>
            <a:off x="71850" y="-51125"/>
            <a:ext cx="3149700" cy="95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000"/>
              <a:t>Building the model - Script </a:t>
            </a:r>
            <a:r>
              <a:rPr lang="en" sz="2000" u="sng">
                <a:hlinkClick r:id="rId3"/>
              </a:rPr>
              <a:t>train.py</a:t>
            </a:r>
            <a:endParaRPr sz="2000"/>
          </a:p>
        </p:txBody>
      </p:sp>
      <p:sp>
        <p:nvSpPr>
          <p:cNvPr id="508" name="Google Shape;508;p59"/>
          <p:cNvSpPr txBox="1"/>
          <p:nvPr>
            <p:ph idx="1" type="body"/>
          </p:nvPr>
        </p:nvSpPr>
        <p:spPr>
          <a:xfrm>
            <a:off x="71850" y="924975"/>
            <a:ext cx="3149700" cy="44058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300"/>
              <a:t>This function takes the defined hyperparameters from the config and builds out a model</a:t>
            </a:r>
            <a:endParaRPr sz="1300"/>
          </a:p>
          <a:p>
            <a:pPr indent="-311150" lvl="0" marL="457200" rtl="0" algn="l">
              <a:spcBef>
                <a:spcPts val="0"/>
              </a:spcBef>
              <a:spcAft>
                <a:spcPts val="0"/>
              </a:spcAft>
              <a:buSzPts val="1300"/>
              <a:buChar char="-"/>
            </a:pPr>
            <a:r>
              <a:rPr lang="en" sz="1300"/>
              <a:t>The core of the model is a neural network initialized with the weights of the pretrained model</a:t>
            </a:r>
            <a:endParaRPr sz="1300"/>
          </a:p>
          <a:p>
            <a:pPr indent="-311150" lvl="0" marL="457200" rtl="0" algn="l">
              <a:spcBef>
                <a:spcPts val="0"/>
              </a:spcBef>
              <a:spcAft>
                <a:spcPts val="0"/>
              </a:spcAft>
              <a:buSzPts val="1300"/>
              <a:buChar char="-"/>
            </a:pPr>
            <a:r>
              <a:rPr lang="en" sz="1300"/>
              <a:t>A linear classification layer is added to perform ICD-10 classification from the word embeddings</a:t>
            </a:r>
            <a:endParaRPr sz="1300"/>
          </a:p>
        </p:txBody>
      </p:sp>
      <p:pic>
        <p:nvPicPr>
          <p:cNvPr id="509" name="Google Shape;509;p59"/>
          <p:cNvPicPr preferRelativeResize="0"/>
          <p:nvPr/>
        </p:nvPicPr>
        <p:blipFill rotWithShape="1">
          <a:blip r:embed="rId4">
            <a:alphaModFix/>
          </a:blip>
          <a:srcRect b="0" l="0" r="36057" t="0"/>
          <a:stretch/>
        </p:blipFill>
        <p:spPr>
          <a:xfrm>
            <a:off x="3266225" y="0"/>
            <a:ext cx="5877774" cy="514350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0"/>
          <p:cNvSpPr txBox="1"/>
          <p:nvPr>
            <p:ph type="title"/>
          </p:nvPr>
        </p:nvSpPr>
        <p:spPr>
          <a:xfrm>
            <a:off x="71850" y="-51125"/>
            <a:ext cx="3149700" cy="95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000"/>
              <a:t>Training the model</a:t>
            </a:r>
            <a:r>
              <a:rPr lang="en" sz="2000"/>
              <a:t> - Script </a:t>
            </a:r>
            <a:r>
              <a:rPr lang="en" sz="2000" u="sng">
                <a:hlinkClick r:id="rId3"/>
              </a:rPr>
              <a:t>train.py</a:t>
            </a:r>
            <a:endParaRPr sz="2000"/>
          </a:p>
        </p:txBody>
      </p:sp>
      <p:sp>
        <p:nvSpPr>
          <p:cNvPr id="515" name="Google Shape;515;p60"/>
          <p:cNvSpPr txBox="1"/>
          <p:nvPr>
            <p:ph idx="1" type="body"/>
          </p:nvPr>
        </p:nvSpPr>
        <p:spPr>
          <a:xfrm>
            <a:off x="71850" y="1036375"/>
            <a:ext cx="3149700" cy="4107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300"/>
              <a:t>This is the actual training loop that fine-tunes the model</a:t>
            </a:r>
            <a:endParaRPr sz="1300"/>
          </a:p>
          <a:p>
            <a:pPr indent="-311150" lvl="0" marL="457200" rtl="0" algn="l">
              <a:spcBef>
                <a:spcPts val="0"/>
              </a:spcBef>
              <a:spcAft>
                <a:spcPts val="0"/>
              </a:spcAft>
              <a:buSzPts val="1300"/>
              <a:buChar char="-"/>
            </a:pPr>
            <a:r>
              <a:rPr lang="en" sz="1300"/>
              <a:t>Data is prepared and tokenized first</a:t>
            </a:r>
            <a:endParaRPr sz="1300"/>
          </a:p>
          <a:p>
            <a:pPr indent="-311150" lvl="0" marL="457200" rtl="0" algn="l">
              <a:spcBef>
                <a:spcPts val="0"/>
              </a:spcBef>
              <a:spcAft>
                <a:spcPts val="0"/>
              </a:spcAft>
              <a:buSzPts val="1300"/>
              <a:buChar char="-"/>
            </a:pPr>
            <a:r>
              <a:rPr lang="en" sz="1300"/>
              <a:t>The model is built out using the previous script</a:t>
            </a:r>
            <a:endParaRPr sz="1300"/>
          </a:p>
          <a:p>
            <a:pPr indent="-311150" lvl="0" marL="457200" rtl="0" algn="l">
              <a:spcBef>
                <a:spcPts val="0"/>
              </a:spcBef>
              <a:spcAft>
                <a:spcPts val="0"/>
              </a:spcAft>
              <a:buSzPts val="1300"/>
              <a:buChar char="-"/>
            </a:pPr>
            <a:r>
              <a:rPr lang="en" sz="1300"/>
              <a:t>The </a:t>
            </a:r>
            <a:r>
              <a:rPr lang="en" sz="1300"/>
              <a:t>Hugging Face</a:t>
            </a:r>
            <a:r>
              <a:rPr lang="en" sz="1300"/>
              <a:t> Trainer is instantiated</a:t>
            </a:r>
            <a:endParaRPr sz="1300"/>
          </a:p>
          <a:p>
            <a:pPr indent="-311150" lvl="0" marL="457200" rtl="0" algn="l">
              <a:spcBef>
                <a:spcPts val="0"/>
              </a:spcBef>
              <a:spcAft>
                <a:spcPts val="0"/>
              </a:spcAft>
              <a:buSzPts val="1300"/>
              <a:buChar char="-"/>
            </a:pPr>
            <a:r>
              <a:rPr lang="en" sz="1300"/>
              <a:t>The model is fine-tuned</a:t>
            </a:r>
            <a:r>
              <a:rPr lang="en" sz="1300"/>
              <a:t/>
            </a:r>
            <a:endParaRPr sz="1300"/>
          </a:p>
          <a:p>
            <a:pPr indent="-311150" lvl="0" marL="457200" rtl="0" algn="l">
              <a:spcBef>
                <a:spcPts val="0"/>
              </a:spcBef>
              <a:spcAft>
                <a:spcPts val="0"/>
              </a:spcAft>
              <a:buSzPts val="1300"/>
              <a:buChar char="-"/>
            </a:pPr>
            <a:r>
              <a:rPr lang="en" sz="1300"/>
              <a:t>The fine-tuned model</a:t>
            </a:r>
            <a:r>
              <a:rPr lang="en" sz="1300"/>
              <a:t/>
            </a:r>
            <a:r>
              <a:rPr lang="en" sz="1300"/>
              <a:t xml:space="preserve"> is then evaluated</a:t>
            </a:r>
            <a:endParaRPr sz="1300"/>
          </a:p>
          <a:p>
            <a:pPr indent="-311150" lvl="0" marL="457200" rtl="0" algn="l">
              <a:spcBef>
                <a:spcPts val="0"/>
              </a:spcBef>
              <a:spcAft>
                <a:spcPts val="0"/>
              </a:spcAft>
              <a:buSzPts val="1300"/>
              <a:buChar char="-"/>
            </a:pPr>
            <a:r>
              <a:rPr lang="en" sz="1300"/>
              <a:t>Finally, the model is saved</a:t>
            </a:r>
            <a:endParaRPr sz="1300"/>
          </a:p>
        </p:txBody>
      </p:sp>
      <p:pic>
        <p:nvPicPr>
          <p:cNvPr id="516" name="Google Shape;516;p60"/>
          <p:cNvPicPr preferRelativeResize="0"/>
          <p:nvPr/>
        </p:nvPicPr>
        <p:blipFill rotWithShape="1">
          <a:blip r:embed="rId4">
            <a:alphaModFix/>
          </a:blip>
          <a:srcRect b="0" l="0" r="25462" t="0"/>
          <a:stretch/>
        </p:blipFill>
        <p:spPr>
          <a:xfrm>
            <a:off x="3270949" y="0"/>
            <a:ext cx="5873049" cy="5143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1"/>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Part 4: Evaluating the Model</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training script calls the metrics script - Script </a:t>
            </a:r>
            <a:r>
              <a:rPr lang="en" u="sng">
                <a:hlinkClick r:id="rId3"/>
              </a:rPr>
              <a:t>train.py</a:t>
            </a:r>
            <a:endParaRPr/>
          </a:p>
        </p:txBody>
      </p:sp>
      <p:sp>
        <p:nvSpPr>
          <p:cNvPr id="527" name="Google Shape;527;p62"/>
          <p:cNvSpPr txBox="1"/>
          <p:nvPr/>
        </p:nvSpPr>
        <p:spPr>
          <a:xfrm>
            <a:off x="307938" y="2698825"/>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Calls the compute metrics function to evaluate the accuracy of the results</a:t>
            </a:r>
            <a:endParaRPr sz="1800">
              <a:solidFill>
                <a:schemeClr val="lt2"/>
              </a:solidFill>
              <a:latin typeface="Roboto"/>
              <a:ea typeface="Roboto"/>
              <a:cs typeface="Roboto"/>
              <a:sym typeface="Roboto"/>
            </a:endParaRPr>
          </a:p>
        </p:txBody>
      </p:sp>
      <p:pic>
        <p:nvPicPr>
          <p:cNvPr id="528" name="Google Shape;528;p62"/>
          <p:cNvPicPr preferRelativeResize="0"/>
          <p:nvPr/>
        </p:nvPicPr>
        <p:blipFill>
          <a:blip r:embed="rId4">
            <a:alphaModFix/>
          </a:blip>
          <a:stretch>
            <a:fillRect/>
          </a:stretch>
        </p:blipFill>
        <p:spPr>
          <a:xfrm>
            <a:off x="314325" y="785975"/>
            <a:ext cx="8515350" cy="17145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Compute metrics - Script </a:t>
            </a:r>
            <a:r>
              <a:rPr lang="en" u="sng">
                <a:hlinkClick r:id="rId3"/>
              </a:rPr>
              <a:t>metrics.py</a:t>
            </a:r>
            <a:endParaRPr/>
          </a:p>
        </p:txBody>
      </p:sp>
      <p:sp>
        <p:nvSpPr>
          <p:cNvPr id="534" name="Google Shape;534;p63"/>
          <p:cNvSpPr txBox="1"/>
          <p:nvPr/>
        </p:nvSpPr>
        <p:spPr>
          <a:xfrm>
            <a:off x="-8" y="697975"/>
            <a:ext cx="3030300" cy="4166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Compute metrics calculates a suite of metrics on the model’s performance</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F1 is a metric that combines precision and recall</a:t>
            </a:r>
            <a:r>
              <a:rPr lang="en" sz="1800">
                <a:solidFill>
                  <a:schemeClr val="lt2"/>
                </a:solidFill>
                <a:latin typeface="Roboto"/>
                <a:ea typeface="Roboto"/>
                <a:cs typeface="Roboto"/>
                <a:sym typeface="Roboto"/>
              </a:rP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Macro averages the score across labels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Micro averages across all predictions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Macro reflects rare codes; micro reflects overall performance</a:t>
            </a:r>
            <a:endParaRPr sz="1800">
              <a:solidFill>
                <a:schemeClr val="lt2"/>
              </a:solidFill>
              <a:latin typeface="Roboto"/>
              <a:ea typeface="Roboto"/>
              <a:cs typeface="Roboto"/>
              <a:sym typeface="Roboto"/>
            </a:endParaRPr>
          </a:p>
        </p:txBody>
      </p:sp>
      <p:pic>
        <p:nvPicPr>
          <p:cNvPr id="535" name="Google Shape;535;p63"/>
          <p:cNvPicPr preferRelativeResize="0"/>
          <p:nvPr/>
        </p:nvPicPr>
        <p:blipFill>
          <a:blip r:embed="rId4">
            <a:alphaModFix/>
          </a:blip>
          <a:stretch>
            <a:fillRect/>
          </a:stretch>
        </p:blipFill>
        <p:spPr>
          <a:xfrm>
            <a:off x="3030276" y="919125"/>
            <a:ext cx="6053825" cy="382044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6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Compute metrics (continued) - Script </a:t>
            </a:r>
            <a:r>
              <a:rPr lang="en" u="sng">
                <a:hlinkClick r:id="rId3"/>
              </a:rPr>
              <a:t>metrics.py</a:t>
            </a:r>
            <a:endParaRPr/>
          </a:p>
        </p:txBody>
      </p:sp>
      <p:sp>
        <p:nvSpPr>
          <p:cNvPr id="541" name="Google Shape;541;p64"/>
          <p:cNvSpPr txBox="1"/>
          <p:nvPr/>
        </p:nvSpPr>
        <p:spPr>
          <a:xfrm>
            <a:off x="-8" y="697975"/>
            <a:ext cx="3030300" cy="4166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Precision at k measures the precision of the k most confident labels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AUC: area under the curve, measures how likely the model is to score a positive example higher than a negative one</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The compute metrics method can alternatively be called from the command line using evaluate.py</a:t>
            </a:r>
            <a:endParaRPr sz="1800">
              <a:solidFill>
                <a:schemeClr val="lt2"/>
              </a:solidFill>
              <a:latin typeface="Roboto"/>
              <a:ea typeface="Roboto"/>
              <a:cs typeface="Roboto"/>
              <a:sym typeface="Roboto"/>
            </a:endParaRPr>
          </a:p>
        </p:txBody>
      </p:sp>
      <p:pic>
        <p:nvPicPr>
          <p:cNvPr id="542" name="Google Shape;542;p64"/>
          <p:cNvPicPr preferRelativeResize="0"/>
          <p:nvPr/>
        </p:nvPicPr>
        <p:blipFill>
          <a:blip r:embed="rId4">
            <a:alphaModFix/>
          </a:blip>
          <a:stretch>
            <a:fillRect/>
          </a:stretch>
        </p:blipFill>
        <p:spPr>
          <a:xfrm>
            <a:off x="3030276" y="919125"/>
            <a:ext cx="6053825" cy="382044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Precision at k calculation - </a:t>
            </a:r>
            <a:r>
              <a:rPr lang="en" sz="1600"/>
              <a:t>Script </a:t>
            </a:r>
            <a:r>
              <a:rPr lang="en" sz="1600" u="sng">
                <a:hlinkClick r:id="rId3"/>
              </a:rPr>
              <a:t>metrics.py</a:t>
            </a:r>
            <a:endParaRPr sz="1600"/>
          </a:p>
        </p:txBody>
      </p:sp>
      <p:sp>
        <p:nvSpPr>
          <p:cNvPr id="548" name="Google Shape;548;p65"/>
          <p:cNvSpPr txBox="1"/>
          <p:nvPr/>
        </p:nvSpPr>
        <p:spPr>
          <a:xfrm>
            <a:off x="307938" y="2321400"/>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helper method computes the precision for the k most confident labels</a:t>
            </a:r>
            <a:endParaRPr sz="1800">
              <a:solidFill>
                <a:schemeClr val="lt2"/>
              </a:solidFill>
              <a:latin typeface="Roboto"/>
              <a:ea typeface="Roboto"/>
              <a:cs typeface="Roboto"/>
              <a:sym typeface="Roboto"/>
            </a:endParaRPr>
          </a:p>
        </p:txBody>
      </p:sp>
      <p:pic>
        <p:nvPicPr>
          <p:cNvPr id="549" name="Google Shape;549;p65"/>
          <p:cNvPicPr preferRelativeResize="0"/>
          <p:nvPr/>
        </p:nvPicPr>
        <p:blipFill>
          <a:blip r:embed="rId4">
            <a:alphaModFix/>
          </a:blip>
          <a:stretch>
            <a:fillRect/>
          </a:stretch>
        </p:blipFill>
        <p:spPr>
          <a:xfrm>
            <a:off x="1414613" y="819950"/>
            <a:ext cx="6314766" cy="14094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F1 calculation - </a:t>
            </a:r>
            <a:r>
              <a:rPr lang="en" sz="1600"/>
              <a:t>Script </a:t>
            </a:r>
            <a:r>
              <a:rPr lang="en" sz="1600" u="sng">
                <a:hlinkClick r:id="rId3"/>
              </a:rPr>
              <a:t>metrics.py</a:t>
            </a:r>
            <a:endParaRPr sz="1600"/>
          </a:p>
        </p:txBody>
      </p:sp>
      <p:sp>
        <p:nvSpPr>
          <p:cNvPr id="555" name="Google Shape;555;p66"/>
          <p:cNvSpPr txBox="1"/>
          <p:nvPr/>
        </p:nvSpPr>
        <p:spPr>
          <a:xfrm>
            <a:off x="307938" y="2321400"/>
            <a:ext cx="8407200" cy="125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helper method computes F1 scores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F1 scores </a:t>
            </a:r>
            <a:r>
              <a:rPr lang="en" sz="1800">
                <a:solidFill>
                  <a:schemeClr val="lt2"/>
                </a:solidFill>
                <a:latin typeface="Roboto"/>
                <a:ea typeface="Roboto"/>
                <a:cs typeface="Roboto"/>
                <a:sym typeface="Roboto"/>
              </a:rPr>
              <a:t>measure</a:t>
            </a:r>
            <a:r>
              <a:rPr lang="en" sz="1800">
                <a:solidFill>
                  <a:schemeClr val="lt2"/>
                </a:solidFill>
                <a:latin typeface="Roboto"/>
                <a:ea typeface="Roboto"/>
                <a:cs typeface="Roboto"/>
                <a:sym typeface="Roboto"/>
              </a:rPr>
              <a:t> both precision and recall in one metric</a:t>
            </a:r>
            <a:endParaRPr sz="1800">
              <a:solidFill>
                <a:schemeClr val="lt2"/>
              </a:solidFill>
              <a:latin typeface="Roboto"/>
              <a:ea typeface="Roboto"/>
              <a:cs typeface="Roboto"/>
              <a:sym typeface="Roboto"/>
            </a:endParaRPr>
          </a:p>
        </p:txBody>
      </p:sp>
      <p:pic>
        <p:nvPicPr>
          <p:cNvPr id="556" name="Google Shape;556;p66"/>
          <p:cNvPicPr preferRelativeResize="0"/>
          <p:nvPr/>
        </p:nvPicPr>
        <p:blipFill>
          <a:blip r:embed="rId4">
            <a:alphaModFix/>
          </a:blip>
          <a:stretch>
            <a:fillRect/>
          </a:stretch>
        </p:blipFill>
        <p:spPr>
          <a:xfrm>
            <a:off x="638175" y="993700"/>
            <a:ext cx="7867650" cy="12573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6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Frequency bucket metrics - </a:t>
            </a:r>
            <a:r>
              <a:rPr lang="en" sz="1600"/>
              <a:t>Script </a:t>
            </a:r>
            <a:r>
              <a:rPr lang="en" sz="1600" u="sng">
                <a:hlinkClick r:id="rId3"/>
              </a:rPr>
              <a:t>metrics.py</a:t>
            </a:r>
            <a:endParaRPr sz="1600"/>
          </a:p>
        </p:txBody>
      </p:sp>
      <p:sp>
        <p:nvSpPr>
          <p:cNvPr id="562" name="Google Shape;562;p67"/>
          <p:cNvSpPr txBox="1"/>
          <p:nvPr/>
        </p:nvSpPr>
        <p:spPr>
          <a:xfrm>
            <a:off x="0" y="961550"/>
            <a:ext cx="2271600" cy="3908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The frequency metrics evaluate how well the model performs on labels grouped by how often they appear in the training data</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is used in the full_base training experiments</a:t>
            </a:r>
            <a:endParaRPr sz="1800">
              <a:solidFill>
                <a:schemeClr val="lt2"/>
              </a:solidFill>
              <a:latin typeface="Roboto"/>
              <a:ea typeface="Roboto"/>
              <a:cs typeface="Roboto"/>
              <a:sym typeface="Roboto"/>
            </a:endParaRPr>
          </a:p>
        </p:txBody>
      </p:sp>
      <p:pic>
        <p:nvPicPr>
          <p:cNvPr id="563" name="Google Shape;563;p67"/>
          <p:cNvPicPr preferRelativeResize="0"/>
          <p:nvPr/>
        </p:nvPicPr>
        <p:blipFill>
          <a:blip r:embed="rId4">
            <a:alphaModFix/>
          </a:blip>
          <a:stretch>
            <a:fillRect/>
          </a:stretch>
        </p:blipFill>
        <p:spPr>
          <a:xfrm>
            <a:off x="2271478" y="1048347"/>
            <a:ext cx="6872526" cy="36578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Frequency bucket metrics - </a:t>
            </a:r>
            <a:r>
              <a:rPr lang="en" sz="1600"/>
              <a:t>Script </a:t>
            </a:r>
            <a:r>
              <a:rPr lang="en" sz="1600" u="sng">
                <a:hlinkClick r:id="rId3"/>
              </a:rPr>
              <a:t>metrics.py</a:t>
            </a:r>
            <a:endParaRPr sz="1600"/>
          </a:p>
        </p:txBody>
      </p:sp>
      <p:sp>
        <p:nvSpPr>
          <p:cNvPr id="569" name="Google Shape;569;p68"/>
          <p:cNvSpPr txBox="1"/>
          <p:nvPr/>
        </p:nvSpPr>
        <p:spPr>
          <a:xfrm>
            <a:off x="0" y="961550"/>
            <a:ext cx="2271600" cy="3908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The frequency metrics evaluate how well the model performs on labels grouped by how often they appear in the training data</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This is used in the full_base training experiments</a:t>
            </a:r>
            <a:endParaRPr sz="1800">
              <a:solidFill>
                <a:schemeClr val="lt2"/>
              </a:solidFill>
              <a:latin typeface="Roboto"/>
              <a:ea typeface="Roboto"/>
              <a:cs typeface="Roboto"/>
              <a:sym typeface="Roboto"/>
            </a:endParaRPr>
          </a:p>
        </p:txBody>
      </p:sp>
      <p:pic>
        <p:nvPicPr>
          <p:cNvPr id="570" name="Google Shape;570;p68"/>
          <p:cNvPicPr preferRelativeResize="0"/>
          <p:nvPr/>
        </p:nvPicPr>
        <p:blipFill>
          <a:blip r:embed="rId4">
            <a:alphaModFix/>
          </a:blip>
          <a:stretch>
            <a:fillRect/>
          </a:stretch>
        </p:blipFill>
        <p:spPr>
          <a:xfrm>
            <a:off x="2271478" y="1048347"/>
            <a:ext cx="6872526" cy="36578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Tuning prediction thresholds - </a:t>
            </a:r>
            <a:r>
              <a:rPr lang="en" sz="1600"/>
              <a:t>Script </a:t>
            </a:r>
            <a:r>
              <a:rPr lang="en" sz="1600" u="sng">
                <a:hlinkClick r:id="rId3"/>
              </a:rPr>
              <a:t>metrics.py</a:t>
            </a:r>
            <a:endParaRPr sz="1600"/>
          </a:p>
        </p:txBody>
      </p:sp>
      <p:sp>
        <p:nvSpPr>
          <p:cNvPr id="576" name="Google Shape;576;p69"/>
          <p:cNvSpPr txBox="1"/>
          <p:nvPr/>
        </p:nvSpPr>
        <p:spPr>
          <a:xfrm>
            <a:off x="98250" y="3298625"/>
            <a:ext cx="7949400" cy="1835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The prediction thresholds determine how high a score must be for the model to count a label as predicted</a:t>
            </a:r>
            <a:r>
              <a:rPr lang="en" sz="1800">
                <a:solidFill>
                  <a:schemeClr val="lt2"/>
                </a:solidFill>
                <a:latin typeface="Roboto"/>
                <a:ea typeface="Roboto"/>
                <a:cs typeface="Roboto"/>
                <a:sym typeface="Roboto"/>
              </a:rP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There are both global and per-label thresholds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Picking a good threshold ensures a well-performing model</a:t>
            </a:r>
            <a:endParaRPr sz="1800">
              <a:solidFill>
                <a:schemeClr val="lt2"/>
              </a:solidFill>
              <a:latin typeface="Roboto"/>
              <a:ea typeface="Roboto"/>
              <a:cs typeface="Roboto"/>
              <a:sym typeface="Roboto"/>
            </a:endParaRPr>
          </a:p>
        </p:txBody>
      </p:sp>
      <p:pic>
        <p:nvPicPr>
          <p:cNvPr id="577" name="Google Shape;577;p69"/>
          <p:cNvPicPr preferRelativeResize="0"/>
          <p:nvPr/>
        </p:nvPicPr>
        <p:blipFill>
          <a:blip r:embed="rId4">
            <a:alphaModFix/>
          </a:blip>
          <a:stretch>
            <a:fillRect/>
          </a:stretch>
        </p:blipFill>
        <p:spPr>
          <a:xfrm>
            <a:off x="1355363" y="672972"/>
            <a:ext cx="6433275" cy="26256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0"/>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Part 5: Experiments and Results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7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Experiment 1:</a:t>
            </a:r>
            <a:endParaRPr/>
          </a:p>
          <a:p>
            <a:pPr indent="0" lvl="0" marL="0" rtl="0" algn="ctr">
              <a:spcBef>
                <a:spcPts val="0"/>
              </a:spcBef>
              <a:spcAft>
                <a:spcPts val="0"/>
              </a:spcAft>
              <a:buNone/>
            </a:pPr>
            <a:r>
              <a:rPr lang="en"/>
              <a:t>Full Base</a:t>
            </a:r>
            <a:endParaRPr/>
          </a:p>
        </p:txBody>
      </p:sp>
      <p:sp>
        <p:nvSpPr>
          <p:cNvPr id="588" name="Google Shape;588;p7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a:t>Ran on a local desktop:</a:t>
            </a:r>
            <a:endParaRPr/>
          </a:p>
          <a:p>
            <a:pPr indent="-342900" lvl="0" marL="457200" rtl="0" algn="l">
              <a:spcBef>
                <a:spcPts val="1200"/>
              </a:spcBef>
              <a:spcAft>
                <a:spcPts val="0"/>
              </a:spcAft>
              <a:buSzPts val="1800"/>
              <a:buChar char="-"/>
            </a:pPr>
            <a:r>
              <a:rPr lang="en"/>
              <a:t>Nvidia 5080 GPU</a:t>
            </a:r>
            <a:endParaRPr/>
          </a:p>
          <a:p>
            <a:pPr indent="-342900" lvl="0" marL="457200" rtl="0" algn="l">
              <a:spcBef>
                <a:spcPts val="0"/>
              </a:spcBef>
              <a:spcAft>
                <a:spcPts val="0"/>
              </a:spcAft>
              <a:buSzPts val="1800"/>
              <a:buChar char="-"/>
            </a:pPr>
            <a:r>
              <a:rPr lang="en"/>
              <a:t>16 GB VRAM</a:t>
            </a:r>
            <a:endParaRPr/>
          </a:p>
          <a:p>
            <a:pPr indent="-342900" lvl="0" marL="457200" rtl="0" algn="l">
              <a:spcBef>
                <a:spcPts val="0"/>
              </a:spcBef>
              <a:spcAft>
                <a:spcPts val="0"/>
              </a:spcAft>
              <a:buSzPts val="1800"/>
              <a:buChar char="-"/>
            </a:pPr>
            <a:r>
              <a:rPr lang="en"/>
              <a:t>Approximately</a:t>
            </a:r>
            <a:r>
              <a:rPr lang="en"/>
              <a:t> 14 hours of training time</a:t>
            </a:r>
            <a:endParaRPr/>
          </a:p>
          <a:p>
            <a:pPr indent="0" lvl="0" marL="0" rtl="0" algn="l">
              <a:spcBef>
                <a:spcPts val="1200"/>
              </a:spcBef>
              <a:spcAft>
                <a:spcPts val="0"/>
              </a:spcAft>
              <a:buNone/>
            </a:pPr>
            <a:r>
              <a:rPr lang="en"/>
              <a:t>2-epoch experiment</a:t>
            </a:r>
            <a:endParaRPr/>
          </a:p>
          <a:p>
            <a:pPr indent="0" lvl="0" marL="0" rtl="0" algn="l">
              <a:spcBef>
                <a:spcPts val="1200"/>
              </a:spcBef>
              <a:spcAft>
                <a:spcPts val="0"/>
              </a:spcAft>
              <a:buNone/>
            </a:pPr>
            <a:r>
              <a:rPr lang="en"/>
              <a:t>Evaluating a classifier over all 70,000 ICD-10 codes</a:t>
            </a:r>
            <a:endParaRPr/>
          </a:p>
          <a:p>
            <a:pPr indent="0" lvl="0" marL="0" rtl="0" algn="l">
              <a:spcBef>
                <a:spcPts val="1200"/>
              </a:spcBef>
              <a:spcAft>
                <a:spcPts val="1200"/>
              </a:spcAft>
              <a:buNone/>
            </a:pPr>
            <a:r>
              <a:rPr lang="en"/>
              <a:t>Used 331,794 discharge notes as a </a:t>
            </a:r>
            <a:r>
              <a:rPr lang="en"/>
              <a:t>training</a:t>
            </a:r>
            <a:r>
              <a:rPr lang="en"/>
              <a:t> corpus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72"/>
          <p:cNvSpPr txBox="1"/>
          <p:nvPr>
            <p:ph type="title"/>
          </p:nvPr>
        </p:nvSpPr>
        <p:spPr>
          <a:xfrm>
            <a:off x="423000" y="7550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Epoch 0.5 Stats</a:t>
            </a:r>
            <a:endParaRPr/>
          </a:p>
        </p:txBody>
      </p:sp>
      <p:sp>
        <p:nvSpPr>
          <p:cNvPr id="594" name="Google Shape;594;p72"/>
          <p:cNvSpPr txBox="1"/>
          <p:nvPr>
            <p:ph idx="1" type="body"/>
          </p:nvPr>
        </p:nvSpPr>
        <p:spPr>
          <a:xfrm>
            <a:off x="94500" y="1864425"/>
            <a:ext cx="8975100" cy="3035100"/>
          </a:xfrm>
          <a:prstGeom prst="rect">
            <a:avLst/>
          </a:prstGeom>
        </p:spPr>
        <p:txBody>
          <a:bodyPr anchorCtr="0" anchor="t" bIns="91425" lIns="91425" spcFirstLastPara="1" rIns="91425" wrap="square" tIns="91425">
            <a:normAutofit fontScale="32500" lnSpcReduction="20000"/>
          </a:bodyPr>
          <a:lstStyle/>
          <a:p>
            <a:pPr indent="0" lvl="0" marL="0" rtl="0" algn="l">
              <a:spcBef>
                <a:spcPts val="0"/>
              </a:spcBef>
              <a:spcAft>
                <a:spcPts val="0"/>
              </a:spcAft>
              <a:buNone/>
            </a:pPr>
            <a:r>
              <a:rPr lang="en" sz="3800"/>
              <a:t>Time ~3 hours   </a:t>
            </a:r>
            <a:endParaRPr sz="3800"/>
          </a:p>
          <a:p>
            <a:pPr indent="0" lvl="0" marL="0" rtl="0" algn="l">
              <a:spcBef>
                <a:spcPts val="1200"/>
              </a:spcBef>
              <a:spcAft>
                <a:spcPts val="0"/>
              </a:spcAft>
              <a:buNone/>
            </a:pPr>
            <a:r>
              <a:rPr lang="en" sz="3800"/>
              <a:t>     "micro_f1": 0.0780199731834734,</a:t>
            </a:r>
            <a:endParaRPr sz="3800"/>
          </a:p>
          <a:p>
            <a:pPr indent="0" lvl="0" marL="0" rtl="0" algn="l">
              <a:spcBef>
                <a:spcPts val="1200"/>
              </a:spcBef>
              <a:spcAft>
                <a:spcPts val="0"/>
              </a:spcAft>
              <a:buNone/>
            </a:pPr>
            <a:r>
              <a:rPr lang="en" sz="3800"/>
              <a:t>    "macro_f1": 0.0011948689551967793,</a:t>
            </a:r>
            <a:endParaRPr sz="3800"/>
          </a:p>
          <a:p>
            <a:pPr indent="0" lvl="0" marL="0" rtl="0" algn="l">
              <a:spcBef>
                <a:spcPts val="1200"/>
              </a:spcBef>
              <a:spcAft>
                <a:spcPts val="0"/>
              </a:spcAft>
              <a:buNone/>
            </a:pPr>
            <a:r>
              <a:rPr lang="en" sz="3800"/>
              <a:t>    "micro_auc": 0.9538264129018218,</a:t>
            </a:r>
            <a:endParaRPr sz="3800"/>
          </a:p>
          <a:p>
            <a:pPr indent="0" lvl="0" marL="0" rtl="0" algn="l">
              <a:spcBef>
                <a:spcPts val="1200"/>
              </a:spcBef>
              <a:spcAft>
                <a:spcPts val="0"/>
              </a:spcAft>
              <a:buNone/>
            </a:pPr>
            <a:r>
              <a:rPr lang="en" sz="3800"/>
              <a:t>    "macro_auc": 0.5004821238692923,</a:t>
            </a:r>
            <a:endParaRPr sz="3800"/>
          </a:p>
          <a:p>
            <a:pPr indent="0" lvl="0" marL="0" rtl="0" algn="l">
              <a:spcBef>
                <a:spcPts val="1200"/>
              </a:spcBef>
              <a:spcAft>
                <a:spcPts val="0"/>
              </a:spcAft>
              <a:buNone/>
            </a:pPr>
            <a:r>
              <a:rPr lang="en" sz="3800"/>
              <a:t>    "precision_at_5": 0.04816933638443936,</a:t>
            </a:r>
            <a:endParaRPr sz="3800"/>
          </a:p>
          <a:p>
            <a:pPr indent="0" lvl="0" marL="0" rtl="0" algn="l">
              <a:spcBef>
                <a:spcPts val="1200"/>
              </a:spcBef>
              <a:spcAft>
                <a:spcPts val="0"/>
              </a:spcAft>
              <a:buNone/>
            </a:pPr>
            <a:r>
              <a:rPr lang="en" sz="3800"/>
              <a:t>    "precision_at_8": 0.05042497548218372,</a:t>
            </a:r>
            <a:endParaRPr sz="3800"/>
          </a:p>
          <a:p>
            <a:pPr indent="0" lvl="0" marL="0" rtl="0" algn="l">
              <a:spcBef>
                <a:spcPts val="1200"/>
              </a:spcBef>
              <a:spcAft>
                <a:spcPts val="0"/>
              </a:spcAft>
              <a:buNone/>
            </a:pPr>
            <a:r>
              <a:rPr lang="en" sz="3800"/>
              <a:t>    "precision_at_15": 0.0518252152119429</a:t>
            </a:r>
            <a:endParaRPr sz="3800"/>
          </a:p>
          <a:p>
            <a:pPr indent="0" lvl="0" marL="0" rtl="0" algn="l">
              <a:spcBef>
                <a:spcPts val="1200"/>
              </a:spcBef>
              <a:spcAft>
                <a:spcPts val="1200"/>
              </a:spcAft>
              <a:buNone/>
            </a:pPr>
            <a:r>
              <a:rPr i="1" lang="en" sz="3800"/>
              <a:t>Sample notes not included due to MIMIC privacy concerns, sample notes are produced when run locally</a:t>
            </a:r>
            <a:endParaRPr i="1" sz="3800"/>
          </a:p>
        </p:txBody>
      </p:sp>
      <p:pic>
        <p:nvPicPr>
          <p:cNvPr id="595" name="Google Shape;595;p72" title="4acada47-97a6-40f2-96af-29c6738f489c.png"/>
          <p:cNvPicPr preferRelativeResize="0"/>
          <p:nvPr/>
        </p:nvPicPr>
        <p:blipFill>
          <a:blip r:embed="rId3">
            <a:alphaModFix/>
          </a:blip>
          <a:stretch>
            <a:fillRect/>
          </a:stretch>
        </p:blipFill>
        <p:spPr>
          <a:xfrm>
            <a:off x="3911850" y="1864425"/>
            <a:ext cx="4891525" cy="26903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7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Epoch 1</a:t>
            </a:r>
            <a:endParaRPr/>
          </a:p>
        </p:txBody>
      </p:sp>
      <p:sp>
        <p:nvSpPr>
          <p:cNvPr id="601" name="Google Shape;601;p73"/>
          <p:cNvSpPr txBox="1"/>
          <p:nvPr>
            <p:ph idx="1" type="body"/>
          </p:nvPr>
        </p:nvSpPr>
        <p:spPr>
          <a:xfrm>
            <a:off x="471900" y="1919075"/>
            <a:ext cx="8222100" cy="2987100"/>
          </a:xfrm>
          <a:prstGeom prst="rect">
            <a:avLst/>
          </a:prstGeom>
        </p:spPr>
        <p:txBody>
          <a:bodyPr anchorCtr="0" anchor="t" bIns="91425" lIns="91425" spcFirstLastPara="1" rIns="91425" wrap="square" tIns="91425">
            <a:normAutofit fontScale="47500" lnSpcReduction="10000"/>
          </a:bodyPr>
          <a:lstStyle/>
          <a:p>
            <a:pPr indent="0" lvl="0" marL="0" rtl="0" algn="l">
              <a:spcBef>
                <a:spcPts val="0"/>
              </a:spcBef>
              <a:spcAft>
                <a:spcPts val="0"/>
              </a:spcAft>
              <a:buNone/>
            </a:pPr>
            <a:r>
              <a:rPr lang="en"/>
              <a:t>Time ~7 hours</a:t>
            </a:r>
            <a:endParaRPr/>
          </a:p>
          <a:p>
            <a:pPr indent="0" lvl="0" marL="457200" rtl="0" algn="l">
              <a:spcBef>
                <a:spcPts val="1200"/>
              </a:spcBef>
              <a:spcAft>
                <a:spcPts val="0"/>
              </a:spcAft>
              <a:buNone/>
            </a:pPr>
            <a:r>
              <a:rPr lang="en"/>
              <a:t>'eval_loss': '0.06239'</a:t>
            </a:r>
            <a:endParaRPr/>
          </a:p>
          <a:p>
            <a:pPr indent="0" lvl="0" marL="457200" rtl="0" algn="l">
              <a:spcBef>
                <a:spcPts val="1200"/>
              </a:spcBef>
              <a:spcAft>
                <a:spcPts val="0"/>
              </a:spcAft>
              <a:buNone/>
            </a:pPr>
            <a:r>
              <a:rPr lang="en"/>
              <a:t>'eval_micro_f1': '0.1621'</a:t>
            </a:r>
            <a:endParaRPr/>
          </a:p>
          <a:p>
            <a:pPr indent="0" lvl="0" marL="457200" rtl="0" algn="l">
              <a:spcBef>
                <a:spcPts val="1200"/>
              </a:spcBef>
              <a:spcAft>
                <a:spcPts val="0"/>
              </a:spcAft>
              <a:buNone/>
            </a:pPr>
            <a:r>
              <a:rPr lang="en"/>
              <a:t>'eval_macro_f1': '0.009035'</a:t>
            </a:r>
            <a:endParaRPr/>
          </a:p>
          <a:p>
            <a:pPr indent="0" lvl="0" marL="457200" rtl="0" algn="l">
              <a:spcBef>
                <a:spcPts val="1200"/>
              </a:spcBef>
              <a:spcAft>
                <a:spcPts val="0"/>
              </a:spcAft>
              <a:buNone/>
            </a:pPr>
            <a:r>
              <a:rPr lang="en"/>
              <a:t>'eval_micro_auc': '0.9742'</a:t>
            </a:r>
            <a:endParaRPr/>
          </a:p>
          <a:p>
            <a:pPr indent="0" lvl="0" marL="457200" rtl="0" algn="l">
              <a:spcBef>
                <a:spcPts val="1200"/>
              </a:spcBef>
              <a:spcAft>
                <a:spcPts val="0"/>
              </a:spcAft>
              <a:buNone/>
            </a:pPr>
            <a:r>
              <a:rPr lang="en"/>
              <a:t>'eval_macro_auc': '0.7569'</a:t>
            </a:r>
            <a:endParaRPr/>
          </a:p>
          <a:p>
            <a:pPr indent="0" lvl="0" marL="457200" rtl="0" algn="l">
              <a:spcBef>
                <a:spcPts val="1200"/>
              </a:spcBef>
              <a:spcAft>
                <a:spcPts val="0"/>
              </a:spcAft>
              <a:buNone/>
            </a:pPr>
            <a:r>
              <a:rPr lang="en"/>
              <a:t>'eval_precision_at_5': '0.2451'</a:t>
            </a:r>
            <a:endParaRPr/>
          </a:p>
          <a:p>
            <a:pPr indent="0" lvl="0" marL="457200" rtl="0" algn="l">
              <a:spcBef>
                <a:spcPts val="1200"/>
              </a:spcBef>
              <a:spcAft>
                <a:spcPts val="0"/>
              </a:spcAft>
              <a:buNone/>
            </a:pPr>
            <a:r>
              <a:rPr lang="en"/>
              <a:t>'eval_precision_at_8': '0.2168'</a:t>
            </a:r>
            <a:endParaRPr/>
          </a:p>
          <a:p>
            <a:pPr indent="0" lvl="0" marL="457200" rtl="0" algn="l">
              <a:spcBef>
                <a:spcPts val="1200"/>
              </a:spcBef>
              <a:spcAft>
                <a:spcPts val="0"/>
              </a:spcAft>
              <a:buNone/>
            </a:pPr>
            <a:r>
              <a:rPr lang="en"/>
              <a:t>'eval_precision_at_15': '0.1812'</a:t>
            </a:r>
            <a:endParaRPr/>
          </a:p>
          <a:p>
            <a:pPr indent="0" lvl="0" marL="457200" rtl="0" algn="l">
              <a:spcBef>
                <a:spcPts val="1200"/>
              </a:spcBef>
              <a:spcAft>
                <a:spcPts val="1200"/>
              </a:spcAft>
              <a:buNone/>
            </a:pPr>
            <a:r>
              <a:rPr lang="en"/>
              <a:t>'eval_micro_f1_tuned': '0.2097'</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7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Epoch 2</a:t>
            </a:r>
            <a:endParaRPr/>
          </a:p>
        </p:txBody>
      </p:sp>
      <p:sp>
        <p:nvSpPr>
          <p:cNvPr id="607" name="Google Shape;607;p74"/>
          <p:cNvSpPr txBox="1"/>
          <p:nvPr>
            <p:ph idx="1" type="body"/>
          </p:nvPr>
        </p:nvSpPr>
        <p:spPr>
          <a:xfrm>
            <a:off x="471900" y="1919075"/>
            <a:ext cx="8222100" cy="30291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
              <a:t>    </a:t>
            </a:r>
            <a:endParaRPr/>
          </a:p>
          <a:p>
            <a:pPr indent="0" lvl="0" marL="0" rtl="0" algn="l">
              <a:spcBef>
                <a:spcPts val="1200"/>
              </a:spcBef>
              <a:spcAft>
                <a:spcPts val="0"/>
              </a:spcAft>
              <a:buNone/>
            </a:pPr>
            <a:r>
              <a:rPr lang="en"/>
              <a:t>Time ~14 hours</a:t>
            </a:r>
            <a:endParaRPr/>
          </a:p>
          <a:p>
            <a:pPr indent="0" lvl="0" marL="0" rtl="0" algn="l">
              <a:spcBef>
                <a:spcPts val="1200"/>
              </a:spcBef>
              <a:spcAft>
                <a:spcPts val="0"/>
              </a:spcAft>
              <a:buNone/>
            </a:pPr>
            <a:r>
              <a:rPr lang="en"/>
              <a:t>    </a:t>
            </a:r>
            <a:r>
              <a:rPr lang="en"/>
              <a:t>"micro_f1": 0.06222175794137874,</a:t>
            </a:r>
            <a:endParaRPr/>
          </a:p>
          <a:p>
            <a:pPr indent="0" lvl="0" marL="0" rtl="0" algn="l">
              <a:spcBef>
                <a:spcPts val="1200"/>
              </a:spcBef>
              <a:spcAft>
                <a:spcPts val="0"/>
              </a:spcAft>
              <a:buNone/>
            </a:pPr>
            <a:r>
              <a:rPr lang="en"/>
              <a:t>    "macro_f1": 0.00133397808567831,</a:t>
            </a:r>
            <a:endParaRPr/>
          </a:p>
          <a:p>
            <a:pPr indent="0" lvl="0" marL="0" rtl="0" algn="l">
              <a:spcBef>
                <a:spcPts val="1200"/>
              </a:spcBef>
              <a:spcAft>
                <a:spcPts val="0"/>
              </a:spcAft>
              <a:buNone/>
            </a:pPr>
            <a:r>
              <a:rPr lang="en"/>
              <a:t>    "micro_auc": 0.9303573061722333,</a:t>
            </a:r>
            <a:endParaRPr/>
          </a:p>
          <a:p>
            <a:pPr indent="0" lvl="0" marL="0" rtl="0" algn="l">
              <a:spcBef>
                <a:spcPts val="1200"/>
              </a:spcBef>
              <a:spcAft>
                <a:spcPts val="0"/>
              </a:spcAft>
              <a:buNone/>
            </a:pPr>
            <a:r>
              <a:rPr lang="en"/>
              <a:t>    "macro_auc": 0.5021372688491077,</a:t>
            </a:r>
            <a:endParaRPr/>
          </a:p>
          <a:p>
            <a:pPr indent="0" lvl="0" marL="0" rtl="0" algn="l">
              <a:spcBef>
                <a:spcPts val="1200"/>
              </a:spcBef>
              <a:spcAft>
                <a:spcPts val="0"/>
              </a:spcAft>
              <a:buNone/>
            </a:pPr>
            <a:r>
              <a:rPr lang="en"/>
              <a:t>    "precision_at_5": 0.038754494932984634,</a:t>
            </a:r>
            <a:endParaRPr/>
          </a:p>
          <a:p>
            <a:pPr indent="0" lvl="0" marL="0" rtl="0" algn="l">
              <a:spcBef>
                <a:spcPts val="1200"/>
              </a:spcBef>
              <a:spcAft>
                <a:spcPts val="0"/>
              </a:spcAft>
              <a:buNone/>
            </a:pPr>
            <a:r>
              <a:rPr lang="en"/>
              <a:t>    "precision_at_8": 0.040658711997384765,</a:t>
            </a:r>
            <a:endParaRPr/>
          </a:p>
          <a:p>
            <a:pPr indent="0" lvl="0" marL="0" rtl="0" algn="l">
              <a:spcBef>
                <a:spcPts val="1200"/>
              </a:spcBef>
              <a:spcAft>
                <a:spcPts val="0"/>
              </a:spcAft>
              <a:buNone/>
            </a:pPr>
            <a:r>
              <a:rPr lang="en"/>
              <a:t>    "precision_at_15": 0.042366786531546255</a:t>
            </a:r>
            <a:endParaRPr/>
          </a:p>
          <a:p>
            <a:pPr indent="0" lvl="0" marL="0" rtl="0" algn="l">
              <a:spcBef>
                <a:spcPts val="1200"/>
              </a:spcBef>
              <a:spcAft>
                <a:spcPts val="12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7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2 Epoch Results</a:t>
            </a:r>
            <a:endParaRPr/>
          </a:p>
        </p:txBody>
      </p:sp>
      <p:sp>
        <p:nvSpPr>
          <p:cNvPr id="613" name="Google Shape;613;p7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Overall results on the 2-epoch test were poor. This is likely due to the ratio of ~331,000 data points to 70,000 labels; it is unlikely that every label appears in the training set. Additionally, 2 epochs of training were likely not enough, as they did not give the model enough exposure to rare labels.</a:t>
            </a:r>
            <a:r>
              <a:rPr lang="en"/>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76"/>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Experiment 2:</a:t>
            </a:r>
            <a:endParaRPr/>
          </a:p>
          <a:p>
            <a:pPr indent="0" lvl="0" marL="0" rtl="0" algn="ctr">
              <a:spcBef>
                <a:spcPts val="0"/>
              </a:spcBef>
              <a:spcAft>
                <a:spcPts val="0"/>
              </a:spcAft>
              <a:buNone/>
            </a:pPr>
            <a:r>
              <a:rPr lang="en"/>
              <a:t>Top 50 Large</a:t>
            </a:r>
            <a:endParaRPr/>
          </a:p>
        </p:txBody>
      </p:sp>
      <p:sp>
        <p:nvSpPr>
          <p:cNvPr id="619" name="Google Shape;619;p76"/>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a:t>Ran on a local desktop:</a:t>
            </a:r>
            <a:endParaRPr/>
          </a:p>
          <a:p>
            <a:pPr indent="-342900" lvl="0" marL="457200" rtl="0" algn="l">
              <a:spcBef>
                <a:spcPts val="1200"/>
              </a:spcBef>
              <a:spcAft>
                <a:spcPts val="0"/>
              </a:spcAft>
              <a:buSzPts val="1800"/>
              <a:buChar char="-"/>
            </a:pPr>
            <a:r>
              <a:rPr lang="en"/>
              <a:t>Nvidia 5080 GPU</a:t>
            </a:r>
            <a:endParaRPr/>
          </a:p>
          <a:p>
            <a:pPr indent="-342900" lvl="0" marL="457200" rtl="0" algn="l">
              <a:spcBef>
                <a:spcPts val="0"/>
              </a:spcBef>
              <a:spcAft>
                <a:spcPts val="0"/>
              </a:spcAft>
              <a:buSzPts val="1800"/>
              <a:buChar char="-"/>
            </a:pPr>
            <a:r>
              <a:rPr lang="en"/>
              <a:t>16 GB VRAM</a:t>
            </a:r>
            <a:endParaRPr/>
          </a:p>
          <a:p>
            <a:pPr indent="-342900" lvl="0" marL="457200" rtl="0" algn="l">
              <a:spcBef>
                <a:spcPts val="0"/>
              </a:spcBef>
              <a:spcAft>
                <a:spcPts val="0"/>
              </a:spcAft>
              <a:buSzPts val="1800"/>
              <a:buChar char="-"/>
            </a:pPr>
            <a:r>
              <a:rPr lang="en"/>
              <a:t>Approximately 22 hours of training time</a:t>
            </a:r>
            <a:endParaRPr/>
          </a:p>
          <a:p>
            <a:pPr indent="0" lvl="0" marL="0" rtl="0" algn="l">
              <a:spcBef>
                <a:spcPts val="1200"/>
              </a:spcBef>
              <a:spcAft>
                <a:spcPts val="0"/>
              </a:spcAft>
              <a:buNone/>
            </a:pPr>
            <a:r>
              <a:rPr lang="en"/>
              <a:t>2-epoch experiment</a:t>
            </a:r>
            <a:endParaRPr/>
          </a:p>
          <a:p>
            <a:pPr indent="0" lvl="0" marL="0" rtl="0" algn="l">
              <a:spcBef>
                <a:spcPts val="1200"/>
              </a:spcBef>
              <a:spcAft>
                <a:spcPts val="0"/>
              </a:spcAft>
              <a:buNone/>
            </a:pPr>
            <a:r>
              <a:rPr lang="en"/>
              <a:t>Evaluating a classifier over the top 50 codes</a:t>
            </a:r>
            <a:endParaRPr/>
          </a:p>
          <a:p>
            <a:pPr indent="0" lvl="0" marL="0" rtl="0" algn="l">
              <a:spcBef>
                <a:spcPts val="1200"/>
              </a:spcBef>
              <a:spcAft>
                <a:spcPts val="1200"/>
              </a:spcAft>
              <a:buNone/>
            </a:pPr>
            <a:r>
              <a:rPr lang="en"/>
              <a:t>Used 331,794 discharge notes as a training corpus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7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Epoch 2 - Top 50</a:t>
            </a:r>
            <a:endParaRPr/>
          </a:p>
        </p:txBody>
      </p:sp>
      <p:sp>
        <p:nvSpPr>
          <p:cNvPr id="625" name="Google Shape;625;p77"/>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t/>
            </a:r>
            <a:endParaRPr sz="3650"/>
          </a:p>
          <a:p>
            <a:pPr indent="0" lvl="0" marL="0" rtl="0" algn="l">
              <a:spcBef>
                <a:spcPts val="1200"/>
              </a:spcBef>
              <a:spcAft>
                <a:spcPts val="0"/>
              </a:spcAft>
              <a:buNone/>
            </a:pPr>
            <a:r>
              <a:rPr lang="en" sz="3650"/>
              <a:t>    "micro_f1": 0.2082395470977423,</a:t>
            </a:r>
            <a:endParaRPr sz="3650"/>
          </a:p>
          <a:p>
            <a:pPr indent="0" lvl="0" marL="0" rtl="0" algn="l">
              <a:spcBef>
                <a:spcPts val="1200"/>
              </a:spcBef>
              <a:spcAft>
                <a:spcPts val="0"/>
              </a:spcAft>
              <a:buNone/>
            </a:pPr>
            <a:r>
              <a:rPr lang="en" sz="3650"/>
              <a:t>    "macro_f1": 0.146480300980808,</a:t>
            </a:r>
            <a:endParaRPr sz="3650"/>
          </a:p>
          <a:p>
            <a:pPr indent="0" lvl="0" marL="0" rtl="0" algn="l">
              <a:spcBef>
                <a:spcPts val="1200"/>
              </a:spcBef>
              <a:spcAft>
                <a:spcPts val="0"/>
              </a:spcAft>
              <a:buNone/>
            </a:pPr>
            <a:r>
              <a:rPr lang="en" sz="3650"/>
              <a:t>    "micro_auc": 0.5755216465545117,</a:t>
            </a:r>
            <a:endParaRPr sz="3650"/>
          </a:p>
          <a:p>
            <a:pPr indent="0" lvl="0" marL="0" rtl="0" algn="l">
              <a:spcBef>
                <a:spcPts val="1200"/>
              </a:spcBef>
              <a:spcAft>
                <a:spcPts val="0"/>
              </a:spcAft>
              <a:buNone/>
            </a:pPr>
            <a:r>
              <a:rPr lang="en" sz="3650"/>
              <a:t>    "macro_auc": 0.497933040843909,</a:t>
            </a:r>
            <a:endParaRPr sz="3650"/>
          </a:p>
          <a:p>
            <a:pPr indent="0" lvl="0" marL="0" rtl="0" algn="l">
              <a:spcBef>
                <a:spcPts val="1200"/>
              </a:spcBef>
              <a:spcAft>
                <a:spcPts val="0"/>
              </a:spcAft>
              <a:buNone/>
            </a:pPr>
            <a:r>
              <a:rPr lang="en" sz="3650"/>
              <a:t>    "precision_at_5": 0.1790241361347456,</a:t>
            </a:r>
            <a:endParaRPr sz="3650"/>
          </a:p>
          <a:p>
            <a:pPr indent="0" lvl="0" marL="0" rtl="0" algn="l">
              <a:spcBef>
                <a:spcPts val="1200"/>
              </a:spcBef>
              <a:spcAft>
                <a:spcPts val="0"/>
              </a:spcAft>
              <a:buNone/>
            </a:pPr>
            <a:r>
              <a:rPr lang="en" sz="3650"/>
              <a:t>    "precision_at_8": 0.16718397291196388,</a:t>
            </a:r>
            <a:endParaRPr sz="3650"/>
          </a:p>
          <a:p>
            <a:pPr indent="0" lvl="0" marL="0" rtl="0" algn="l">
              <a:spcBef>
                <a:spcPts val="1200"/>
              </a:spcBef>
              <a:spcAft>
                <a:spcPts val="0"/>
              </a:spcAft>
              <a:buNone/>
            </a:pPr>
            <a:r>
              <a:rPr lang="en" sz="3650"/>
              <a:t>    "precision_at_15": 0.14630433524338715</a:t>
            </a:r>
            <a:endParaRPr sz="3650"/>
          </a:p>
          <a:p>
            <a:pPr indent="0" lvl="0" marL="0" rtl="0" algn="l">
              <a:spcBef>
                <a:spcPts val="1200"/>
              </a:spcBef>
              <a:spcAft>
                <a:spcPts val="0"/>
              </a:spcAft>
              <a:buNone/>
            </a:pPr>
            <a:r>
              <a:rPr i="1" lang="en" sz="3650"/>
              <a:t>Sample notes not included due to MIMIC privacy concerns, sample notes are produced when run locally</a:t>
            </a:r>
            <a:endParaRPr i="1" sz="3650"/>
          </a:p>
          <a:p>
            <a:pPr indent="0" lvl="0" marL="0" rtl="0" algn="l">
              <a:spcBef>
                <a:spcPts val="1200"/>
              </a:spcBef>
              <a:spcAft>
                <a:spcPts val="1200"/>
              </a:spcAft>
              <a:buNone/>
            </a:pPr>
            <a:r>
              <a:t/>
            </a:r>
            <a:endParaRPr/>
          </a:p>
        </p:txBody>
      </p:sp>
      <p:pic>
        <p:nvPicPr>
          <p:cNvPr id="626" name="Google Shape;626;p77" title="6787ad79-412b-4f6c-8740-b9847bf2cc4c.png"/>
          <p:cNvPicPr preferRelativeResize="0"/>
          <p:nvPr/>
        </p:nvPicPr>
        <p:blipFill>
          <a:blip r:embed="rId3">
            <a:alphaModFix/>
          </a:blip>
          <a:stretch>
            <a:fillRect/>
          </a:stretch>
        </p:blipFill>
        <p:spPr>
          <a:xfrm>
            <a:off x="3923800" y="1677975"/>
            <a:ext cx="4648673" cy="245147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7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2 Epoch Results</a:t>
            </a:r>
            <a:endParaRPr/>
          </a:p>
        </p:txBody>
      </p:sp>
      <p:sp>
        <p:nvSpPr>
          <p:cNvPr id="632" name="Google Shape;632;p7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Overall results on the 2-epoch test were better in the top 50 experiment. The F1 across all the data (micro F1) was around 20%. This is reasonable considering there were only 2 epochs of training. Additionally, multi-label classification is a more difficult task. More epochs would likely improve this.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79"/>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Part 6: Reflection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8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Areas for Improvement</a:t>
            </a:r>
            <a:endParaRPr/>
          </a:p>
        </p:txBody>
      </p:sp>
      <p:sp>
        <p:nvSpPr>
          <p:cNvPr id="643" name="Google Shape;643;p8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Overall, neither of the two experiments was ideal</a:t>
            </a:r>
            <a:endParaRPr/>
          </a:p>
          <a:p>
            <a:pPr indent="-342900" lvl="0" marL="457200" rtl="0" algn="l">
              <a:spcBef>
                <a:spcPts val="1200"/>
              </a:spcBef>
              <a:spcAft>
                <a:spcPts val="0"/>
              </a:spcAft>
              <a:buSzPts val="1800"/>
              <a:buChar char="-"/>
            </a:pPr>
            <a:r>
              <a:rPr lang="en"/>
              <a:t>My biggest mistake, which I would correct in future iterations, was classifying based on the tag IDs rather than the tag names. If I had used the tag names, I could have preserved the contextual information stored in the word vectors of the pretrained weights.</a:t>
            </a:r>
            <a:r>
              <a:rPr lang="en"/>
              <a:t/>
            </a:r>
            <a:r>
              <a:rPr lang="en"/>
              <a:t/>
            </a:r>
            <a:endParaRPr/>
          </a:p>
          <a:p>
            <a:pPr indent="-342900" lvl="0" marL="457200" rtl="0" algn="l">
              <a:spcBef>
                <a:spcPts val="0"/>
              </a:spcBef>
              <a:spcAft>
                <a:spcPts val="0"/>
              </a:spcAft>
              <a:buSzPts val="1800"/>
              <a:buChar char="-"/>
            </a:pPr>
            <a:r>
              <a:rPr lang="en"/>
              <a:t>Additionally, to build a production-ready system, I would need many more epochs to allow the model to see rare codes more frequently</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8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Another Possible Experiment</a:t>
            </a:r>
            <a:endParaRPr/>
          </a:p>
        </p:txBody>
      </p:sp>
      <p:sp>
        <p:nvSpPr>
          <p:cNvPr id="649" name="Google Shape;649;p81"/>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Another possible way to improve the project would be to change the </a:t>
            </a:r>
            <a:r>
              <a:rPr lang="en"/>
              <a:t>architecture</a:t>
            </a:r>
            <a:r>
              <a:rPr lang="en"/>
              <a:t> to a decoder-only transformer.</a:t>
            </a:r>
            <a:endParaRPr/>
          </a:p>
          <a:p>
            <a:pPr indent="0" lvl="0" marL="0" rtl="0" algn="l">
              <a:spcBef>
                <a:spcPts val="1200"/>
              </a:spcBef>
              <a:spcAft>
                <a:spcPts val="0"/>
              </a:spcAft>
              <a:buNone/>
            </a:pPr>
            <a:r>
              <a:rPr lang="en"/>
              <a:t>This would generate tags instead of classifying them.</a:t>
            </a:r>
            <a:endParaRPr/>
          </a:p>
          <a:p>
            <a:pPr indent="0" lvl="0" marL="0" rtl="0" algn="l">
              <a:spcBef>
                <a:spcPts val="1200"/>
              </a:spcBef>
              <a:spcAft>
                <a:spcPts val="1200"/>
              </a:spcAft>
              <a:buNone/>
            </a:pPr>
            <a:r>
              <a:rPr lang="en"/>
              <a:t>This could potentially leverage the existing word embeddings of the tag names.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8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Generative AI Disclosure</a:t>
            </a:r>
            <a:endParaRPr/>
          </a:p>
        </p:txBody>
      </p:sp>
      <p:sp>
        <p:nvSpPr>
          <p:cNvPr id="655" name="Google Shape;655;p82"/>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Citation as per </a:t>
            </a:r>
            <a:r>
              <a:rPr lang="en"/>
              <a:t>syllabus</a:t>
            </a:r>
            <a:r>
              <a:rPr lang="en"/>
              <a:t> guidelines</a:t>
            </a:r>
            <a:endParaRPr/>
          </a:p>
          <a:p>
            <a:pPr indent="-342900" lvl="0" marL="457200" rtl="0" algn="l">
              <a:spcBef>
                <a:spcPts val="1200"/>
              </a:spcBef>
              <a:spcAft>
                <a:spcPts val="0"/>
              </a:spcAft>
              <a:buSzPts val="1800"/>
              <a:buChar char="-"/>
            </a:pPr>
            <a:r>
              <a:rPr lang="en"/>
              <a:t>Agentic AI tools were used in the development of the repository, subject to human direction, planning, and oversight.</a:t>
            </a:r>
            <a:endParaRPr/>
          </a:p>
          <a:p>
            <a:pPr indent="-342900" lvl="0" marL="457200" rtl="0" algn="l">
              <a:spcBef>
                <a:spcPts val="0"/>
              </a:spcBef>
              <a:spcAft>
                <a:spcPts val="0"/>
              </a:spcAft>
              <a:buSzPts val="1800"/>
              <a:buChar char="-"/>
            </a:pPr>
            <a:r>
              <a:rPr lang="en"/>
              <a:t>Diligent</a:t>
            </a:r>
            <a:r>
              <a:rPr lang="en"/>
              <a:t> steps were taken to avoid exposing MIMIC-IV data to any LLMs (see references throughout the presentation)</a:t>
            </a:r>
            <a:endParaRPr/>
          </a:p>
          <a:p>
            <a:pPr indent="-342900" lvl="0" marL="457200" rtl="0" algn="l">
              <a:spcBef>
                <a:spcPts val="0"/>
              </a:spcBef>
              <a:spcAft>
                <a:spcPts val="0"/>
              </a:spcAft>
              <a:buSzPts val="1800"/>
              <a:buChar char="-"/>
            </a:pPr>
            <a:r>
              <a:rPr lang="en"/>
              <a:t>Specific models used</a:t>
            </a:r>
            <a:endParaRPr/>
          </a:p>
          <a:p>
            <a:pPr indent="-317500" lvl="1" marL="914400" rtl="0" algn="l">
              <a:spcBef>
                <a:spcPts val="0"/>
              </a:spcBef>
              <a:spcAft>
                <a:spcPts val="0"/>
              </a:spcAft>
              <a:buSzPts val="1400"/>
              <a:buChar char="-"/>
            </a:pPr>
            <a:r>
              <a:rPr lang="en"/>
              <a:t>Claude Opus 5.5</a:t>
            </a:r>
            <a:endParaRPr/>
          </a:p>
          <a:p>
            <a:pPr indent="-317500" lvl="1" marL="914400" rtl="0" algn="l">
              <a:spcBef>
                <a:spcPts val="0"/>
              </a:spcBef>
              <a:spcAft>
                <a:spcPts val="0"/>
              </a:spcAft>
              <a:buSzPts val="1400"/>
              <a:buChar char="-"/>
            </a:pPr>
            <a:r>
              <a:rPr lang="en"/>
              <a:t>Claude Sonnet 5.5</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